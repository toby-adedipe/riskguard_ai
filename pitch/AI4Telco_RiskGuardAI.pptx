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6B7E9B"/>
                </a:solidFill>
                <a:latin typeface="Arial"/>
              </a:defRPr>
            </a:pPr>
            <a:r>
              <a:rPr sz="1100" b="0" i="0" u="none" strike="noStrike">
                <a:solidFill>
                  <a:srgbClr val="6B7E9B"/>
                </a:solidFill>
                <a:latin typeface="Arial"/>
              </a:rPr>
              <a:t>Risk score — Ikeja LGA  (87 → 42)</a:t>
            </a:r>
          </a:p>
        </c:rich>
      </c:tx>
      <c:layout/>
      <c:overlay val="0"/>
    </c:title>
    <c:autoTitleDeleted val="0"/>
    <c:plotArea>
      <c:layout/>
      <c:lineChart>
        <c:varyColors val="0"/>
        <c:ser>
          <c:idx val="0"/>
          <c:order val="0"/>
          <c:tx>
            <c:strRef>
              <c:f>Sheet1!$B$1</c:f>
              <c:strCache>
                <c:ptCount val="1"/>
                <c:pt idx="0">
                  <c:v>Risk score</c:v>
                </c:pt>
              </c:strCache>
            </c:strRef>
          </c:tx>
          <c:spPr>
            <a:solidFill>
              <a:srgbClr val="FF9176"/>
            </a:solidFill>
            <a:ln w="38100" cap="flat">
              <a:solidFill>
                <a:srgbClr val="FF917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9176"/>
              </a:solidFill>
              <a:ln w="9525" cap="flat">
                <a:solidFill>
                  <a:srgbClr val="FF9176"/>
                </a:solidFill>
                <a:prstDash val="solid"/>
                <a:round/>
              </a:ln>
              <a:effectLst/>
            </c:spPr>
          </c:marker>
          <c:cat>
            <c:multiLvlStrRef>
              <c:f>Sheet1!$A$2:$A$8</c:f>
              <c:multiLvlStrCache>
                <c:ptCount val="7"/>
                <c:lvl>
                  <c:pt idx="0">
                    <c:v>00:00</c:v>
                  </c:pt>
                  <c:pt idx="1">
                    <c:v>00:15</c:v>
                  </c:pt>
                  <c:pt idx="2">
                    <c:v>00:30</c:v>
                  </c:pt>
                  <c:pt idx="3">
                    <c:v>00:45</c:v>
                  </c:pt>
                  <c:pt idx="4">
                    <c:v>01:00</c:v>
                  </c:pt>
                  <c:pt idx="5">
                    <c:v>01:15</c:v>
                  </c:pt>
                  <c:pt idx="6">
                    <c:v>01:30</c:v>
                  </c:pt>
                </c:lvl>
              </c:multiLvlStrCache>
            </c:multiLvlStrRef>
          </c:cat>
          <c:val>
            <c:numRef>
              <c:f>Sheet1!$B$2:$B$8</c:f>
              <c:numCache>
                <c:formatCode>General</c:formatCode>
                <c:ptCount val="7"/>
                <c:pt idx="0">
                  <c:v>22</c:v>
                </c:pt>
                <c:pt idx="1">
                  <c:v>38</c:v>
                </c:pt>
                <c:pt idx="2">
                  <c:v>87</c:v>
                </c:pt>
                <c:pt idx="3">
                  <c:v>86</c:v>
                </c:pt>
                <c:pt idx="4">
                  <c:v>81</c:v>
                </c:pt>
                <c:pt idx="5">
                  <c:v>60</c:v>
                </c:pt>
                <c:pt idx="6">
                  <c:v>42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7E9B"/>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AD9C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E9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Without RiskGuard</c:v>
                </c:pt>
              </c:strCache>
            </c:strRef>
          </c:tx>
          <c:spPr>
            <a:solidFill>
              <a:srgbClr val="6B7E9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Detect (min)</c:v>
                  </c:pt>
                  <c:pt idx="1">
                    <c:v>Revenue lost (NGN m)</c:v>
                  </c:pt>
                  <c:pt idx="2">
                    <c:v>NCC pack (hrs)</c:v>
                  </c:pt>
                </c:lvl>
              </c:multiLvlStrCache>
            </c:multiLvlStrRef>
          </c:cat>
          <c:val>
            <c:numRef>
              <c:f>Sheet1!$B$2:$B$4</c:f>
              <c:numCache>
                <c:formatCode>General</c:formatCode>
                <c:ptCount val="3"/>
                <c:pt idx="0">
                  <c:v>60</c:v>
                </c:pt>
                <c:pt idx="1">
                  <c:v>8.7</c:v>
                </c:pt>
                <c:pt idx="2">
                  <c:v>72</c:v>
                </c:pt>
              </c:numCache>
            </c:numRef>
          </c:val>
        </c:ser>
        <c:ser>
          <c:idx val="1"/>
          <c:order val="1"/>
          <c:tx>
            <c:strRef>
              <c:f>Sheet1!$C$1</c:f>
              <c:strCache>
                <c:ptCount val="1"/>
                <c:pt idx="0">
                  <c:v>With RiskGuard</c:v>
                </c:pt>
              </c:strCache>
            </c:strRef>
          </c:tx>
          <c:spPr>
            <a:solidFill>
              <a:srgbClr val="0078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Detect (min)</c:v>
                  </c:pt>
                  <c:pt idx="1">
                    <c:v>Revenue lost (NGN m)</c:v>
                  </c:pt>
                  <c:pt idx="2">
                    <c:v>NCC pack (hrs)</c:v>
                  </c:pt>
                </c:lvl>
              </c:multiLvlStrCache>
            </c:multiLvlStrRef>
          </c:cat>
          <c:val>
            <c:numRef>
              <c:f>Sheet1!$C$2:$C$4</c:f>
              <c:numCache>
                <c:formatCode>General</c:formatCode>
                <c:ptCount val="3"/>
                <c:pt idx="0">
                  <c:v>13</c:v>
                </c:pt>
                <c:pt idx="1">
                  <c:v>0.6</c:v>
                </c:pt>
                <c:pt idx="2">
                  <c:v>0.003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6B7E9B"/>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AD9C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B7E9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B7E9B"/>
              </a:solidFill>
            </a:defRPr>
          </a:pPr>
          <a:endParaRPr lang="en-US"/>
        </a:p>
      </c:txPr>
    </c:legend>
    <c:plotVisOnly val="1"/>
    <c:dispBlanksAs val="span"/>
  </c:chart>
  <c:spPr>
    <a:solidFill>
      <a:srgbClr val="FFF8F3"/>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judges. We're Team RiskGuard.
The MTN Nigeria challenge asks: can AI proactively detect operational risk and enhance compliance across siloed telecom data?
Our answer is RiskGuard AI — an agentic AI risk officer, built on Microsoft Azure OpenAI and Semantic Kernel, that watches every signal across the network, billing, and customer channels, and acts before the outage.
Let me show you the problem we're solving — and the working product we built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problem in MTN's own words. Operators sit on rich telemetry, but it lives in four siloed worlds: the network team watches BTS health, the revenue team watches recharge and billing, the contact centre watches complaints, and the sales team watches devices and SIM swaps.
No single human, and no current dashboard, fuses all four in real time.
So risks slip through. And when they do, the operator pays four times: lost service, leaked revenue, churned customers, and NCC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is measurable. Industry-reported numbers: operators lose roughly 47 minutes between the first weak signal and a confirmed incident. NCC has issued billions of naira in QoS-related penalties to Nigerian telcos in recent years. And one in three Nigerian subscribers names poor service as their number-one reason to switch network.
The hard truth: today's tools are dashboards. Dashboards wait to be looked at. Risk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built something different. Not a dashboard. An agent.
RiskGuard AI is an always-on AI risk officer. It does four things, continuously.
One — Sense. It ingests seven signal domains in real time: network, BTS, billing, recharge, sales, complaints, devices.
Two — Reason. Agentic LLMs reason over that data using grounded tools — never raw CSVs, never free-form guesses.
Three — Recommend. It compares mitigation options against the do-nothing baseline, and ranks them.
Four — Report. And when the operator approves an action, it auto-assembles the regulatory pack the NCC asks for.
Crucially, a human is always in the loop. RiskGuard recommends. The operator approves. That's the only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Architecturally, four layers, one Microsoft AI stack.
Signals come in. The risk engine computes a per-LGA score, time-to-breach, and an impact model. The agentic copilot — five role agents running on Semantic Kernel and Azure OpenAI — reasons over the engine's output. And the operator console gives the human everything they need to act.
We deliberately built this on the host's stack. Microsoft AI is our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the demo. Lagos. Ikeja LGA.
Time zero — baseline. Every LGA is green.
Fifteen seconds in — we trigger an Ikeja incident. BTS deviation, plus a complaint spike. Two siloed signals.
Thirty seconds — the engine fuses them, and Ikeja's risk score climbs to 87. The agent tells the operator: 47 minutes to SLA breach, 18,420 subscribers exposed, 8.7 million naira in revenue at risk.
One minute — the operator reviews three mitigation options the Mitigation Agent has already simulated. They approve the traffic reroute. The action is logged in the audit trail.
One minute thirty — the recovery model takes over. Risk drops to 42. The NCC compliance pack is ready before the operator even asks for it.
Ninety seconds. Green to recovered. With a human always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Behind that demo are five specialist agents.
The Network Agent localizes the fault and pulls BTS evidence. The Revenue Agent spots leakage in recharge and billing. The Customer Agent reads complaints and projects churn. The Mitigation Agent simulates options and ranks them. The Compliance Agent drafts NCC notes and assembles the evidence pack.
Here's what makes them real, not theatrical: every claim — every KPI, every naira figure, every subscriber count — must trace to a tool call. Our ClaimValidator strips anything else out before it reaches the operator. No hallucinated numbers. 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not two.
The agent itself is just an LLM with a personality. It can't read a database. It can't call a vendor API. The only thing it can do is invoke a tool: a typed Semantic Kernel function with a defined input and output shape.
That contract is the seam. The agent codes against the contract; the contract doesn't change. Behind it sits a thin adapter, a small piece of code that translates a call like get_signal_evidence into whatever the operator actually runs. A Kafka topic. A SQL view. An Ericsson NMS REST call. A Salesforce SOQL query.
Moving from MTN to Airtel doesn't mean rewriting the agents or touching the prompts. We swap one adapter file. The contract holds.
It's the ports-and-adapters idea, but for LLM agents. The reasoning side is decoupled from the data side, so we get to keep the agents and the operators get to keep their stacks.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Telcos can't deploy AI they can't trust. So trust isn't a feature — it's the design.
Agents only speak from tool results. No mitigation runs without operator approval. The audit log is append-only — who, when, why, expected and actual impact. And every report is in the format NCC already accepts.
Autonomous enough to be useful. Constrained enough to be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that mean per incident?
47 minutes earlier detection versus dashboards. 8.7 million naira in revenue at risk surfaced before it leaks. 2.1 million naira in subscriber compensation avoided. And the NCC compliance pack assembles in 10 seconds instead of three days.
One Ikeja-class incident, prevented or compressed, pays for the platform many times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isn't this just another monitoring tool, or another LLM chatbot?
Legacy network monitoring sees one domain, with static thresholds. No mitigation guidance. Manual NCC reporting.
Generic LLM chat hallucinates KPIs, has no live data tools, no audit trail — not safe for a regulated telco.
RiskGuard AI fuses seven signal domains, predicts breach 47 minutes ahead, recommends and simulates the fix, and auto-files the NCC pack.
A new category. And we built it on the host's stack: Microsoft Azure OpenAI plus Semantic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path from this hackathon to a West African telco standard.
Now — the vertical slice is live. Real risk engine, real agentic copilot, real NCC pack. End-to-end.
90 days — we want a pilot with one MNO. Read-only data, one Lagos region, measure the detection lift.
12 months — multi-LGA SaaS across all of Lagos, plus fraud and SIM-swap agents.
24 months — a regional platform for tier-2 and tier-3 operators across West Africa.
Business model: SaaS license per operator, plus a per-incident NCC compliance fee. Avoiding one hundred-million-naira penalty pays for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Ifunanya leads — product, strategy, and the pitch you're hearing now.
On engineering: Favour built the data and risk engine, Ladipo owns the API and compliance layer, Marvelous shipped the operator dashboard, and Tobi built the agentic copilot.
Our ask is simple: the win, a pilot conversation with MTN, and the runway to ship this to production.
Detect risk earlier. Mitigate it faster. Prove it to the regulator.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6" Type="http://schemas.openxmlformats.org/officeDocument/2006/relationships/chart" Target="/ppt/charts/chart1.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446F"/>
        </a:solidFill>
      </p:bgPr>
    </p:bg>
    <p:spTree>
      <p:nvGrpSpPr>
        <p:cNvPr id="1" name=""/>
        <p:cNvGrpSpPr/>
        <p:nvPr/>
      </p:nvGrpSpPr>
      <p:grpSpPr>
        <a:xfrm>
          <a:off x="0" y="0"/>
          <a:ext cx="0" cy="0"/>
          <a:chOff x="0" y="0"/>
          <a:chExt cx="0" cy="0"/>
        </a:xfrm>
      </p:grpSpPr>
      <p:sp>
        <p:nvSpPr>
          <p:cNvPr id="3" name="Shape 0"/>
          <p:cNvSpPr/>
          <p:nvPr/>
        </p:nvSpPr>
        <p:spPr>
          <a:xfrm>
            <a:off x="0" y="0"/>
            <a:ext cx="164592" cy="5143500"/>
          </a:xfrm>
          <a:prstGeom prst="rect">
            <a:avLst/>
          </a:prstGeom>
          <a:solidFill>
            <a:srgbClr val="0078D4"/>
          </a:solidFill>
          <a:ln w="12700">
            <a:solidFill>
              <a:srgbClr val="0078D4"/>
            </a:solidFill>
            <a:prstDash val="solid"/>
          </a:ln>
        </p:spPr>
      </p:sp>
      <p:sp>
        <p:nvSpPr>
          <p:cNvPr id="4" name="Text 1"/>
          <p:cNvSpPr/>
          <p:nvPr/>
        </p:nvSpPr>
        <p:spPr>
          <a:xfrm>
            <a:off x="548640" y="640080"/>
            <a:ext cx="7315200" cy="320040"/>
          </a:xfrm>
          <a:prstGeom prst="rect">
            <a:avLst/>
          </a:prstGeom>
          <a:noFill/>
          <a:ln/>
        </p:spPr>
        <p:txBody>
          <a:bodyPr wrap="square" lIns="0" tIns="0" rIns="0" bIns="0" rtlCol="0" anchor="ctr"/>
          <a:lstStyle/>
          <a:p>
            <a:pPr indent="0" marL="0">
              <a:buNone/>
            </a:pPr>
            <a:r>
              <a:rPr lang="en-US" sz="1100" b="1" spc="600" kern="0" dirty="0">
                <a:solidFill>
                  <a:srgbClr val="FFBBA8"/>
                </a:solidFill>
                <a:latin typeface="Segoe UI" pitchFamily="34" charset="0"/>
                <a:ea typeface="Segoe UI" pitchFamily="34" charset="-122"/>
                <a:cs typeface="Segoe UI" pitchFamily="34" charset="-120"/>
              </a:rPr>
              <a:t>AI4TELCO HACKATHON  ·  MTN NIGERIA CHALLENGE</a:t>
            </a:r>
            <a:endParaRPr lang="en-US" sz="1100" dirty="0"/>
          </a:p>
        </p:txBody>
      </p:sp>
      <p:sp>
        <p:nvSpPr>
          <p:cNvPr id="5" name="Text 2"/>
          <p:cNvSpPr/>
          <p:nvPr/>
        </p:nvSpPr>
        <p:spPr>
          <a:xfrm>
            <a:off x="502920" y="1051560"/>
            <a:ext cx="8229600" cy="914400"/>
          </a:xfrm>
          <a:prstGeom prst="rect">
            <a:avLst/>
          </a:prstGeom>
          <a:noFill/>
          <a:ln/>
        </p:spPr>
        <p:txBody>
          <a:bodyPr wrap="square" lIns="0" tIns="0" rIns="0" bIns="0" rtlCol="0" anchor="ctr"/>
          <a:lstStyle/>
          <a:p>
            <a:pPr indent="0" marL="0">
              <a:buNone/>
            </a:pPr>
            <a:r>
              <a:rPr lang="en-US" sz="6000" b="1" dirty="0">
                <a:solidFill>
                  <a:srgbClr val="FFFFFF"/>
                </a:solidFill>
                <a:latin typeface="Segoe UI" pitchFamily="34" charset="0"/>
                <a:ea typeface="Segoe UI" pitchFamily="34" charset="-122"/>
                <a:cs typeface="Segoe UI" pitchFamily="34" charset="-120"/>
              </a:rPr>
              <a:t>RiskGuard AI</a:t>
            </a:r>
            <a:endParaRPr lang="en-US" sz="6000" dirty="0"/>
          </a:p>
        </p:txBody>
      </p:sp>
      <p:sp>
        <p:nvSpPr>
          <p:cNvPr id="6" name="Text 3"/>
          <p:cNvSpPr/>
          <p:nvPr/>
        </p:nvSpPr>
        <p:spPr>
          <a:xfrm>
            <a:off x="548640" y="2103120"/>
            <a:ext cx="8046720" cy="1005840"/>
          </a:xfrm>
          <a:prstGeom prst="rect">
            <a:avLst/>
          </a:prstGeom>
          <a:noFill/>
          <a:ln/>
        </p:spPr>
        <p:txBody>
          <a:bodyPr wrap="square" lIns="0" tIns="0" rIns="0" bIns="0" rtlCol="0" anchor="ctr"/>
          <a:lstStyle/>
          <a:p>
            <a:pPr indent="0" marL="0">
              <a:spcAft>
                <a:spcPts val="200"/>
              </a:spcAft>
              <a:buNone/>
            </a:pPr>
            <a:r>
              <a:rPr lang="en-US" sz="2000" dirty="0">
                <a:solidFill>
                  <a:srgbClr val="FFFFFF"/>
                </a:solidFill>
                <a:latin typeface="Segoe UI" pitchFamily="34" charset="0"/>
                <a:ea typeface="Segoe UI" pitchFamily="34" charset="-122"/>
                <a:cs typeface="Segoe UI" pitchFamily="34" charset="-120"/>
              </a:rPr>
              <a:t>The agentic AI risk officer that watches every network,</a:t>
            </a:r>
            <a:endParaRPr lang="en-US" sz="2000" dirty="0"/>
          </a:p>
          <a:p>
            <a:pPr indent="0" marL="0">
              <a:spcAft>
                <a:spcPts val="200"/>
              </a:spcAft>
              <a:buNone/>
            </a:pPr>
            <a:r>
              <a:rPr lang="en-US" sz="2000" dirty="0">
                <a:solidFill>
                  <a:srgbClr val="FFFFFF"/>
                </a:solidFill>
                <a:latin typeface="Segoe UI" pitchFamily="34" charset="0"/>
                <a:ea typeface="Segoe UI" pitchFamily="34" charset="-122"/>
                <a:cs typeface="Segoe UI" pitchFamily="34" charset="-120"/>
              </a:rPr>
              <a:t>billing, and customer signal — and acts before the outage.</a:t>
            </a:r>
            <a:endParaRPr lang="en-US" sz="2000" dirty="0"/>
          </a:p>
        </p:txBody>
      </p:sp>
      <p:sp>
        <p:nvSpPr>
          <p:cNvPr id="7" name="Shape 4"/>
          <p:cNvSpPr/>
          <p:nvPr/>
        </p:nvSpPr>
        <p:spPr>
          <a:xfrm>
            <a:off x="548640" y="3246120"/>
            <a:ext cx="1417320" cy="384048"/>
          </a:xfrm>
          <a:prstGeom prst="roundRect">
            <a:avLst>
              <a:gd name="adj" fmla="val 50000"/>
            </a:avLst>
          </a:prstGeom>
          <a:solidFill>
            <a:srgbClr val="0078D4"/>
          </a:solidFill>
          <a:ln w="12700">
            <a:solidFill>
              <a:srgbClr val="0078D4"/>
            </a:solidFill>
            <a:prstDash val="solid"/>
          </a:ln>
        </p:spPr>
      </p:sp>
      <p:sp>
        <p:nvSpPr>
          <p:cNvPr id="8" name="Text 5"/>
          <p:cNvSpPr/>
          <p:nvPr/>
        </p:nvSpPr>
        <p:spPr>
          <a:xfrm>
            <a:off x="548640" y="3246120"/>
            <a:ext cx="141732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Detects</a:t>
            </a:r>
            <a:endParaRPr lang="en-US" sz="1200" dirty="0"/>
          </a:p>
        </p:txBody>
      </p:sp>
      <p:sp>
        <p:nvSpPr>
          <p:cNvPr id="9" name="Shape 6"/>
          <p:cNvSpPr/>
          <p:nvPr/>
        </p:nvSpPr>
        <p:spPr>
          <a:xfrm>
            <a:off x="2130552" y="3246120"/>
            <a:ext cx="1417320" cy="384048"/>
          </a:xfrm>
          <a:prstGeom prst="roundRect">
            <a:avLst>
              <a:gd name="adj" fmla="val 50000"/>
            </a:avLst>
          </a:prstGeom>
          <a:solidFill>
            <a:srgbClr val="FFBBA8"/>
          </a:solidFill>
          <a:ln w="12700">
            <a:solidFill>
              <a:srgbClr val="FFBBA8"/>
            </a:solidFill>
            <a:prstDash val="solid"/>
          </a:ln>
        </p:spPr>
      </p:sp>
      <p:sp>
        <p:nvSpPr>
          <p:cNvPr id="10" name="Text 7"/>
          <p:cNvSpPr/>
          <p:nvPr/>
        </p:nvSpPr>
        <p:spPr>
          <a:xfrm>
            <a:off x="2130552" y="3246120"/>
            <a:ext cx="141732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Predicts</a:t>
            </a:r>
            <a:endParaRPr lang="en-US" sz="1200" dirty="0"/>
          </a:p>
        </p:txBody>
      </p:sp>
      <p:sp>
        <p:nvSpPr>
          <p:cNvPr id="11" name="Shape 8"/>
          <p:cNvSpPr/>
          <p:nvPr/>
        </p:nvSpPr>
        <p:spPr>
          <a:xfrm>
            <a:off x="3712464" y="3246120"/>
            <a:ext cx="1417320" cy="384048"/>
          </a:xfrm>
          <a:prstGeom prst="roundRect">
            <a:avLst>
              <a:gd name="adj" fmla="val 50000"/>
            </a:avLst>
          </a:prstGeom>
          <a:solidFill>
            <a:srgbClr val="0078D4"/>
          </a:solidFill>
          <a:ln w="12700">
            <a:solidFill>
              <a:srgbClr val="0078D4"/>
            </a:solidFill>
            <a:prstDash val="solid"/>
          </a:ln>
        </p:spPr>
      </p:sp>
      <p:sp>
        <p:nvSpPr>
          <p:cNvPr id="12" name="Text 9"/>
          <p:cNvSpPr/>
          <p:nvPr/>
        </p:nvSpPr>
        <p:spPr>
          <a:xfrm>
            <a:off x="3712464" y="3246120"/>
            <a:ext cx="141732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Mitigates</a:t>
            </a:r>
            <a:endParaRPr lang="en-US" sz="1200" dirty="0"/>
          </a:p>
        </p:txBody>
      </p:sp>
      <p:sp>
        <p:nvSpPr>
          <p:cNvPr id="13" name="Shape 10"/>
          <p:cNvSpPr/>
          <p:nvPr/>
        </p:nvSpPr>
        <p:spPr>
          <a:xfrm>
            <a:off x="5294376" y="3246120"/>
            <a:ext cx="1417320" cy="384048"/>
          </a:xfrm>
          <a:prstGeom prst="roundRect">
            <a:avLst>
              <a:gd name="adj" fmla="val 50000"/>
            </a:avLst>
          </a:prstGeom>
          <a:solidFill>
            <a:srgbClr val="FF9176"/>
          </a:solidFill>
          <a:ln w="12700">
            <a:solidFill>
              <a:srgbClr val="FF9176"/>
            </a:solidFill>
            <a:prstDash val="solid"/>
          </a:ln>
        </p:spPr>
      </p:sp>
      <p:sp>
        <p:nvSpPr>
          <p:cNvPr id="14" name="Text 11"/>
          <p:cNvSpPr/>
          <p:nvPr/>
        </p:nvSpPr>
        <p:spPr>
          <a:xfrm>
            <a:off x="5294376" y="3246120"/>
            <a:ext cx="141732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Reports to NCC</a:t>
            </a:r>
            <a:endParaRPr lang="en-US" sz="1200" dirty="0"/>
          </a:p>
        </p:txBody>
      </p:sp>
      <p:sp>
        <p:nvSpPr>
          <p:cNvPr id="15" name="Shape 12"/>
          <p:cNvSpPr/>
          <p:nvPr/>
        </p:nvSpPr>
        <p:spPr>
          <a:xfrm>
            <a:off x="502920" y="4160520"/>
            <a:ext cx="8229600" cy="0"/>
          </a:xfrm>
          <a:prstGeom prst="line">
            <a:avLst/>
          </a:prstGeom>
          <a:noFill/>
          <a:ln w="9525">
            <a:solidFill>
              <a:srgbClr val="0078D4"/>
            </a:solidFill>
            <a:prstDash val="solid"/>
          </a:ln>
        </p:spPr>
      </p:sp>
      <p:sp>
        <p:nvSpPr>
          <p:cNvPr id="16" name="Text 13"/>
          <p:cNvSpPr/>
          <p:nvPr/>
        </p:nvSpPr>
        <p:spPr>
          <a:xfrm>
            <a:off x="502920" y="4297680"/>
            <a:ext cx="8229600" cy="274320"/>
          </a:xfrm>
          <a:prstGeom prst="rect">
            <a:avLst/>
          </a:prstGeom>
          <a:noFill/>
          <a:ln/>
        </p:spPr>
        <p:txBody>
          <a:bodyPr wrap="square" lIns="0" tIns="0" rIns="0" bIns="0" rtlCol="0" anchor="ctr"/>
          <a:lstStyle/>
          <a:p>
            <a:pPr indent="0" marL="0">
              <a:buNone/>
            </a:pPr>
            <a:r>
              <a:rPr lang="en-US" sz="1200" dirty="0">
                <a:solidFill>
                  <a:srgbClr val="FFFFFF"/>
                </a:solidFill>
                <a:latin typeface="Segoe UI" pitchFamily="34" charset="0"/>
                <a:ea typeface="Segoe UI" pitchFamily="34" charset="-122"/>
                <a:cs typeface="Segoe UI" pitchFamily="34" charset="-120"/>
              </a:rPr>
              <a:t>Built on Microsoft Azure OpenAI + Semantic Kernel  ·  AI Skills Week Lagos 2026</a:t>
            </a:r>
            <a:endParaRPr lang="en-US" sz="1200" dirty="0"/>
          </a:p>
        </p:txBody>
      </p:sp>
      <p:sp>
        <p:nvSpPr>
          <p:cNvPr id="17" name="Text 14"/>
          <p:cNvSpPr/>
          <p:nvPr/>
        </p:nvSpPr>
        <p:spPr>
          <a:xfrm>
            <a:off x="502920" y="4572000"/>
            <a:ext cx="8229600" cy="274320"/>
          </a:xfrm>
          <a:prstGeom prst="rect">
            <a:avLst/>
          </a:prstGeom>
          <a:noFill/>
          <a:ln/>
        </p:spPr>
        <p:txBody>
          <a:bodyPr wrap="square" lIns="0" tIns="0" rIns="0" bIns="0" rtlCol="0" anchor="ctr"/>
          <a:lstStyle/>
          <a:p>
            <a:pPr indent="0" marL="0">
              <a:buNone/>
            </a:pPr>
            <a:r>
              <a:rPr lang="en-US" sz="1100" i="1" dirty="0">
                <a:solidFill>
                  <a:srgbClr val="FFBBA8"/>
                </a:solidFill>
                <a:latin typeface="Segoe UI" pitchFamily="34" charset="0"/>
                <a:ea typeface="Segoe UI" pitchFamily="34" charset="-122"/>
                <a:cs typeface="Segoe UI" pitchFamily="34" charset="-120"/>
              </a:rPr>
              <a:t>Microsoft  ·  MTN Foundation Nigeria  ·  Data Science Nigeria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F3"/>
        </a:solidFill>
      </p:bgPr>
    </p:bg>
    <p:spTree>
      <p:nvGrpSpPr>
        <p:cNvPr id="1" name=""/>
        <p:cNvGrpSpPr/>
        <p:nvPr/>
      </p:nvGrpSpPr>
      <p:grpSpPr>
        <a:xfrm>
          <a:off x="0" y="0"/>
          <a:ext cx="0" cy="0"/>
          <a:chOff x="0" y="0"/>
          <a:chExt cx="0" cy="0"/>
        </a:xfrm>
      </p:grpSpPr>
      <p:sp>
        <p:nvSpPr>
          <p:cNvPr id="3" name="Shape 0"/>
          <p:cNvSpPr/>
          <p:nvPr/>
        </p:nvSpPr>
        <p:spPr>
          <a:xfrm>
            <a:off x="457200" y="411480"/>
            <a:ext cx="164592" cy="292608"/>
          </a:xfrm>
          <a:prstGeom prst="rect">
            <a:avLst/>
          </a:prstGeom>
          <a:solidFill>
            <a:srgbClr val="0078D4"/>
          </a:solidFill>
          <a:ln w="12700">
            <a:solidFill>
              <a:srgbClr val="0078D4"/>
            </a:solidFill>
            <a:prstDash val="solid"/>
          </a:ln>
        </p:spPr>
      </p:sp>
      <p:sp>
        <p:nvSpPr>
          <p:cNvPr id="4" name="Text 1"/>
          <p:cNvSpPr/>
          <p:nvPr/>
        </p:nvSpPr>
        <p:spPr>
          <a:xfrm>
            <a:off x="713232" y="384048"/>
            <a:ext cx="7955280" cy="329184"/>
          </a:xfrm>
          <a:prstGeom prst="rect">
            <a:avLst/>
          </a:prstGeom>
          <a:noFill/>
          <a:ln/>
        </p:spPr>
        <p:txBody>
          <a:bodyPr wrap="square" lIns="0" tIns="0" rIns="0" bIns="0" rtlCol="0" anchor="ctr"/>
          <a:lstStyle/>
          <a:p>
            <a:pPr indent="0" marL="0">
              <a:buNone/>
            </a:pPr>
            <a:r>
              <a:rPr lang="en-US" sz="1100" b="1" spc="400" kern="0" dirty="0">
                <a:solidFill>
                  <a:srgbClr val="0078D4"/>
                </a:solidFill>
                <a:latin typeface="Segoe UI" pitchFamily="34" charset="0"/>
                <a:ea typeface="Segoe UI" pitchFamily="34" charset="-122"/>
                <a:cs typeface="Segoe UI" pitchFamily="34" charset="-120"/>
              </a:rPr>
              <a:t>THE CHALLENGE  ·  MTN NIGERIA</a:t>
            </a:r>
            <a:endParaRPr lang="en-US" sz="1100" dirty="0"/>
          </a:p>
        </p:txBody>
      </p:sp>
      <p:sp>
        <p:nvSpPr>
          <p:cNvPr id="5" name="Text 2"/>
          <p:cNvSpPr/>
          <p:nvPr/>
        </p:nvSpPr>
        <p:spPr>
          <a:xfrm>
            <a:off x="457200" y="777240"/>
            <a:ext cx="8686800" cy="548640"/>
          </a:xfrm>
          <a:prstGeom prst="rect">
            <a:avLst/>
          </a:prstGeom>
          <a:noFill/>
          <a:ln/>
        </p:spPr>
        <p:txBody>
          <a:bodyPr wrap="square" lIns="0" tIns="0" rIns="0" bIns="0" rtlCol="0" anchor="ctr"/>
          <a:lstStyle/>
          <a:p>
            <a:pPr indent="0" marL="0">
              <a:buNone/>
            </a:pPr>
            <a:r>
              <a:rPr lang="en-US" sz="2600" b="1" dirty="0">
                <a:solidFill>
                  <a:srgbClr val="2A446F"/>
                </a:solidFill>
                <a:latin typeface="Segoe UI" pitchFamily="34" charset="0"/>
                <a:ea typeface="Segoe UI" pitchFamily="34" charset="-122"/>
                <a:cs typeface="Segoe UI" pitchFamily="34" charset="-120"/>
              </a:rPr>
              <a:t>Risk hides between the silos.</a:t>
            </a:r>
            <a:endParaRPr lang="en-US" sz="2600" dirty="0"/>
          </a:p>
        </p:txBody>
      </p:sp>
      <p:sp>
        <p:nvSpPr>
          <p:cNvPr id="6" name="Shape 3"/>
          <p:cNvSpPr/>
          <p:nvPr/>
        </p:nvSpPr>
        <p:spPr>
          <a:xfrm>
            <a:off x="457200" y="1417320"/>
            <a:ext cx="8229600" cy="0"/>
          </a:xfrm>
          <a:prstGeom prst="line">
            <a:avLst/>
          </a:prstGeom>
          <a:noFill/>
          <a:ln w="9525">
            <a:solidFill>
              <a:srgbClr val="EAD9C9"/>
            </a:solidFill>
            <a:prstDash val="solid"/>
          </a:ln>
        </p:spPr>
      </p:sp>
      <p:sp>
        <p:nvSpPr>
          <p:cNvPr id="7" name="Shape 4"/>
          <p:cNvSpPr/>
          <p:nvPr/>
        </p:nvSpPr>
        <p:spPr>
          <a:xfrm>
            <a:off x="457200" y="1691640"/>
            <a:ext cx="54864" cy="2651760"/>
          </a:xfrm>
          <a:prstGeom prst="rect">
            <a:avLst/>
          </a:prstGeom>
          <a:solidFill>
            <a:srgbClr val="FF9176"/>
          </a:solidFill>
          <a:ln w="12700">
            <a:solidFill>
              <a:srgbClr val="FF9176"/>
            </a:solidFill>
            <a:prstDash val="solid"/>
          </a:ln>
        </p:spPr>
      </p:sp>
      <p:sp>
        <p:nvSpPr>
          <p:cNvPr id="8" name="Text 5"/>
          <p:cNvSpPr/>
          <p:nvPr/>
        </p:nvSpPr>
        <p:spPr>
          <a:xfrm>
            <a:off x="640080" y="1691640"/>
            <a:ext cx="4206240" cy="1737360"/>
          </a:xfrm>
          <a:prstGeom prst="rect">
            <a:avLst/>
          </a:prstGeom>
          <a:noFill/>
          <a:ln/>
        </p:spPr>
        <p:txBody>
          <a:bodyPr wrap="square" lIns="0" tIns="0" rIns="0" bIns="0" rtlCol="0" anchor="ctr"/>
          <a:lstStyle/>
          <a:p>
            <a:pPr indent="0" marL="0">
              <a:spcAft>
                <a:spcPts val="400"/>
              </a:spcAft>
              <a:buNone/>
            </a:pPr>
            <a:r>
              <a:rPr lang="en-US" sz="1400" i="1" dirty="0">
                <a:solidFill>
                  <a:srgbClr val="2A446F"/>
                </a:solidFill>
                <a:latin typeface="Segoe UI" pitchFamily="34" charset="0"/>
                <a:ea typeface="Segoe UI" pitchFamily="34" charset="-122"/>
                <a:cs typeface="Segoe UI" pitchFamily="34" charset="-120"/>
              </a:rPr>
              <a:t>"Telecom operators rely on multiple, siloed data sources across network, sales, devices, and customer channels — making it difficult to identify operational risks early."</a:t>
            </a:r>
            <a:endParaRPr lang="en-US" sz="1400" dirty="0"/>
          </a:p>
        </p:txBody>
      </p:sp>
      <p:sp>
        <p:nvSpPr>
          <p:cNvPr id="9" name="Text 6"/>
          <p:cNvSpPr/>
          <p:nvPr/>
        </p:nvSpPr>
        <p:spPr>
          <a:xfrm>
            <a:off x="640080" y="3520440"/>
            <a:ext cx="4206240" cy="274320"/>
          </a:xfrm>
          <a:prstGeom prst="rect">
            <a:avLst/>
          </a:prstGeom>
          <a:noFill/>
          <a:ln/>
        </p:spPr>
        <p:txBody>
          <a:bodyPr wrap="square" lIns="0" tIns="0" rIns="0" bIns="0" rtlCol="0" anchor="ctr"/>
          <a:lstStyle/>
          <a:p>
            <a:pPr indent="0" marL="0">
              <a:buNone/>
            </a:pPr>
            <a:r>
              <a:rPr lang="en-US" sz="1000" dirty="0">
                <a:solidFill>
                  <a:srgbClr val="6B7E9B"/>
                </a:solidFill>
                <a:latin typeface="Segoe UI" pitchFamily="34" charset="0"/>
                <a:ea typeface="Segoe UI" pitchFamily="34" charset="-122"/>
                <a:cs typeface="Segoe UI" pitchFamily="34" charset="-120"/>
              </a:rPr>
              <a:t>— MTN Nigeria, AI4Telco problem statement</a:t>
            </a:r>
            <a:endParaRPr lang="en-US" sz="1000" dirty="0"/>
          </a:p>
        </p:txBody>
      </p:sp>
      <p:sp>
        <p:nvSpPr>
          <p:cNvPr id="10" name="Shape 7"/>
          <p:cNvSpPr/>
          <p:nvPr/>
        </p:nvSpPr>
        <p:spPr>
          <a:xfrm>
            <a:off x="5074920" y="1691640"/>
            <a:ext cx="1783080" cy="1078992"/>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11" name="Shape 8"/>
          <p:cNvSpPr/>
          <p:nvPr/>
        </p:nvSpPr>
        <p:spPr>
          <a:xfrm>
            <a:off x="5184648" y="1810512"/>
            <a:ext cx="329184" cy="329184"/>
          </a:xfrm>
          <a:prstGeom prst="ellipse">
            <a:avLst/>
          </a:prstGeom>
          <a:solidFill>
            <a:srgbClr val="0078D4"/>
          </a:solidFill>
          <a:ln w="12700">
            <a:solidFill>
              <a:srgbClr val="0078D4"/>
            </a:solidFill>
            <a:prstDash val="solid"/>
          </a:ln>
        </p:spPr>
      </p:sp>
      <p:pic>
        <p:nvPicPr>
          <p:cNvPr id="12" name="Image 0" descr="preencoded.png">    </p:cNvPr>
          <p:cNvPicPr>
            <a:picLocks noChangeAspect="1"/>
          </p:cNvPicPr>
          <p:nvPr/>
        </p:nvPicPr>
        <p:blipFill>
          <a:blip r:embed="rId1"/>
          <a:stretch>
            <a:fillRect/>
          </a:stretch>
        </p:blipFill>
        <p:spPr>
          <a:xfrm>
            <a:off x="5239512" y="1865376"/>
            <a:ext cx="219456" cy="219456"/>
          </a:xfrm>
          <a:prstGeom prst="rect">
            <a:avLst/>
          </a:prstGeom>
        </p:spPr>
      </p:pic>
      <p:sp>
        <p:nvSpPr>
          <p:cNvPr id="13" name="Text 9"/>
          <p:cNvSpPr/>
          <p:nvPr/>
        </p:nvSpPr>
        <p:spPr>
          <a:xfrm>
            <a:off x="5577840" y="1783080"/>
            <a:ext cx="1234440" cy="365760"/>
          </a:xfrm>
          <a:prstGeom prst="rect">
            <a:avLst/>
          </a:prstGeom>
          <a:noFill/>
          <a:ln/>
        </p:spPr>
        <p:txBody>
          <a:bodyPr wrap="square" lIns="0" tIns="0" rIns="0" bIns="0" rtlCol="0" anchor="ctr"/>
          <a:lstStyle/>
          <a:p>
            <a:pPr indent="0" marL="0">
              <a:buNone/>
            </a:pPr>
            <a:r>
              <a:rPr lang="en-US" sz="1250" b="1" dirty="0">
                <a:solidFill>
                  <a:srgbClr val="2A446F"/>
                </a:solidFill>
                <a:latin typeface="Segoe UI" pitchFamily="34" charset="0"/>
                <a:ea typeface="Segoe UI" pitchFamily="34" charset="-122"/>
                <a:cs typeface="Segoe UI" pitchFamily="34" charset="-120"/>
              </a:rPr>
              <a:t>Network &amp; BTS</a:t>
            </a:r>
            <a:endParaRPr lang="en-US" sz="1250" dirty="0"/>
          </a:p>
        </p:txBody>
      </p:sp>
      <p:sp>
        <p:nvSpPr>
          <p:cNvPr id="14" name="Text 10"/>
          <p:cNvSpPr/>
          <p:nvPr/>
        </p:nvSpPr>
        <p:spPr>
          <a:xfrm>
            <a:off x="5184648" y="2194560"/>
            <a:ext cx="1627632" cy="548640"/>
          </a:xfrm>
          <a:prstGeom prst="rect">
            <a:avLst/>
          </a:prstGeom>
          <a:noFill/>
          <a:ln/>
        </p:spPr>
        <p:txBody>
          <a:bodyPr wrap="square" lIns="0" tIns="0" rIns="0" bIns="0" rtlCol="0" anchor="ctr"/>
          <a:lstStyle/>
          <a:p>
            <a:pPr indent="0" marL="0">
              <a:buNone/>
            </a:pPr>
            <a:r>
              <a:rPr lang="en-US" sz="1050" dirty="0">
                <a:solidFill>
                  <a:srgbClr val="6B7E9B"/>
                </a:solidFill>
                <a:latin typeface="Segoe UI" pitchFamily="34" charset="0"/>
                <a:ea typeface="Segoe UI" pitchFamily="34" charset="-122"/>
                <a:cs typeface="Segoe UI" pitchFamily="34" charset="-120"/>
              </a:rPr>
              <a:t>Cell health, throughput, latency</a:t>
            </a:r>
            <a:endParaRPr lang="en-US" sz="1050" dirty="0"/>
          </a:p>
        </p:txBody>
      </p:sp>
      <p:sp>
        <p:nvSpPr>
          <p:cNvPr id="15" name="Shape 11"/>
          <p:cNvSpPr/>
          <p:nvPr/>
        </p:nvSpPr>
        <p:spPr>
          <a:xfrm>
            <a:off x="6949440" y="1691640"/>
            <a:ext cx="1783080" cy="1078992"/>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16" name="Shape 12"/>
          <p:cNvSpPr/>
          <p:nvPr/>
        </p:nvSpPr>
        <p:spPr>
          <a:xfrm>
            <a:off x="7059168" y="1810512"/>
            <a:ext cx="329184" cy="329184"/>
          </a:xfrm>
          <a:prstGeom prst="ellipse">
            <a:avLst/>
          </a:prstGeom>
          <a:solidFill>
            <a:srgbClr val="0078D4"/>
          </a:solidFill>
          <a:ln w="12700">
            <a:solidFill>
              <a:srgbClr val="0078D4"/>
            </a:solidFill>
            <a:prstDash val="solid"/>
          </a:ln>
        </p:spPr>
      </p:sp>
      <p:pic>
        <p:nvPicPr>
          <p:cNvPr id="17" name="Image 1" descr="preencoded.png">    </p:cNvPr>
          <p:cNvPicPr>
            <a:picLocks noChangeAspect="1"/>
          </p:cNvPicPr>
          <p:nvPr/>
        </p:nvPicPr>
        <p:blipFill>
          <a:blip r:embed="rId2"/>
          <a:stretch>
            <a:fillRect/>
          </a:stretch>
        </p:blipFill>
        <p:spPr>
          <a:xfrm>
            <a:off x="7114032" y="1865376"/>
            <a:ext cx="219456" cy="219456"/>
          </a:xfrm>
          <a:prstGeom prst="rect">
            <a:avLst/>
          </a:prstGeom>
        </p:spPr>
      </p:pic>
      <p:sp>
        <p:nvSpPr>
          <p:cNvPr id="18" name="Text 13"/>
          <p:cNvSpPr/>
          <p:nvPr/>
        </p:nvSpPr>
        <p:spPr>
          <a:xfrm>
            <a:off x="7452360" y="1783080"/>
            <a:ext cx="1234440" cy="365760"/>
          </a:xfrm>
          <a:prstGeom prst="rect">
            <a:avLst/>
          </a:prstGeom>
          <a:noFill/>
          <a:ln/>
        </p:spPr>
        <p:txBody>
          <a:bodyPr wrap="square" lIns="0" tIns="0" rIns="0" bIns="0" rtlCol="0" anchor="ctr"/>
          <a:lstStyle/>
          <a:p>
            <a:pPr indent="0" marL="0">
              <a:buNone/>
            </a:pPr>
            <a:r>
              <a:rPr lang="en-US" sz="1250" b="1" dirty="0">
                <a:solidFill>
                  <a:srgbClr val="2A446F"/>
                </a:solidFill>
                <a:latin typeface="Segoe UI" pitchFamily="34" charset="0"/>
                <a:ea typeface="Segoe UI" pitchFamily="34" charset="-122"/>
                <a:cs typeface="Segoe UI" pitchFamily="34" charset="-120"/>
              </a:rPr>
              <a:t>Billing &amp; Revenue</a:t>
            </a:r>
            <a:endParaRPr lang="en-US" sz="1250" dirty="0"/>
          </a:p>
        </p:txBody>
      </p:sp>
      <p:sp>
        <p:nvSpPr>
          <p:cNvPr id="19" name="Text 14"/>
          <p:cNvSpPr/>
          <p:nvPr/>
        </p:nvSpPr>
        <p:spPr>
          <a:xfrm>
            <a:off x="7059168" y="2194560"/>
            <a:ext cx="1627632" cy="548640"/>
          </a:xfrm>
          <a:prstGeom prst="rect">
            <a:avLst/>
          </a:prstGeom>
          <a:noFill/>
          <a:ln/>
        </p:spPr>
        <p:txBody>
          <a:bodyPr wrap="square" lIns="0" tIns="0" rIns="0" bIns="0" rtlCol="0" anchor="ctr"/>
          <a:lstStyle/>
          <a:p>
            <a:pPr indent="0" marL="0">
              <a:buNone/>
            </a:pPr>
            <a:r>
              <a:rPr lang="en-US" sz="1050" dirty="0">
                <a:solidFill>
                  <a:srgbClr val="6B7E9B"/>
                </a:solidFill>
                <a:latin typeface="Segoe UI" pitchFamily="34" charset="0"/>
                <a:ea typeface="Segoe UI" pitchFamily="34" charset="-122"/>
                <a:cs typeface="Segoe UI" pitchFamily="34" charset="-120"/>
              </a:rPr>
              <a:t>Recharge, top-ups, leakage flags</a:t>
            </a:r>
            <a:endParaRPr lang="en-US" sz="1050" dirty="0"/>
          </a:p>
        </p:txBody>
      </p:sp>
      <p:sp>
        <p:nvSpPr>
          <p:cNvPr id="20" name="Shape 15"/>
          <p:cNvSpPr/>
          <p:nvPr/>
        </p:nvSpPr>
        <p:spPr>
          <a:xfrm>
            <a:off x="5074920" y="2880360"/>
            <a:ext cx="1783080" cy="1078992"/>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21" name="Shape 16"/>
          <p:cNvSpPr/>
          <p:nvPr/>
        </p:nvSpPr>
        <p:spPr>
          <a:xfrm>
            <a:off x="5184648" y="2999232"/>
            <a:ext cx="329184" cy="329184"/>
          </a:xfrm>
          <a:prstGeom prst="ellipse">
            <a:avLst/>
          </a:prstGeom>
          <a:solidFill>
            <a:srgbClr val="FFBBA8"/>
          </a:solidFill>
          <a:ln w="12700">
            <a:solidFill>
              <a:srgbClr val="FFBBA8"/>
            </a:solidFill>
            <a:prstDash val="solid"/>
          </a:ln>
        </p:spPr>
      </p:sp>
      <p:pic>
        <p:nvPicPr>
          <p:cNvPr id="22" name="Image 2" descr="preencoded.png">    </p:cNvPr>
          <p:cNvPicPr>
            <a:picLocks noChangeAspect="1"/>
          </p:cNvPicPr>
          <p:nvPr/>
        </p:nvPicPr>
        <p:blipFill>
          <a:blip r:embed="rId3"/>
          <a:stretch>
            <a:fillRect/>
          </a:stretch>
        </p:blipFill>
        <p:spPr>
          <a:xfrm>
            <a:off x="5239512" y="3054096"/>
            <a:ext cx="219456" cy="219456"/>
          </a:xfrm>
          <a:prstGeom prst="rect">
            <a:avLst/>
          </a:prstGeom>
        </p:spPr>
      </p:pic>
      <p:sp>
        <p:nvSpPr>
          <p:cNvPr id="23" name="Text 17"/>
          <p:cNvSpPr/>
          <p:nvPr/>
        </p:nvSpPr>
        <p:spPr>
          <a:xfrm>
            <a:off x="5577840" y="2971800"/>
            <a:ext cx="1234440" cy="365760"/>
          </a:xfrm>
          <a:prstGeom prst="rect">
            <a:avLst/>
          </a:prstGeom>
          <a:noFill/>
          <a:ln/>
        </p:spPr>
        <p:txBody>
          <a:bodyPr wrap="square" lIns="0" tIns="0" rIns="0" bIns="0" rtlCol="0" anchor="ctr"/>
          <a:lstStyle/>
          <a:p>
            <a:pPr indent="0" marL="0">
              <a:buNone/>
            </a:pPr>
            <a:r>
              <a:rPr lang="en-US" sz="1250" b="1" dirty="0">
                <a:solidFill>
                  <a:srgbClr val="2A446F"/>
                </a:solidFill>
                <a:latin typeface="Segoe UI" pitchFamily="34" charset="0"/>
                <a:ea typeface="Segoe UI" pitchFamily="34" charset="-122"/>
                <a:cs typeface="Segoe UI" pitchFamily="34" charset="-120"/>
              </a:rPr>
              <a:t>Customer Channels</a:t>
            </a:r>
            <a:endParaRPr lang="en-US" sz="1250" dirty="0"/>
          </a:p>
        </p:txBody>
      </p:sp>
      <p:sp>
        <p:nvSpPr>
          <p:cNvPr id="24" name="Text 18"/>
          <p:cNvSpPr/>
          <p:nvPr/>
        </p:nvSpPr>
        <p:spPr>
          <a:xfrm>
            <a:off x="5184648" y="3383280"/>
            <a:ext cx="1627632" cy="548640"/>
          </a:xfrm>
          <a:prstGeom prst="rect">
            <a:avLst/>
          </a:prstGeom>
          <a:noFill/>
          <a:ln/>
        </p:spPr>
        <p:txBody>
          <a:bodyPr wrap="square" lIns="0" tIns="0" rIns="0" bIns="0" rtlCol="0" anchor="ctr"/>
          <a:lstStyle/>
          <a:p>
            <a:pPr indent="0" marL="0">
              <a:buNone/>
            </a:pPr>
            <a:r>
              <a:rPr lang="en-US" sz="1050" dirty="0">
                <a:solidFill>
                  <a:srgbClr val="6B7E9B"/>
                </a:solidFill>
                <a:latin typeface="Segoe UI" pitchFamily="34" charset="0"/>
                <a:ea typeface="Segoe UI" pitchFamily="34" charset="-122"/>
                <a:cs typeface="Segoe UI" pitchFamily="34" charset="-120"/>
              </a:rPr>
              <a:t>Complaints, social, contact centre</a:t>
            </a:r>
            <a:endParaRPr lang="en-US" sz="1050" dirty="0"/>
          </a:p>
        </p:txBody>
      </p:sp>
      <p:sp>
        <p:nvSpPr>
          <p:cNvPr id="25" name="Shape 19"/>
          <p:cNvSpPr/>
          <p:nvPr/>
        </p:nvSpPr>
        <p:spPr>
          <a:xfrm>
            <a:off x="6949440" y="2880360"/>
            <a:ext cx="1783080" cy="1078992"/>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26" name="Shape 20"/>
          <p:cNvSpPr/>
          <p:nvPr/>
        </p:nvSpPr>
        <p:spPr>
          <a:xfrm>
            <a:off x="7059168" y="2999232"/>
            <a:ext cx="329184" cy="329184"/>
          </a:xfrm>
          <a:prstGeom prst="ellipse">
            <a:avLst/>
          </a:prstGeom>
          <a:solidFill>
            <a:srgbClr val="FF9176"/>
          </a:solidFill>
          <a:ln w="12700">
            <a:solidFill>
              <a:srgbClr val="FF9176"/>
            </a:solidFill>
            <a:prstDash val="solid"/>
          </a:ln>
        </p:spPr>
      </p:sp>
      <p:pic>
        <p:nvPicPr>
          <p:cNvPr id="27" name="Image 3" descr="preencoded.png">    </p:cNvPr>
          <p:cNvPicPr>
            <a:picLocks noChangeAspect="1"/>
          </p:cNvPicPr>
          <p:nvPr/>
        </p:nvPicPr>
        <p:blipFill>
          <a:blip r:embed="rId4"/>
          <a:stretch>
            <a:fillRect/>
          </a:stretch>
        </p:blipFill>
        <p:spPr>
          <a:xfrm>
            <a:off x="7114032" y="3054096"/>
            <a:ext cx="219456" cy="219456"/>
          </a:xfrm>
          <a:prstGeom prst="rect">
            <a:avLst/>
          </a:prstGeom>
        </p:spPr>
      </p:pic>
      <p:sp>
        <p:nvSpPr>
          <p:cNvPr id="28" name="Text 21"/>
          <p:cNvSpPr/>
          <p:nvPr/>
        </p:nvSpPr>
        <p:spPr>
          <a:xfrm>
            <a:off x="7452360" y="2971800"/>
            <a:ext cx="1234440" cy="365760"/>
          </a:xfrm>
          <a:prstGeom prst="rect">
            <a:avLst/>
          </a:prstGeom>
          <a:noFill/>
          <a:ln/>
        </p:spPr>
        <p:txBody>
          <a:bodyPr wrap="square" lIns="0" tIns="0" rIns="0" bIns="0" rtlCol="0" anchor="ctr"/>
          <a:lstStyle/>
          <a:p>
            <a:pPr indent="0" marL="0">
              <a:buNone/>
            </a:pPr>
            <a:r>
              <a:rPr lang="en-US" sz="1250" b="1" dirty="0">
                <a:solidFill>
                  <a:srgbClr val="2A446F"/>
                </a:solidFill>
                <a:latin typeface="Segoe UI" pitchFamily="34" charset="0"/>
                <a:ea typeface="Segoe UI" pitchFamily="34" charset="-122"/>
                <a:cs typeface="Segoe UI" pitchFamily="34" charset="-120"/>
              </a:rPr>
              <a:t>Devices &amp; Sales</a:t>
            </a:r>
            <a:endParaRPr lang="en-US" sz="1250" dirty="0"/>
          </a:p>
        </p:txBody>
      </p:sp>
      <p:sp>
        <p:nvSpPr>
          <p:cNvPr id="29" name="Text 22"/>
          <p:cNvSpPr/>
          <p:nvPr/>
        </p:nvSpPr>
        <p:spPr>
          <a:xfrm>
            <a:off x="7059168" y="3383280"/>
            <a:ext cx="1627632" cy="548640"/>
          </a:xfrm>
          <a:prstGeom prst="rect">
            <a:avLst/>
          </a:prstGeom>
          <a:noFill/>
          <a:ln/>
        </p:spPr>
        <p:txBody>
          <a:bodyPr wrap="square" lIns="0" tIns="0" rIns="0" bIns="0" rtlCol="0" anchor="ctr"/>
          <a:lstStyle/>
          <a:p>
            <a:pPr indent="0" marL="0">
              <a:buNone/>
            </a:pPr>
            <a:r>
              <a:rPr lang="en-US" sz="1050" dirty="0">
                <a:solidFill>
                  <a:srgbClr val="6B7E9B"/>
                </a:solidFill>
                <a:latin typeface="Segoe UI" pitchFamily="34" charset="0"/>
                <a:ea typeface="Segoe UI" pitchFamily="34" charset="-122"/>
                <a:cs typeface="Segoe UI" pitchFamily="34" charset="-120"/>
              </a:rPr>
              <a:t>Activations, SIM swaps, IMEI</a:t>
            </a:r>
            <a:endParaRPr lang="en-US" sz="1050" dirty="0"/>
          </a:p>
        </p:txBody>
      </p:sp>
      <p:sp>
        <p:nvSpPr>
          <p:cNvPr id="30" name="Shape 23"/>
          <p:cNvSpPr/>
          <p:nvPr/>
        </p:nvSpPr>
        <p:spPr>
          <a:xfrm>
            <a:off x="457200" y="4206240"/>
            <a:ext cx="8229600" cy="457200"/>
          </a:xfrm>
          <a:prstGeom prst="rect">
            <a:avLst/>
          </a:prstGeom>
          <a:solidFill>
            <a:srgbClr val="2A446F"/>
          </a:solidFill>
          <a:ln w="12700">
            <a:solidFill>
              <a:srgbClr val="2A446F"/>
            </a:solidFill>
            <a:prstDash val="solid"/>
          </a:ln>
        </p:spPr>
      </p:sp>
      <p:sp>
        <p:nvSpPr>
          <p:cNvPr id="31" name="Text 24"/>
          <p:cNvSpPr/>
          <p:nvPr/>
        </p:nvSpPr>
        <p:spPr>
          <a:xfrm>
            <a:off x="457200" y="4206240"/>
            <a:ext cx="8229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Result: service disruption  ·  revenue leakage  ·  customer churn  ·  NCC penalties</a:t>
            </a:r>
            <a:endParaRPr lang="en-US" sz="1400" dirty="0"/>
          </a:p>
        </p:txBody>
      </p:sp>
      <p:sp>
        <p:nvSpPr>
          <p:cNvPr id="32" name="Text 25"/>
          <p:cNvSpPr/>
          <p:nvPr/>
        </p:nvSpPr>
        <p:spPr>
          <a:xfrm>
            <a:off x="457200" y="4846320"/>
            <a:ext cx="6858000" cy="228600"/>
          </a:xfrm>
          <a:prstGeom prst="rect">
            <a:avLst/>
          </a:prstGeom>
          <a:noFill/>
          <a:ln/>
        </p:spPr>
        <p:txBody>
          <a:bodyPr wrap="square" lIns="0" tIns="0" rIns="0" bIns="0" rtlCol="0" anchor="ctr"/>
          <a:lstStyle/>
          <a:p>
            <a:pPr indent="0" marL="0">
              <a:buNone/>
            </a:pPr>
            <a:r>
              <a:rPr lang="en-US" sz="900" dirty="0">
                <a:solidFill>
                  <a:srgbClr val="6B7E9B"/>
                </a:solidFill>
                <a:latin typeface="Segoe UI" pitchFamily="34" charset="0"/>
                <a:ea typeface="Segoe UI" pitchFamily="34" charset="-122"/>
                <a:cs typeface="Segoe UI" pitchFamily="34" charset="-120"/>
              </a:rPr>
              <a:t>RiskGuard AI  ·  AI4Telco Hackathon  ·  AI Skills Week Lagos 2026</a:t>
            </a:r>
            <a:endParaRPr lang="en-US" sz="900" dirty="0"/>
          </a:p>
        </p:txBody>
      </p:sp>
      <p:sp>
        <p:nvSpPr>
          <p:cNvPr id="33" name="Text 26"/>
          <p:cNvSpPr/>
          <p:nvPr/>
        </p:nvSpPr>
        <p:spPr>
          <a:xfrm>
            <a:off x="8229600" y="4846320"/>
            <a:ext cx="457200" cy="228600"/>
          </a:xfrm>
          <a:prstGeom prst="rect">
            <a:avLst/>
          </a:prstGeom>
          <a:noFill/>
          <a:ln/>
        </p:spPr>
        <p:txBody>
          <a:bodyPr wrap="square" lIns="0" tIns="0" rIns="0" bIns="0" rtlCol="0" anchor="ctr"/>
          <a:lstStyle/>
          <a:p>
            <a:pPr algn="r" indent="0" marL="0">
              <a:buNone/>
            </a:pPr>
            <a:r>
              <a:rPr lang="en-US" sz="900" dirty="0">
                <a:solidFill>
                  <a:srgbClr val="6B7E9B"/>
                </a:solidFill>
                <a:latin typeface="Segoe UI" pitchFamily="34" charset="0"/>
                <a:ea typeface="Segoe UI" pitchFamily="34" charset="-122"/>
                <a:cs typeface="Segoe UI"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8F3"/>
        </a:solidFill>
      </p:bgPr>
    </p:bg>
    <p:spTree>
      <p:nvGrpSpPr>
        <p:cNvPr id="1" name=""/>
        <p:cNvGrpSpPr/>
        <p:nvPr/>
      </p:nvGrpSpPr>
      <p:grpSpPr>
        <a:xfrm>
          <a:off x="0" y="0"/>
          <a:ext cx="0" cy="0"/>
          <a:chOff x="0" y="0"/>
          <a:chExt cx="0" cy="0"/>
        </a:xfrm>
      </p:grpSpPr>
      <p:sp>
        <p:nvSpPr>
          <p:cNvPr id="3" name="Shape 0"/>
          <p:cNvSpPr/>
          <p:nvPr/>
        </p:nvSpPr>
        <p:spPr>
          <a:xfrm>
            <a:off x="457200" y="411480"/>
            <a:ext cx="164592" cy="292608"/>
          </a:xfrm>
          <a:prstGeom prst="rect">
            <a:avLst/>
          </a:prstGeom>
          <a:solidFill>
            <a:srgbClr val="0078D4"/>
          </a:solidFill>
          <a:ln w="12700">
            <a:solidFill>
              <a:srgbClr val="0078D4"/>
            </a:solidFill>
            <a:prstDash val="solid"/>
          </a:ln>
        </p:spPr>
      </p:sp>
      <p:sp>
        <p:nvSpPr>
          <p:cNvPr id="4" name="Text 1"/>
          <p:cNvSpPr/>
          <p:nvPr/>
        </p:nvSpPr>
        <p:spPr>
          <a:xfrm>
            <a:off x="713232" y="384048"/>
            <a:ext cx="7955280" cy="329184"/>
          </a:xfrm>
          <a:prstGeom prst="rect">
            <a:avLst/>
          </a:prstGeom>
          <a:noFill/>
          <a:ln/>
        </p:spPr>
        <p:txBody>
          <a:bodyPr wrap="square" lIns="0" tIns="0" rIns="0" bIns="0" rtlCol="0" anchor="ctr"/>
          <a:lstStyle/>
          <a:p>
            <a:pPr indent="0" marL="0">
              <a:buNone/>
            </a:pPr>
            <a:r>
              <a:rPr lang="en-US" sz="1100" b="1" spc="400" kern="0" dirty="0">
                <a:solidFill>
                  <a:srgbClr val="0078D4"/>
                </a:solidFill>
                <a:latin typeface="Segoe UI" pitchFamily="34" charset="0"/>
                <a:ea typeface="Segoe UI" pitchFamily="34" charset="-122"/>
                <a:cs typeface="Segoe UI" pitchFamily="34" charset="-120"/>
              </a:rPr>
              <a:t>WHAT IT COSTS</a:t>
            </a:r>
            <a:endParaRPr lang="en-US" sz="1100" dirty="0"/>
          </a:p>
        </p:txBody>
      </p:sp>
      <p:sp>
        <p:nvSpPr>
          <p:cNvPr id="5" name="Text 2"/>
          <p:cNvSpPr/>
          <p:nvPr/>
        </p:nvSpPr>
        <p:spPr>
          <a:xfrm>
            <a:off x="457200" y="777240"/>
            <a:ext cx="8686800" cy="548640"/>
          </a:xfrm>
          <a:prstGeom prst="rect">
            <a:avLst/>
          </a:prstGeom>
          <a:noFill/>
          <a:ln/>
        </p:spPr>
        <p:txBody>
          <a:bodyPr wrap="square" lIns="0" tIns="0" rIns="0" bIns="0" rtlCol="0" anchor="ctr"/>
          <a:lstStyle/>
          <a:p>
            <a:pPr indent="0" marL="0">
              <a:buNone/>
            </a:pPr>
            <a:r>
              <a:rPr lang="en-US" sz="2600" b="1" dirty="0">
                <a:solidFill>
                  <a:srgbClr val="2A446F"/>
                </a:solidFill>
                <a:latin typeface="Segoe UI" pitchFamily="34" charset="0"/>
                <a:ea typeface="Segoe UI" pitchFamily="34" charset="-122"/>
                <a:cs typeface="Segoe UI" pitchFamily="34" charset="-120"/>
              </a:rPr>
              <a:t>Operators learn from Twitter — not dashboards.</a:t>
            </a:r>
            <a:endParaRPr lang="en-US" sz="2600" dirty="0"/>
          </a:p>
        </p:txBody>
      </p:sp>
      <p:sp>
        <p:nvSpPr>
          <p:cNvPr id="6" name="Shape 3"/>
          <p:cNvSpPr/>
          <p:nvPr/>
        </p:nvSpPr>
        <p:spPr>
          <a:xfrm>
            <a:off x="457200" y="1417320"/>
            <a:ext cx="8229600" cy="0"/>
          </a:xfrm>
          <a:prstGeom prst="line">
            <a:avLst/>
          </a:prstGeom>
          <a:noFill/>
          <a:ln w="9525">
            <a:solidFill>
              <a:srgbClr val="EAD9C9"/>
            </a:solidFill>
            <a:prstDash val="solid"/>
          </a:ln>
        </p:spPr>
      </p:sp>
      <p:sp>
        <p:nvSpPr>
          <p:cNvPr id="7" name="Shape 4"/>
          <p:cNvSpPr/>
          <p:nvPr/>
        </p:nvSpPr>
        <p:spPr>
          <a:xfrm>
            <a:off x="502920" y="1691640"/>
            <a:ext cx="2606040" cy="210312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8" name="Shape 5"/>
          <p:cNvSpPr/>
          <p:nvPr/>
        </p:nvSpPr>
        <p:spPr>
          <a:xfrm>
            <a:off x="502920" y="1691640"/>
            <a:ext cx="2606040" cy="109728"/>
          </a:xfrm>
          <a:prstGeom prst="rect">
            <a:avLst/>
          </a:prstGeom>
          <a:solidFill>
            <a:srgbClr val="FF9176"/>
          </a:solidFill>
          <a:ln w="12700">
            <a:solidFill>
              <a:srgbClr val="FF9176"/>
            </a:solidFill>
            <a:prstDash val="solid"/>
          </a:ln>
        </p:spPr>
      </p:sp>
      <p:sp>
        <p:nvSpPr>
          <p:cNvPr id="9" name="Text 6"/>
          <p:cNvSpPr/>
          <p:nvPr/>
        </p:nvSpPr>
        <p:spPr>
          <a:xfrm>
            <a:off x="640080" y="1920240"/>
            <a:ext cx="2331720" cy="914400"/>
          </a:xfrm>
          <a:prstGeom prst="rect">
            <a:avLst/>
          </a:prstGeom>
          <a:noFill/>
          <a:ln/>
        </p:spPr>
        <p:txBody>
          <a:bodyPr wrap="square" lIns="0" tIns="0" rIns="0" bIns="0" rtlCol="0" anchor="ctr"/>
          <a:lstStyle/>
          <a:p>
            <a:pPr algn="l" indent="0" marL="0">
              <a:buNone/>
            </a:pPr>
            <a:r>
              <a:rPr lang="en-US" sz="4800" b="1" dirty="0">
                <a:solidFill>
                  <a:srgbClr val="2A446F"/>
                </a:solidFill>
                <a:latin typeface="Segoe UI" pitchFamily="34" charset="0"/>
                <a:ea typeface="Segoe UI" pitchFamily="34" charset="-122"/>
                <a:cs typeface="Segoe UI" pitchFamily="34" charset="-120"/>
              </a:rPr>
              <a:t>47 min</a:t>
            </a:r>
            <a:endParaRPr lang="en-US" sz="4800" dirty="0"/>
          </a:p>
        </p:txBody>
      </p:sp>
      <p:sp>
        <p:nvSpPr>
          <p:cNvPr id="10" name="Text 7"/>
          <p:cNvSpPr/>
          <p:nvPr/>
        </p:nvSpPr>
        <p:spPr>
          <a:xfrm>
            <a:off x="640080" y="2880360"/>
            <a:ext cx="2331720" cy="868680"/>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average operator delay between first signal and confirmed incident</a:t>
            </a:r>
            <a:endParaRPr lang="en-US" sz="1100" dirty="0"/>
          </a:p>
        </p:txBody>
      </p:sp>
      <p:sp>
        <p:nvSpPr>
          <p:cNvPr id="11" name="Shape 8"/>
          <p:cNvSpPr/>
          <p:nvPr/>
        </p:nvSpPr>
        <p:spPr>
          <a:xfrm>
            <a:off x="3291840" y="1691640"/>
            <a:ext cx="2606040" cy="210312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12" name="Shape 9"/>
          <p:cNvSpPr/>
          <p:nvPr/>
        </p:nvSpPr>
        <p:spPr>
          <a:xfrm>
            <a:off x="3291840" y="1691640"/>
            <a:ext cx="2606040" cy="109728"/>
          </a:xfrm>
          <a:prstGeom prst="rect">
            <a:avLst/>
          </a:prstGeom>
          <a:solidFill>
            <a:srgbClr val="FFBBA8"/>
          </a:solidFill>
          <a:ln w="12700">
            <a:solidFill>
              <a:srgbClr val="FFBBA8"/>
            </a:solidFill>
            <a:prstDash val="solid"/>
          </a:ln>
        </p:spPr>
      </p:sp>
      <p:sp>
        <p:nvSpPr>
          <p:cNvPr id="13" name="Text 10"/>
          <p:cNvSpPr/>
          <p:nvPr/>
        </p:nvSpPr>
        <p:spPr>
          <a:xfrm>
            <a:off x="3429000" y="1920240"/>
            <a:ext cx="2331720" cy="914400"/>
          </a:xfrm>
          <a:prstGeom prst="rect">
            <a:avLst/>
          </a:prstGeom>
          <a:noFill/>
          <a:ln/>
        </p:spPr>
        <p:txBody>
          <a:bodyPr wrap="square" lIns="0" tIns="0" rIns="0" bIns="0" rtlCol="0" anchor="ctr"/>
          <a:lstStyle/>
          <a:p>
            <a:pPr algn="l" indent="0" marL="0">
              <a:buNone/>
            </a:pPr>
            <a:r>
              <a:rPr lang="en-US" sz="4800" b="1" dirty="0">
                <a:solidFill>
                  <a:srgbClr val="2A446F"/>
                </a:solidFill>
                <a:latin typeface="Segoe UI" pitchFamily="34" charset="0"/>
                <a:ea typeface="Segoe UI" pitchFamily="34" charset="-122"/>
                <a:cs typeface="Segoe UI" pitchFamily="34" charset="-120"/>
              </a:rPr>
              <a:t>NGN-bn</a:t>
            </a:r>
            <a:endParaRPr lang="en-US" sz="4800" dirty="0"/>
          </a:p>
        </p:txBody>
      </p:sp>
      <p:sp>
        <p:nvSpPr>
          <p:cNvPr id="14" name="Text 11"/>
          <p:cNvSpPr/>
          <p:nvPr/>
        </p:nvSpPr>
        <p:spPr>
          <a:xfrm>
            <a:off x="3429000" y="2880360"/>
            <a:ext cx="2331720" cy="868680"/>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regulatory penalties NCC has issued operators for QoS breaches in recent years</a:t>
            </a:r>
            <a:endParaRPr lang="en-US" sz="1100" dirty="0"/>
          </a:p>
        </p:txBody>
      </p:sp>
      <p:sp>
        <p:nvSpPr>
          <p:cNvPr id="15" name="Shape 12"/>
          <p:cNvSpPr/>
          <p:nvPr/>
        </p:nvSpPr>
        <p:spPr>
          <a:xfrm>
            <a:off x="6080760" y="1691640"/>
            <a:ext cx="2606040" cy="210312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16" name="Shape 13"/>
          <p:cNvSpPr/>
          <p:nvPr/>
        </p:nvSpPr>
        <p:spPr>
          <a:xfrm>
            <a:off x="6080760" y="1691640"/>
            <a:ext cx="2606040" cy="109728"/>
          </a:xfrm>
          <a:prstGeom prst="rect">
            <a:avLst/>
          </a:prstGeom>
          <a:solidFill>
            <a:srgbClr val="0078D4"/>
          </a:solidFill>
          <a:ln w="12700">
            <a:solidFill>
              <a:srgbClr val="0078D4"/>
            </a:solidFill>
            <a:prstDash val="solid"/>
          </a:ln>
        </p:spPr>
      </p:sp>
      <p:sp>
        <p:nvSpPr>
          <p:cNvPr id="17" name="Text 14"/>
          <p:cNvSpPr/>
          <p:nvPr/>
        </p:nvSpPr>
        <p:spPr>
          <a:xfrm>
            <a:off x="6217920" y="1920240"/>
            <a:ext cx="2331720" cy="914400"/>
          </a:xfrm>
          <a:prstGeom prst="rect">
            <a:avLst/>
          </a:prstGeom>
          <a:noFill/>
          <a:ln/>
        </p:spPr>
        <p:txBody>
          <a:bodyPr wrap="square" lIns="0" tIns="0" rIns="0" bIns="0" rtlCol="0" anchor="ctr"/>
          <a:lstStyle/>
          <a:p>
            <a:pPr algn="l" indent="0" marL="0">
              <a:buNone/>
            </a:pPr>
            <a:r>
              <a:rPr lang="en-US" sz="4800" b="1" dirty="0">
                <a:solidFill>
                  <a:srgbClr val="2A446F"/>
                </a:solidFill>
                <a:latin typeface="Segoe UI" pitchFamily="34" charset="0"/>
                <a:ea typeface="Segoe UI" pitchFamily="34" charset="-122"/>
                <a:cs typeface="Segoe UI" pitchFamily="34" charset="-120"/>
              </a:rPr>
              <a:t>1 in 3</a:t>
            </a:r>
            <a:endParaRPr lang="en-US" sz="4800" dirty="0"/>
          </a:p>
        </p:txBody>
      </p:sp>
      <p:sp>
        <p:nvSpPr>
          <p:cNvPr id="18" name="Text 15"/>
          <p:cNvSpPr/>
          <p:nvPr/>
        </p:nvSpPr>
        <p:spPr>
          <a:xfrm>
            <a:off x="6217920" y="2880360"/>
            <a:ext cx="2331720" cy="868680"/>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Nigerian subscribers say poor service is their #1 reason to switch network</a:t>
            </a:r>
            <a:endParaRPr lang="en-US" sz="1100" dirty="0"/>
          </a:p>
        </p:txBody>
      </p:sp>
      <p:sp>
        <p:nvSpPr>
          <p:cNvPr id="19" name="Shape 16"/>
          <p:cNvSpPr/>
          <p:nvPr/>
        </p:nvSpPr>
        <p:spPr>
          <a:xfrm>
            <a:off x="502920" y="4114800"/>
            <a:ext cx="8183880" cy="548640"/>
          </a:xfrm>
          <a:prstGeom prst="rect">
            <a:avLst/>
          </a:prstGeom>
          <a:solidFill>
            <a:srgbClr val="2A446F"/>
          </a:solidFill>
          <a:ln w="12700">
            <a:solidFill>
              <a:srgbClr val="2A446F"/>
            </a:solidFill>
            <a:prstDash val="solid"/>
          </a:ln>
        </p:spPr>
      </p:sp>
      <p:sp>
        <p:nvSpPr>
          <p:cNvPr id="20" name="Text 17"/>
          <p:cNvSpPr/>
          <p:nvPr/>
        </p:nvSpPr>
        <p:spPr>
          <a:xfrm>
            <a:off x="502920" y="4114800"/>
            <a:ext cx="8183880" cy="548640"/>
          </a:xfrm>
          <a:prstGeom prst="rect">
            <a:avLst/>
          </a:prstGeom>
          <a:noFill/>
          <a:ln/>
        </p:spPr>
        <p:txBody>
          <a:bodyPr wrap="square" lIns="0" tIns="0" rIns="0" bIns="0" rtlCol="0" anchor="ctr"/>
          <a:lstStyle/>
          <a:p>
            <a:pPr algn="ctr" indent="0" marL="0">
              <a:buNone/>
            </a:pPr>
            <a:r>
              <a:rPr lang="en-US" sz="1400" i="1" dirty="0">
                <a:solidFill>
                  <a:srgbClr val="FFFFFF"/>
                </a:solidFill>
                <a:latin typeface="Segoe UI" pitchFamily="34" charset="0"/>
                <a:ea typeface="Segoe UI" pitchFamily="34" charset="-122"/>
                <a:cs typeface="Segoe UI" pitchFamily="34" charset="-120"/>
              </a:rPr>
              <a:t>Today's tools are dashboards. Dashboards wait to be looked at. Risk doesn't.</a:t>
            </a:r>
            <a:endParaRPr lang="en-US" sz="1400" dirty="0"/>
          </a:p>
        </p:txBody>
      </p:sp>
      <p:sp>
        <p:nvSpPr>
          <p:cNvPr id="21" name="Text 18"/>
          <p:cNvSpPr/>
          <p:nvPr/>
        </p:nvSpPr>
        <p:spPr>
          <a:xfrm>
            <a:off x="457200" y="4846320"/>
            <a:ext cx="6858000" cy="228600"/>
          </a:xfrm>
          <a:prstGeom prst="rect">
            <a:avLst/>
          </a:prstGeom>
          <a:noFill/>
          <a:ln/>
        </p:spPr>
        <p:txBody>
          <a:bodyPr wrap="square" lIns="0" tIns="0" rIns="0" bIns="0" rtlCol="0" anchor="ctr"/>
          <a:lstStyle/>
          <a:p>
            <a:pPr indent="0" marL="0">
              <a:buNone/>
            </a:pPr>
            <a:r>
              <a:rPr lang="en-US" sz="900" dirty="0">
                <a:solidFill>
                  <a:srgbClr val="6B7E9B"/>
                </a:solidFill>
                <a:latin typeface="Segoe UI" pitchFamily="34" charset="0"/>
                <a:ea typeface="Segoe UI" pitchFamily="34" charset="-122"/>
                <a:cs typeface="Segoe UI" pitchFamily="34" charset="-120"/>
              </a:rPr>
              <a:t>RiskGuard AI  ·  AI4Telco Hackathon  ·  AI Skills Week Lagos 2026</a:t>
            </a:r>
            <a:endParaRPr lang="en-US" sz="900" dirty="0"/>
          </a:p>
        </p:txBody>
      </p:sp>
      <p:sp>
        <p:nvSpPr>
          <p:cNvPr id="22" name="Text 19"/>
          <p:cNvSpPr/>
          <p:nvPr/>
        </p:nvSpPr>
        <p:spPr>
          <a:xfrm>
            <a:off x="8229600" y="4846320"/>
            <a:ext cx="457200" cy="228600"/>
          </a:xfrm>
          <a:prstGeom prst="rect">
            <a:avLst/>
          </a:prstGeom>
          <a:noFill/>
          <a:ln/>
        </p:spPr>
        <p:txBody>
          <a:bodyPr wrap="square" lIns="0" tIns="0" rIns="0" bIns="0" rtlCol="0" anchor="ctr"/>
          <a:lstStyle/>
          <a:p>
            <a:pPr algn="r" indent="0" marL="0">
              <a:buNone/>
            </a:pPr>
            <a:r>
              <a:rPr lang="en-US" sz="900" dirty="0">
                <a:solidFill>
                  <a:srgbClr val="6B7E9B"/>
                </a:solidFill>
                <a:latin typeface="Segoe UI" pitchFamily="34" charset="0"/>
                <a:ea typeface="Segoe UI" pitchFamily="34" charset="-122"/>
                <a:cs typeface="Segoe U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F3"/>
        </a:solidFill>
      </p:bgPr>
    </p:bg>
    <p:spTree>
      <p:nvGrpSpPr>
        <p:cNvPr id="1" name=""/>
        <p:cNvGrpSpPr/>
        <p:nvPr/>
      </p:nvGrpSpPr>
      <p:grpSpPr>
        <a:xfrm>
          <a:off x="0" y="0"/>
          <a:ext cx="0" cy="0"/>
          <a:chOff x="0" y="0"/>
          <a:chExt cx="0" cy="0"/>
        </a:xfrm>
      </p:grpSpPr>
      <p:sp>
        <p:nvSpPr>
          <p:cNvPr id="3" name="Shape 0"/>
          <p:cNvSpPr/>
          <p:nvPr/>
        </p:nvSpPr>
        <p:spPr>
          <a:xfrm>
            <a:off x="457200" y="411480"/>
            <a:ext cx="164592" cy="292608"/>
          </a:xfrm>
          <a:prstGeom prst="rect">
            <a:avLst/>
          </a:prstGeom>
          <a:solidFill>
            <a:srgbClr val="0078D4"/>
          </a:solidFill>
          <a:ln w="12700">
            <a:solidFill>
              <a:srgbClr val="0078D4"/>
            </a:solidFill>
            <a:prstDash val="solid"/>
          </a:ln>
        </p:spPr>
      </p:sp>
      <p:sp>
        <p:nvSpPr>
          <p:cNvPr id="4" name="Text 1"/>
          <p:cNvSpPr/>
          <p:nvPr/>
        </p:nvSpPr>
        <p:spPr>
          <a:xfrm>
            <a:off x="713232" y="384048"/>
            <a:ext cx="7955280" cy="329184"/>
          </a:xfrm>
          <a:prstGeom prst="rect">
            <a:avLst/>
          </a:prstGeom>
          <a:noFill/>
          <a:ln/>
        </p:spPr>
        <p:txBody>
          <a:bodyPr wrap="square" lIns="0" tIns="0" rIns="0" bIns="0" rtlCol="0" anchor="ctr"/>
          <a:lstStyle/>
          <a:p>
            <a:pPr indent="0" marL="0">
              <a:buNone/>
            </a:pPr>
            <a:r>
              <a:rPr lang="en-US" sz="1100" b="1" spc="400" kern="0" dirty="0">
                <a:solidFill>
                  <a:srgbClr val="0078D4"/>
                </a:solidFill>
                <a:latin typeface="Segoe UI" pitchFamily="34" charset="0"/>
                <a:ea typeface="Segoe UI" pitchFamily="34" charset="-122"/>
                <a:cs typeface="Segoe UI" pitchFamily="34" charset="-120"/>
              </a:rPr>
              <a:t>INTRODUCING</a:t>
            </a:r>
            <a:endParaRPr lang="en-US" sz="1100" dirty="0"/>
          </a:p>
        </p:txBody>
      </p:sp>
      <p:sp>
        <p:nvSpPr>
          <p:cNvPr id="5" name="Text 2"/>
          <p:cNvSpPr/>
          <p:nvPr/>
        </p:nvSpPr>
        <p:spPr>
          <a:xfrm>
            <a:off x="457200" y="777240"/>
            <a:ext cx="8686800" cy="548640"/>
          </a:xfrm>
          <a:prstGeom prst="rect">
            <a:avLst/>
          </a:prstGeom>
          <a:noFill/>
          <a:ln/>
        </p:spPr>
        <p:txBody>
          <a:bodyPr wrap="square" lIns="0" tIns="0" rIns="0" bIns="0" rtlCol="0" anchor="ctr"/>
          <a:lstStyle/>
          <a:p>
            <a:pPr indent="0" marL="0">
              <a:buNone/>
            </a:pPr>
            <a:r>
              <a:rPr lang="en-US" sz="2600" b="1" dirty="0">
                <a:solidFill>
                  <a:srgbClr val="2A446F"/>
                </a:solidFill>
                <a:latin typeface="Segoe UI" pitchFamily="34" charset="0"/>
                <a:ea typeface="Segoe UI" pitchFamily="34" charset="-122"/>
                <a:cs typeface="Segoe UI" pitchFamily="34" charset="-120"/>
              </a:rPr>
              <a:t>RiskGuard AI — an AI risk officer that takes action.</a:t>
            </a:r>
            <a:endParaRPr lang="en-US" sz="2600" dirty="0"/>
          </a:p>
        </p:txBody>
      </p:sp>
      <p:sp>
        <p:nvSpPr>
          <p:cNvPr id="6" name="Shape 3"/>
          <p:cNvSpPr/>
          <p:nvPr/>
        </p:nvSpPr>
        <p:spPr>
          <a:xfrm>
            <a:off x="457200" y="1417320"/>
            <a:ext cx="8229600" cy="0"/>
          </a:xfrm>
          <a:prstGeom prst="line">
            <a:avLst/>
          </a:prstGeom>
          <a:noFill/>
          <a:ln w="9525">
            <a:solidFill>
              <a:srgbClr val="EAD9C9"/>
            </a:solidFill>
            <a:prstDash val="solid"/>
          </a:ln>
        </p:spPr>
      </p:sp>
      <p:sp>
        <p:nvSpPr>
          <p:cNvPr id="7" name="Text 4"/>
          <p:cNvSpPr/>
          <p:nvPr/>
        </p:nvSpPr>
        <p:spPr>
          <a:xfrm>
            <a:off x="502920" y="1645920"/>
            <a:ext cx="8229600" cy="1463040"/>
          </a:xfrm>
          <a:prstGeom prst="rect">
            <a:avLst/>
          </a:prstGeom>
          <a:noFill/>
          <a:ln/>
        </p:spPr>
        <p:txBody>
          <a:bodyPr wrap="square" lIns="0" tIns="0" rIns="0" bIns="0" rtlCol="0" anchor="ctr"/>
          <a:lstStyle/>
          <a:p>
            <a:pPr indent="0" marL="0">
              <a:buNone/>
            </a:pPr>
            <a:r>
              <a:rPr lang="en-US" sz="1800" b="1" dirty="0">
                <a:solidFill>
                  <a:srgbClr val="FF9176"/>
                </a:solidFill>
                <a:latin typeface="Segoe UI" pitchFamily="34" charset="0"/>
                <a:ea typeface="Segoe UI" pitchFamily="34" charset="-122"/>
                <a:cs typeface="Segoe UI" pitchFamily="34" charset="-120"/>
              </a:rPr>
              <a:t>Not a dashboard. </a:t>
            </a:r>
            <a:pPr indent="0" marL="0">
              <a:buNone/>
            </a:pPr>
            <a:r>
              <a:rPr lang="en-US" sz="1800" dirty="0">
                <a:solidFill>
                  <a:srgbClr val="2A446F"/>
                </a:solidFill>
                <a:latin typeface="Segoe UI" pitchFamily="34" charset="0"/>
                <a:ea typeface="Segoe UI" pitchFamily="34" charset="-122"/>
                <a:cs typeface="Segoe UI" pitchFamily="34" charset="-120"/>
              </a:rPr>
              <a:t>An always-on agent that </a:t>
            </a:r>
            <a:pPr indent="0" marL="0">
              <a:buNone/>
            </a:pPr>
            <a:r>
              <a:rPr lang="en-US" sz="1800" b="1" dirty="0">
                <a:solidFill>
                  <a:srgbClr val="0078D4"/>
                </a:solidFill>
                <a:latin typeface="Segoe UI" pitchFamily="34" charset="0"/>
                <a:ea typeface="Segoe UI" pitchFamily="34" charset="-122"/>
                <a:cs typeface="Segoe UI" pitchFamily="34" charset="-120"/>
              </a:rPr>
              <a:t>reads</a:t>
            </a:r>
            <a:pPr indent="0" marL="0">
              <a:buNone/>
            </a:pPr>
            <a:r>
              <a:rPr lang="en-US" sz="1800" dirty="0">
                <a:solidFill>
                  <a:srgbClr val="2A446F"/>
                </a:solidFill>
                <a:latin typeface="Segoe UI" pitchFamily="34" charset="0"/>
                <a:ea typeface="Segoe UI" pitchFamily="34" charset="-122"/>
                <a:cs typeface="Segoe UI" pitchFamily="34" charset="-120"/>
              </a:rPr>
              <a:t> every signal across network, billing, sales and customer channels, </a:t>
            </a:r>
            <a:pPr indent="0" marL="0">
              <a:buNone/>
            </a:pPr>
            <a:r>
              <a:rPr lang="en-US" sz="1800" b="1" dirty="0">
                <a:solidFill>
                  <a:srgbClr val="0078D4"/>
                </a:solidFill>
                <a:latin typeface="Segoe UI" pitchFamily="34" charset="0"/>
                <a:ea typeface="Segoe UI" pitchFamily="34" charset="-122"/>
                <a:cs typeface="Segoe UI" pitchFamily="34" charset="-120"/>
              </a:rPr>
              <a:t>predicts</a:t>
            </a:r>
            <a:pPr indent="0" marL="0">
              <a:buNone/>
            </a:pPr>
            <a:r>
              <a:rPr lang="en-US" sz="1800" dirty="0">
                <a:solidFill>
                  <a:srgbClr val="2A446F"/>
                </a:solidFill>
                <a:latin typeface="Segoe UI" pitchFamily="34" charset="0"/>
                <a:ea typeface="Segoe UI" pitchFamily="34" charset="-122"/>
                <a:cs typeface="Segoe UI" pitchFamily="34" charset="-120"/>
              </a:rPr>
              <a:t> the next breach, </a:t>
            </a:r>
            <a:pPr indent="0" marL="0">
              <a:buNone/>
            </a:pPr>
            <a:r>
              <a:rPr lang="en-US" sz="1800" b="1" dirty="0">
                <a:solidFill>
                  <a:srgbClr val="0078D4"/>
                </a:solidFill>
                <a:latin typeface="Segoe UI" pitchFamily="34" charset="0"/>
                <a:ea typeface="Segoe UI" pitchFamily="34" charset="-122"/>
                <a:cs typeface="Segoe UI" pitchFamily="34" charset="-120"/>
              </a:rPr>
              <a:t>recommends</a:t>
            </a:r>
            <a:pPr indent="0" marL="0">
              <a:buNone/>
            </a:pPr>
            <a:r>
              <a:rPr lang="en-US" sz="1800" dirty="0">
                <a:solidFill>
                  <a:srgbClr val="2A446F"/>
                </a:solidFill>
                <a:latin typeface="Segoe UI" pitchFamily="34" charset="0"/>
                <a:ea typeface="Segoe UI" pitchFamily="34" charset="-122"/>
                <a:cs typeface="Segoe UI" pitchFamily="34" charset="-120"/>
              </a:rPr>
              <a:t> a fix, and </a:t>
            </a:r>
            <a:pPr indent="0" marL="0">
              <a:buNone/>
            </a:pPr>
            <a:r>
              <a:rPr lang="en-US" sz="1800" b="1" dirty="0">
                <a:solidFill>
                  <a:srgbClr val="0078D4"/>
                </a:solidFill>
                <a:latin typeface="Segoe UI" pitchFamily="34" charset="0"/>
                <a:ea typeface="Segoe UI" pitchFamily="34" charset="-122"/>
                <a:cs typeface="Segoe UI" pitchFamily="34" charset="-120"/>
              </a:rPr>
              <a:t>files the NCC report</a:t>
            </a:r>
            <a:pPr indent="0" marL="0">
              <a:buNone/>
            </a:pPr>
            <a:r>
              <a:rPr lang="en-US" sz="1800" dirty="0">
                <a:solidFill>
                  <a:srgbClr val="2A446F"/>
                </a:solidFill>
                <a:latin typeface="Segoe UI" pitchFamily="34" charset="0"/>
                <a:ea typeface="Segoe UI" pitchFamily="34" charset="-122"/>
                <a:cs typeface="Segoe UI" pitchFamily="34" charset="-120"/>
              </a:rPr>
              <a:t> — with a human always in the loop.</a:t>
            </a:r>
            <a:endParaRPr lang="en-US" sz="1800" dirty="0"/>
          </a:p>
        </p:txBody>
      </p:sp>
      <p:sp>
        <p:nvSpPr>
          <p:cNvPr id="8" name="Shape 5"/>
          <p:cNvSpPr/>
          <p:nvPr/>
        </p:nvSpPr>
        <p:spPr>
          <a:xfrm>
            <a:off x="502920" y="3246120"/>
            <a:ext cx="1892808" cy="141732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9" name="Text 6"/>
          <p:cNvSpPr/>
          <p:nvPr/>
        </p:nvSpPr>
        <p:spPr>
          <a:xfrm>
            <a:off x="612648" y="3291840"/>
            <a:ext cx="365760" cy="457200"/>
          </a:xfrm>
          <a:prstGeom prst="rect">
            <a:avLst/>
          </a:prstGeom>
          <a:noFill/>
          <a:ln/>
        </p:spPr>
        <p:txBody>
          <a:bodyPr wrap="square" lIns="0" tIns="0" rIns="0" bIns="0" rtlCol="0" anchor="ctr"/>
          <a:lstStyle/>
          <a:p>
            <a:pPr indent="0" marL="0">
              <a:buNone/>
            </a:pPr>
            <a:r>
              <a:rPr lang="en-US" sz="2600" b="1" dirty="0">
                <a:solidFill>
                  <a:srgbClr val="0078D4"/>
                </a:solidFill>
                <a:latin typeface="Segoe UI" pitchFamily="34" charset="0"/>
                <a:ea typeface="Segoe UI" pitchFamily="34" charset="-122"/>
                <a:cs typeface="Segoe UI" pitchFamily="34" charset="-120"/>
              </a:rPr>
              <a:t>1</a:t>
            </a:r>
            <a:endParaRPr lang="en-US" sz="2600" dirty="0"/>
          </a:p>
        </p:txBody>
      </p:sp>
      <p:sp>
        <p:nvSpPr>
          <p:cNvPr id="10" name="Shape 7"/>
          <p:cNvSpPr/>
          <p:nvPr/>
        </p:nvSpPr>
        <p:spPr>
          <a:xfrm>
            <a:off x="1920240" y="3310128"/>
            <a:ext cx="384048" cy="384048"/>
          </a:xfrm>
          <a:prstGeom prst="ellipse">
            <a:avLst/>
          </a:prstGeom>
          <a:solidFill>
            <a:srgbClr val="0078D4"/>
          </a:solidFill>
          <a:ln w="12700">
            <a:solidFill>
              <a:srgbClr val="0078D4"/>
            </a:solidFill>
            <a:prstDash val="solid"/>
          </a:ln>
        </p:spPr>
      </p:sp>
      <p:pic>
        <p:nvPicPr>
          <p:cNvPr id="11" name="Image 0" descr="preencoded.png">    </p:cNvPr>
          <p:cNvPicPr>
            <a:picLocks noChangeAspect="1"/>
          </p:cNvPicPr>
          <p:nvPr/>
        </p:nvPicPr>
        <p:blipFill>
          <a:blip r:embed="rId1"/>
          <a:stretch>
            <a:fillRect/>
          </a:stretch>
        </p:blipFill>
        <p:spPr>
          <a:xfrm>
            <a:off x="1975104" y="3364992"/>
            <a:ext cx="274320" cy="274320"/>
          </a:xfrm>
          <a:prstGeom prst="rect">
            <a:avLst/>
          </a:prstGeom>
        </p:spPr>
      </p:pic>
      <p:sp>
        <p:nvSpPr>
          <p:cNvPr id="12" name="Text 8"/>
          <p:cNvSpPr/>
          <p:nvPr/>
        </p:nvSpPr>
        <p:spPr>
          <a:xfrm>
            <a:off x="612648" y="3794760"/>
            <a:ext cx="1691640" cy="320040"/>
          </a:xfrm>
          <a:prstGeom prst="rect">
            <a:avLst/>
          </a:prstGeom>
          <a:noFill/>
          <a:ln/>
        </p:spPr>
        <p:txBody>
          <a:bodyPr wrap="square" lIns="0" tIns="0" rIns="0" bIns="0" rtlCol="0" anchor="ctr"/>
          <a:lstStyle/>
          <a:p>
            <a:pPr indent="0" marL="0">
              <a:buNone/>
            </a:pPr>
            <a:r>
              <a:rPr lang="en-US" sz="1500" b="1" dirty="0">
                <a:solidFill>
                  <a:srgbClr val="2A446F"/>
                </a:solidFill>
                <a:latin typeface="Segoe UI" pitchFamily="34" charset="0"/>
                <a:ea typeface="Segoe UI" pitchFamily="34" charset="-122"/>
                <a:cs typeface="Segoe UI" pitchFamily="34" charset="-120"/>
              </a:rPr>
              <a:t>Sense</a:t>
            </a:r>
            <a:endParaRPr lang="en-US" sz="1500" dirty="0"/>
          </a:p>
        </p:txBody>
      </p:sp>
      <p:sp>
        <p:nvSpPr>
          <p:cNvPr id="13" name="Text 9"/>
          <p:cNvSpPr/>
          <p:nvPr/>
        </p:nvSpPr>
        <p:spPr>
          <a:xfrm>
            <a:off x="612648" y="4114800"/>
            <a:ext cx="1691640" cy="548640"/>
          </a:xfrm>
          <a:prstGeom prst="rect">
            <a:avLst/>
          </a:prstGeom>
          <a:noFill/>
          <a:ln/>
        </p:spPr>
        <p:txBody>
          <a:bodyPr wrap="square" lIns="0" tIns="0" rIns="0" bIns="0" rtlCol="0" anchor="ctr"/>
          <a:lstStyle/>
          <a:p>
            <a:pPr indent="0" marL="0">
              <a:buNone/>
            </a:pPr>
            <a:r>
              <a:rPr lang="en-US" sz="1050" dirty="0">
                <a:solidFill>
                  <a:srgbClr val="6B7E9B"/>
                </a:solidFill>
                <a:latin typeface="Segoe UI" pitchFamily="34" charset="0"/>
                <a:ea typeface="Segoe UI" pitchFamily="34" charset="-122"/>
                <a:cs typeface="Segoe UI" pitchFamily="34" charset="-120"/>
              </a:rPr>
              <a:t>Ingest 7 signal domains in real time</a:t>
            </a:r>
            <a:endParaRPr lang="en-US" sz="1050" dirty="0"/>
          </a:p>
        </p:txBody>
      </p:sp>
      <p:sp>
        <p:nvSpPr>
          <p:cNvPr id="14" name="Shape 10"/>
          <p:cNvSpPr/>
          <p:nvPr/>
        </p:nvSpPr>
        <p:spPr>
          <a:xfrm>
            <a:off x="2578608" y="3246120"/>
            <a:ext cx="1892808" cy="141732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15" name="Text 11"/>
          <p:cNvSpPr/>
          <p:nvPr/>
        </p:nvSpPr>
        <p:spPr>
          <a:xfrm>
            <a:off x="2688336" y="3291840"/>
            <a:ext cx="365760" cy="457200"/>
          </a:xfrm>
          <a:prstGeom prst="rect">
            <a:avLst/>
          </a:prstGeom>
          <a:noFill/>
          <a:ln/>
        </p:spPr>
        <p:txBody>
          <a:bodyPr wrap="square" lIns="0" tIns="0" rIns="0" bIns="0" rtlCol="0" anchor="ctr"/>
          <a:lstStyle/>
          <a:p>
            <a:pPr indent="0" marL="0">
              <a:buNone/>
            </a:pPr>
            <a:r>
              <a:rPr lang="en-US" sz="2600" b="1" dirty="0">
                <a:solidFill>
                  <a:srgbClr val="FFBBA8"/>
                </a:solidFill>
                <a:latin typeface="Segoe UI" pitchFamily="34" charset="0"/>
                <a:ea typeface="Segoe UI" pitchFamily="34" charset="-122"/>
                <a:cs typeface="Segoe UI" pitchFamily="34" charset="-120"/>
              </a:rPr>
              <a:t>2</a:t>
            </a:r>
            <a:endParaRPr lang="en-US" sz="2600" dirty="0"/>
          </a:p>
        </p:txBody>
      </p:sp>
      <p:sp>
        <p:nvSpPr>
          <p:cNvPr id="16" name="Shape 12"/>
          <p:cNvSpPr/>
          <p:nvPr/>
        </p:nvSpPr>
        <p:spPr>
          <a:xfrm>
            <a:off x="3995928" y="3310128"/>
            <a:ext cx="384048" cy="384048"/>
          </a:xfrm>
          <a:prstGeom prst="ellipse">
            <a:avLst/>
          </a:prstGeom>
          <a:solidFill>
            <a:srgbClr val="FFBBA8"/>
          </a:solidFill>
          <a:ln w="12700">
            <a:solidFill>
              <a:srgbClr val="FFBBA8"/>
            </a:solidFill>
            <a:prstDash val="solid"/>
          </a:ln>
        </p:spPr>
      </p:sp>
      <p:pic>
        <p:nvPicPr>
          <p:cNvPr id="17" name="Image 1" descr="preencoded.png">    </p:cNvPr>
          <p:cNvPicPr>
            <a:picLocks noChangeAspect="1"/>
          </p:cNvPicPr>
          <p:nvPr/>
        </p:nvPicPr>
        <p:blipFill>
          <a:blip r:embed="rId2"/>
          <a:stretch>
            <a:fillRect/>
          </a:stretch>
        </p:blipFill>
        <p:spPr>
          <a:xfrm>
            <a:off x="4050792" y="3364992"/>
            <a:ext cx="274320" cy="274320"/>
          </a:xfrm>
          <a:prstGeom prst="rect">
            <a:avLst/>
          </a:prstGeom>
        </p:spPr>
      </p:pic>
      <p:sp>
        <p:nvSpPr>
          <p:cNvPr id="18" name="Text 13"/>
          <p:cNvSpPr/>
          <p:nvPr/>
        </p:nvSpPr>
        <p:spPr>
          <a:xfrm>
            <a:off x="2688336" y="3794760"/>
            <a:ext cx="1691640" cy="320040"/>
          </a:xfrm>
          <a:prstGeom prst="rect">
            <a:avLst/>
          </a:prstGeom>
          <a:noFill/>
          <a:ln/>
        </p:spPr>
        <p:txBody>
          <a:bodyPr wrap="square" lIns="0" tIns="0" rIns="0" bIns="0" rtlCol="0" anchor="ctr"/>
          <a:lstStyle/>
          <a:p>
            <a:pPr indent="0" marL="0">
              <a:buNone/>
            </a:pPr>
            <a:r>
              <a:rPr lang="en-US" sz="1500" b="1" dirty="0">
                <a:solidFill>
                  <a:srgbClr val="2A446F"/>
                </a:solidFill>
                <a:latin typeface="Segoe UI" pitchFamily="34" charset="0"/>
                <a:ea typeface="Segoe UI" pitchFamily="34" charset="-122"/>
                <a:cs typeface="Segoe UI" pitchFamily="34" charset="-120"/>
              </a:rPr>
              <a:t>Reason</a:t>
            </a:r>
            <a:endParaRPr lang="en-US" sz="1500" dirty="0"/>
          </a:p>
        </p:txBody>
      </p:sp>
      <p:sp>
        <p:nvSpPr>
          <p:cNvPr id="19" name="Text 14"/>
          <p:cNvSpPr/>
          <p:nvPr/>
        </p:nvSpPr>
        <p:spPr>
          <a:xfrm>
            <a:off x="2688336" y="4114800"/>
            <a:ext cx="1691640" cy="548640"/>
          </a:xfrm>
          <a:prstGeom prst="rect">
            <a:avLst/>
          </a:prstGeom>
          <a:noFill/>
          <a:ln/>
        </p:spPr>
        <p:txBody>
          <a:bodyPr wrap="square" lIns="0" tIns="0" rIns="0" bIns="0" rtlCol="0" anchor="ctr"/>
          <a:lstStyle/>
          <a:p>
            <a:pPr indent="0" marL="0">
              <a:buNone/>
            </a:pPr>
            <a:r>
              <a:rPr lang="en-US" sz="1050" dirty="0">
                <a:solidFill>
                  <a:srgbClr val="6B7E9B"/>
                </a:solidFill>
                <a:latin typeface="Segoe UI" pitchFamily="34" charset="0"/>
                <a:ea typeface="Segoe UI" pitchFamily="34" charset="-122"/>
                <a:cs typeface="Segoe UI" pitchFamily="34" charset="-120"/>
              </a:rPr>
              <a:t>Agentic LLMs reason over grounded tools</a:t>
            </a:r>
            <a:endParaRPr lang="en-US" sz="1050" dirty="0"/>
          </a:p>
        </p:txBody>
      </p:sp>
      <p:sp>
        <p:nvSpPr>
          <p:cNvPr id="20" name="Shape 15"/>
          <p:cNvSpPr/>
          <p:nvPr/>
        </p:nvSpPr>
        <p:spPr>
          <a:xfrm>
            <a:off x="4654296" y="3246120"/>
            <a:ext cx="1892808" cy="141732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21" name="Text 16"/>
          <p:cNvSpPr/>
          <p:nvPr/>
        </p:nvSpPr>
        <p:spPr>
          <a:xfrm>
            <a:off x="4764024" y="3291840"/>
            <a:ext cx="365760" cy="457200"/>
          </a:xfrm>
          <a:prstGeom prst="rect">
            <a:avLst/>
          </a:prstGeom>
          <a:noFill/>
          <a:ln/>
        </p:spPr>
        <p:txBody>
          <a:bodyPr wrap="square" lIns="0" tIns="0" rIns="0" bIns="0" rtlCol="0" anchor="ctr"/>
          <a:lstStyle/>
          <a:p>
            <a:pPr indent="0" marL="0">
              <a:buNone/>
            </a:pPr>
            <a:r>
              <a:rPr lang="en-US" sz="2600" b="1" dirty="0">
                <a:solidFill>
                  <a:srgbClr val="0078D4"/>
                </a:solidFill>
                <a:latin typeface="Segoe UI" pitchFamily="34" charset="0"/>
                <a:ea typeface="Segoe UI" pitchFamily="34" charset="-122"/>
                <a:cs typeface="Segoe UI" pitchFamily="34" charset="-120"/>
              </a:rPr>
              <a:t>3</a:t>
            </a:r>
            <a:endParaRPr lang="en-US" sz="2600" dirty="0"/>
          </a:p>
        </p:txBody>
      </p:sp>
      <p:sp>
        <p:nvSpPr>
          <p:cNvPr id="22" name="Shape 17"/>
          <p:cNvSpPr/>
          <p:nvPr/>
        </p:nvSpPr>
        <p:spPr>
          <a:xfrm>
            <a:off x="6071616" y="3310128"/>
            <a:ext cx="384048" cy="384048"/>
          </a:xfrm>
          <a:prstGeom prst="ellipse">
            <a:avLst/>
          </a:prstGeom>
          <a:solidFill>
            <a:srgbClr val="0078D4"/>
          </a:solidFill>
          <a:ln w="12700">
            <a:solidFill>
              <a:srgbClr val="0078D4"/>
            </a:solidFill>
            <a:prstDash val="solid"/>
          </a:ln>
        </p:spPr>
      </p:sp>
      <p:pic>
        <p:nvPicPr>
          <p:cNvPr id="23" name="Image 2" descr="preencoded.png">    </p:cNvPr>
          <p:cNvPicPr>
            <a:picLocks noChangeAspect="1"/>
          </p:cNvPicPr>
          <p:nvPr/>
        </p:nvPicPr>
        <p:blipFill>
          <a:blip r:embed="rId3"/>
          <a:stretch>
            <a:fillRect/>
          </a:stretch>
        </p:blipFill>
        <p:spPr>
          <a:xfrm>
            <a:off x="6126480" y="3364992"/>
            <a:ext cx="274320" cy="274320"/>
          </a:xfrm>
          <a:prstGeom prst="rect">
            <a:avLst/>
          </a:prstGeom>
        </p:spPr>
      </p:pic>
      <p:sp>
        <p:nvSpPr>
          <p:cNvPr id="24" name="Text 18"/>
          <p:cNvSpPr/>
          <p:nvPr/>
        </p:nvSpPr>
        <p:spPr>
          <a:xfrm>
            <a:off x="4764024" y="3794760"/>
            <a:ext cx="1691640" cy="320040"/>
          </a:xfrm>
          <a:prstGeom prst="rect">
            <a:avLst/>
          </a:prstGeom>
          <a:noFill/>
          <a:ln/>
        </p:spPr>
        <p:txBody>
          <a:bodyPr wrap="square" lIns="0" tIns="0" rIns="0" bIns="0" rtlCol="0" anchor="ctr"/>
          <a:lstStyle/>
          <a:p>
            <a:pPr indent="0" marL="0">
              <a:buNone/>
            </a:pPr>
            <a:r>
              <a:rPr lang="en-US" sz="1500" b="1" dirty="0">
                <a:solidFill>
                  <a:srgbClr val="2A446F"/>
                </a:solidFill>
                <a:latin typeface="Segoe UI" pitchFamily="34" charset="0"/>
                <a:ea typeface="Segoe UI" pitchFamily="34" charset="-122"/>
                <a:cs typeface="Segoe UI" pitchFamily="34" charset="-120"/>
              </a:rPr>
              <a:t>Recommend</a:t>
            </a:r>
            <a:endParaRPr lang="en-US" sz="1500" dirty="0"/>
          </a:p>
        </p:txBody>
      </p:sp>
      <p:sp>
        <p:nvSpPr>
          <p:cNvPr id="25" name="Text 19"/>
          <p:cNvSpPr/>
          <p:nvPr/>
        </p:nvSpPr>
        <p:spPr>
          <a:xfrm>
            <a:off x="4764024" y="4114800"/>
            <a:ext cx="1691640" cy="548640"/>
          </a:xfrm>
          <a:prstGeom prst="rect">
            <a:avLst/>
          </a:prstGeom>
          <a:noFill/>
          <a:ln/>
        </p:spPr>
        <p:txBody>
          <a:bodyPr wrap="square" lIns="0" tIns="0" rIns="0" bIns="0" rtlCol="0" anchor="ctr"/>
          <a:lstStyle/>
          <a:p>
            <a:pPr indent="0" marL="0">
              <a:buNone/>
            </a:pPr>
            <a:r>
              <a:rPr lang="en-US" sz="1050" dirty="0">
                <a:solidFill>
                  <a:srgbClr val="6B7E9B"/>
                </a:solidFill>
                <a:latin typeface="Segoe UI" pitchFamily="34" charset="0"/>
                <a:ea typeface="Segoe UI" pitchFamily="34" charset="-122"/>
                <a:cs typeface="Segoe UI" pitchFamily="34" charset="-120"/>
              </a:rPr>
              <a:t>Compare actions vs. do-nothing, ranked</a:t>
            </a:r>
            <a:endParaRPr lang="en-US" sz="1050" dirty="0"/>
          </a:p>
        </p:txBody>
      </p:sp>
      <p:sp>
        <p:nvSpPr>
          <p:cNvPr id="26" name="Shape 20"/>
          <p:cNvSpPr/>
          <p:nvPr/>
        </p:nvSpPr>
        <p:spPr>
          <a:xfrm>
            <a:off x="6729984" y="3246120"/>
            <a:ext cx="1892808" cy="141732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27" name="Text 21"/>
          <p:cNvSpPr/>
          <p:nvPr/>
        </p:nvSpPr>
        <p:spPr>
          <a:xfrm>
            <a:off x="6839712" y="3291840"/>
            <a:ext cx="365760" cy="457200"/>
          </a:xfrm>
          <a:prstGeom prst="rect">
            <a:avLst/>
          </a:prstGeom>
          <a:noFill/>
          <a:ln/>
        </p:spPr>
        <p:txBody>
          <a:bodyPr wrap="square" lIns="0" tIns="0" rIns="0" bIns="0" rtlCol="0" anchor="ctr"/>
          <a:lstStyle/>
          <a:p>
            <a:pPr indent="0" marL="0">
              <a:buNone/>
            </a:pPr>
            <a:r>
              <a:rPr lang="en-US" sz="2600" b="1" dirty="0">
                <a:solidFill>
                  <a:srgbClr val="FF9176"/>
                </a:solidFill>
                <a:latin typeface="Segoe UI" pitchFamily="34" charset="0"/>
                <a:ea typeface="Segoe UI" pitchFamily="34" charset="-122"/>
                <a:cs typeface="Segoe UI" pitchFamily="34" charset="-120"/>
              </a:rPr>
              <a:t>4</a:t>
            </a:r>
            <a:endParaRPr lang="en-US" sz="2600" dirty="0"/>
          </a:p>
        </p:txBody>
      </p:sp>
      <p:sp>
        <p:nvSpPr>
          <p:cNvPr id="28" name="Shape 22"/>
          <p:cNvSpPr/>
          <p:nvPr/>
        </p:nvSpPr>
        <p:spPr>
          <a:xfrm>
            <a:off x="8147304" y="3310128"/>
            <a:ext cx="384048" cy="384048"/>
          </a:xfrm>
          <a:prstGeom prst="ellipse">
            <a:avLst/>
          </a:prstGeom>
          <a:solidFill>
            <a:srgbClr val="FF9176"/>
          </a:solidFill>
          <a:ln w="12700">
            <a:solidFill>
              <a:srgbClr val="FF9176"/>
            </a:solidFill>
            <a:prstDash val="solid"/>
          </a:ln>
        </p:spPr>
      </p:sp>
      <p:pic>
        <p:nvPicPr>
          <p:cNvPr id="29" name="Image 3" descr="preencoded.png">    </p:cNvPr>
          <p:cNvPicPr>
            <a:picLocks noChangeAspect="1"/>
          </p:cNvPicPr>
          <p:nvPr/>
        </p:nvPicPr>
        <p:blipFill>
          <a:blip r:embed="rId4"/>
          <a:stretch>
            <a:fillRect/>
          </a:stretch>
        </p:blipFill>
        <p:spPr>
          <a:xfrm>
            <a:off x="8202168" y="3364992"/>
            <a:ext cx="274320" cy="274320"/>
          </a:xfrm>
          <a:prstGeom prst="rect">
            <a:avLst/>
          </a:prstGeom>
        </p:spPr>
      </p:pic>
      <p:sp>
        <p:nvSpPr>
          <p:cNvPr id="30" name="Text 23"/>
          <p:cNvSpPr/>
          <p:nvPr/>
        </p:nvSpPr>
        <p:spPr>
          <a:xfrm>
            <a:off x="6839712" y="3794760"/>
            <a:ext cx="1691640" cy="320040"/>
          </a:xfrm>
          <a:prstGeom prst="rect">
            <a:avLst/>
          </a:prstGeom>
          <a:noFill/>
          <a:ln/>
        </p:spPr>
        <p:txBody>
          <a:bodyPr wrap="square" lIns="0" tIns="0" rIns="0" bIns="0" rtlCol="0" anchor="ctr"/>
          <a:lstStyle/>
          <a:p>
            <a:pPr indent="0" marL="0">
              <a:buNone/>
            </a:pPr>
            <a:r>
              <a:rPr lang="en-US" sz="1500" b="1" dirty="0">
                <a:solidFill>
                  <a:srgbClr val="2A446F"/>
                </a:solidFill>
                <a:latin typeface="Segoe UI" pitchFamily="34" charset="0"/>
                <a:ea typeface="Segoe UI" pitchFamily="34" charset="-122"/>
                <a:cs typeface="Segoe UI" pitchFamily="34" charset="-120"/>
              </a:rPr>
              <a:t>Report</a:t>
            </a:r>
            <a:endParaRPr lang="en-US" sz="1500" dirty="0"/>
          </a:p>
        </p:txBody>
      </p:sp>
      <p:sp>
        <p:nvSpPr>
          <p:cNvPr id="31" name="Text 24"/>
          <p:cNvSpPr/>
          <p:nvPr/>
        </p:nvSpPr>
        <p:spPr>
          <a:xfrm>
            <a:off x="6839712" y="4114800"/>
            <a:ext cx="1691640" cy="548640"/>
          </a:xfrm>
          <a:prstGeom prst="rect">
            <a:avLst/>
          </a:prstGeom>
          <a:noFill/>
          <a:ln/>
        </p:spPr>
        <p:txBody>
          <a:bodyPr wrap="square" lIns="0" tIns="0" rIns="0" bIns="0" rtlCol="0" anchor="ctr"/>
          <a:lstStyle/>
          <a:p>
            <a:pPr indent="0" marL="0">
              <a:buNone/>
            </a:pPr>
            <a:r>
              <a:rPr lang="en-US" sz="1050" dirty="0">
                <a:solidFill>
                  <a:srgbClr val="6B7E9B"/>
                </a:solidFill>
                <a:latin typeface="Segoe UI" pitchFamily="34" charset="0"/>
                <a:ea typeface="Segoe UI" pitchFamily="34" charset="-122"/>
                <a:cs typeface="Segoe UI" pitchFamily="34" charset="-120"/>
              </a:rPr>
              <a:t>Auto-assemble NCC-ready evidence pack</a:t>
            </a:r>
            <a:endParaRPr lang="en-US" sz="1050" dirty="0"/>
          </a:p>
        </p:txBody>
      </p:sp>
      <p:sp>
        <p:nvSpPr>
          <p:cNvPr id="32" name="Text 25"/>
          <p:cNvSpPr/>
          <p:nvPr/>
        </p:nvSpPr>
        <p:spPr>
          <a:xfrm>
            <a:off x="457200" y="4846320"/>
            <a:ext cx="6858000" cy="228600"/>
          </a:xfrm>
          <a:prstGeom prst="rect">
            <a:avLst/>
          </a:prstGeom>
          <a:noFill/>
          <a:ln/>
        </p:spPr>
        <p:txBody>
          <a:bodyPr wrap="square" lIns="0" tIns="0" rIns="0" bIns="0" rtlCol="0" anchor="ctr"/>
          <a:lstStyle/>
          <a:p>
            <a:pPr indent="0" marL="0">
              <a:buNone/>
            </a:pPr>
            <a:r>
              <a:rPr lang="en-US" sz="900" dirty="0">
                <a:solidFill>
                  <a:srgbClr val="6B7E9B"/>
                </a:solidFill>
                <a:latin typeface="Segoe UI" pitchFamily="34" charset="0"/>
                <a:ea typeface="Segoe UI" pitchFamily="34" charset="-122"/>
                <a:cs typeface="Segoe UI" pitchFamily="34" charset="-120"/>
              </a:rPr>
              <a:t>RiskGuard AI  ·  AI4Telco Hackathon  ·  AI Skills Week Lagos 2026</a:t>
            </a:r>
            <a:endParaRPr lang="en-US" sz="900" dirty="0"/>
          </a:p>
        </p:txBody>
      </p:sp>
      <p:sp>
        <p:nvSpPr>
          <p:cNvPr id="33" name="Text 26"/>
          <p:cNvSpPr/>
          <p:nvPr/>
        </p:nvSpPr>
        <p:spPr>
          <a:xfrm>
            <a:off x="8229600" y="4846320"/>
            <a:ext cx="457200" cy="228600"/>
          </a:xfrm>
          <a:prstGeom prst="rect">
            <a:avLst/>
          </a:prstGeom>
          <a:noFill/>
          <a:ln/>
        </p:spPr>
        <p:txBody>
          <a:bodyPr wrap="square" lIns="0" tIns="0" rIns="0" bIns="0" rtlCol="0" anchor="ctr"/>
          <a:lstStyle/>
          <a:p>
            <a:pPr algn="r" indent="0" marL="0">
              <a:buNone/>
            </a:pPr>
            <a:r>
              <a:rPr lang="en-US" sz="900" dirty="0">
                <a:solidFill>
                  <a:srgbClr val="6B7E9B"/>
                </a:solidFill>
                <a:latin typeface="Segoe UI" pitchFamily="34" charset="0"/>
                <a:ea typeface="Segoe UI" pitchFamily="34" charset="-122"/>
                <a:cs typeface="Segoe U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F3"/>
        </a:solidFill>
      </p:bgPr>
    </p:bg>
    <p:spTree>
      <p:nvGrpSpPr>
        <p:cNvPr id="1" name=""/>
        <p:cNvGrpSpPr/>
        <p:nvPr/>
      </p:nvGrpSpPr>
      <p:grpSpPr>
        <a:xfrm>
          <a:off x="0" y="0"/>
          <a:ext cx="0" cy="0"/>
          <a:chOff x="0" y="0"/>
          <a:chExt cx="0" cy="0"/>
        </a:xfrm>
      </p:grpSpPr>
      <p:sp>
        <p:nvSpPr>
          <p:cNvPr id="3" name="Shape 0"/>
          <p:cNvSpPr/>
          <p:nvPr/>
        </p:nvSpPr>
        <p:spPr>
          <a:xfrm>
            <a:off x="457200" y="411480"/>
            <a:ext cx="164592" cy="292608"/>
          </a:xfrm>
          <a:prstGeom prst="rect">
            <a:avLst/>
          </a:prstGeom>
          <a:solidFill>
            <a:srgbClr val="0078D4"/>
          </a:solidFill>
          <a:ln w="12700">
            <a:solidFill>
              <a:srgbClr val="0078D4"/>
            </a:solidFill>
            <a:prstDash val="solid"/>
          </a:ln>
        </p:spPr>
      </p:sp>
      <p:sp>
        <p:nvSpPr>
          <p:cNvPr id="4" name="Text 1"/>
          <p:cNvSpPr/>
          <p:nvPr/>
        </p:nvSpPr>
        <p:spPr>
          <a:xfrm>
            <a:off x="713232" y="384048"/>
            <a:ext cx="7955280" cy="329184"/>
          </a:xfrm>
          <a:prstGeom prst="rect">
            <a:avLst/>
          </a:prstGeom>
          <a:noFill/>
          <a:ln/>
        </p:spPr>
        <p:txBody>
          <a:bodyPr wrap="square" lIns="0" tIns="0" rIns="0" bIns="0" rtlCol="0" anchor="ctr"/>
          <a:lstStyle/>
          <a:p>
            <a:pPr indent="0" marL="0">
              <a:buNone/>
            </a:pPr>
            <a:r>
              <a:rPr lang="en-US" sz="1100" b="1" spc="400" kern="0" dirty="0">
                <a:solidFill>
                  <a:srgbClr val="0078D4"/>
                </a:solidFill>
                <a:latin typeface="Segoe UI" pitchFamily="34" charset="0"/>
                <a:ea typeface="Segoe UI" pitchFamily="34" charset="-122"/>
                <a:cs typeface="Segoe UI" pitchFamily="34" charset="-120"/>
              </a:rPr>
              <a:t>ARCHITECTURE</a:t>
            </a:r>
            <a:endParaRPr lang="en-US" sz="1100" dirty="0"/>
          </a:p>
        </p:txBody>
      </p:sp>
      <p:sp>
        <p:nvSpPr>
          <p:cNvPr id="5" name="Text 2"/>
          <p:cNvSpPr/>
          <p:nvPr/>
        </p:nvSpPr>
        <p:spPr>
          <a:xfrm>
            <a:off x="457200" y="777240"/>
            <a:ext cx="8686800" cy="548640"/>
          </a:xfrm>
          <a:prstGeom prst="rect">
            <a:avLst/>
          </a:prstGeom>
          <a:noFill/>
          <a:ln/>
        </p:spPr>
        <p:txBody>
          <a:bodyPr wrap="square" lIns="0" tIns="0" rIns="0" bIns="0" rtlCol="0" anchor="ctr"/>
          <a:lstStyle/>
          <a:p>
            <a:pPr indent="0" marL="0">
              <a:buNone/>
            </a:pPr>
            <a:r>
              <a:rPr lang="en-US" sz="2600" b="1" dirty="0">
                <a:solidFill>
                  <a:srgbClr val="2A446F"/>
                </a:solidFill>
                <a:latin typeface="Segoe UI" pitchFamily="34" charset="0"/>
                <a:ea typeface="Segoe UI" pitchFamily="34" charset="-122"/>
                <a:cs typeface="Segoe UI" pitchFamily="34" charset="-120"/>
              </a:rPr>
              <a:t>Four layers. One Microsoft AI stack.</a:t>
            </a:r>
            <a:endParaRPr lang="en-US" sz="2600" dirty="0"/>
          </a:p>
        </p:txBody>
      </p:sp>
      <p:sp>
        <p:nvSpPr>
          <p:cNvPr id="6" name="Shape 3"/>
          <p:cNvSpPr/>
          <p:nvPr/>
        </p:nvSpPr>
        <p:spPr>
          <a:xfrm>
            <a:off x="457200" y="1417320"/>
            <a:ext cx="8229600" cy="0"/>
          </a:xfrm>
          <a:prstGeom prst="line">
            <a:avLst/>
          </a:prstGeom>
          <a:noFill/>
          <a:ln w="9525">
            <a:solidFill>
              <a:srgbClr val="EAD9C9"/>
            </a:solidFill>
            <a:prstDash val="solid"/>
          </a:ln>
        </p:spPr>
      </p:sp>
      <p:sp>
        <p:nvSpPr>
          <p:cNvPr id="7" name="Shape 4"/>
          <p:cNvSpPr/>
          <p:nvPr/>
        </p:nvSpPr>
        <p:spPr>
          <a:xfrm>
            <a:off x="502920" y="1691640"/>
            <a:ext cx="8138160" cy="640080"/>
          </a:xfrm>
          <a:prstGeom prst="rect">
            <a:avLst/>
          </a:prstGeom>
          <a:solidFill>
            <a:srgbClr val="FFFFFF"/>
          </a:solidFill>
          <a:ln w="9525">
            <a:solidFill>
              <a:srgbClr val="EAD9C9"/>
            </a:solidFill>
            <a:prstDash val="solid"/>
          </a:ln>
        </p:spPr>
      </p:sp>
      <p:sp>
        <p:nvSpPr>
          <p:cNvPr id="8" name="Shape 5"/>
          <p:cNvSpPr/>
          <p:nvPr/>
        </p:nvSpPr>
        <p:spPr>
          <a:xfrm>
            <a:off x="502920" y="1691640"/>
            <a:ext cx="109728" cy="640080"/>
          </a:xfrm>
          <a:prstGeom prst="rect">
            <a:avLst/>
          </a:prstGeom>
          <a:solidFill>
            <a:srgbClr val="0078D4"/>
          </a:solidFill>
          <a:ln w="12700">
            <a:solidFill>
              <a:srgbClr val="0078D4"/>
            </a:solidFill>
            <a:prstDash val="solid"/>
          </a:ln>
        </p:spPr>
      </p:sp>
      <p:sp>
        <p:nvSpPr>
          <p:cNvPr id="9" name="Shape 6"/>
          <p:cNvSpPr/>
          <p:nvPr/>
        </p:nvSpPr>
        <p:spPr>
          <a:xfrm>
            <a:off x="777240" y="1810512"/>
            <a:ext cx="402336" cy="402336"/>
          </a:xfrm>
          <a:prstGeom prst="ellipse">
            <a:avLst/>
          </a:prstGeom>
          <a:solidFill>
            <a:srgbClr val="0078D4"/>
          </a:solidFill>
          <a:ln w="12700">
            <a:solidFill>
              <a:srgbClr val="0078D4"/>
            </a:solidFill>
            <a:prstDash val="solid"/>
          </a:ln>
        </p:spPr>
      </p:sp>
      <p:pic>
        <p:nvPicPr>
          <p:cNvPr id="10" name="Image 0" descr="preencoded.png">    </p:cNvPr>
          <p:cNvPicPr>
            <a:picLocks noChangeAspect="1"/>
          </p:cNvPicPr>
          <p:nvPr/>
        </p:nvPicPr>
        <p:blipFill>
          <a:blip r:embed="rId1"/>
          <a:stretch>
            <a:fillRect/>
          </a:stretch>
        </p:blipFill>
        <p:spPr>
          <a:xfrm>
            <a:off x="841248" y="1874520"/>
            <a:ext cx="274320" cy="274320"/>
          </a:xfrm>
          <a:prstGeom prst="rect">
            <a:avLst/>
          </a:prstGeom>
        </p:spPr>
      </p:pic>
      <p:sp>
        <p:nvSpPr>
          <p:cNvPr id="11" name="Text 7"/>
          <p:cNvSpPr/>
          <p:nvPr/>
        </p:nvSpPr>
        <p:spPr>
          <a:xfrm>
            <a:off x="1325880" y="1746504"/>
            <a:ext cx="2743200" cy="274320"/>
          </a:xfrm>
          <a:prstGeom prst="rect">
            <a:avLst/>
          </a:prstGeom>
          <a:noFill/>
          <a:ln/>
        </p:spPr>
        <p:txBody>
          <a:bodyPr wrap="square" lIns="0" tIns="0" rIns="0" bIns="0" rtlCol="0" anchor="ctr"/>
          <a:lstStyle/>
          <a:p>
            <a:pPr indent="0" marL="0">
              <a:buNone/>
            </a:pPr>
            <a:r>
              <a:rPr lang="en-US" sz="1400" b="1" dirty="0">
                <a:solidFill>
                  <a:srgbClr val="2A446F"/>
                </a:solidFill>
                <a:latin typeface="Segoe UI" pitchFamily="34" charset="0"/>
                <a:ea typeface="Segoe UI" pitchFamily="34" charset="-122"/>
                <a:cs typeface="Segoe UI" pitchFamily="34" charset="-120"/>
              </a:rPr>
              <a:t>1. Signal Ingest</a:t>
            </a:r>
            <a:endParaRPr lang="en-US" sz="1400" dirty="0"/>
          </a:p>
        </p:txBody>
      </p:sp>
      <p:sp>
        <p:nvSpPr>
          <p:cNvPr id="12" name="Text 8"/>
          <p:cNvSpPr/>
          <p:nvPr/>
        </p:nvSpPr>
        <p:spPr>
          <a:xfrm>
            <a:off x="1325880" y="2002536"/>
            <a:ext cx="7223760" cy="310896"/>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Network, BTS, billing, recharge, sales, complaints, devices — normalized into one stream.</a:t>
            </a:r>
            <a:endParaRPr lang="en-US" sz="1100" dirty="0"/>
          </a:p>
        </p:txBody>
      </p:sp>
      <p:sp>
        <p:nvSpPr>
          <p:cNvPr id="13" name="Shape 9"/>
          <p:cNvSpPr/>
          <p:nvPr/>
        </p:nvSpPr>
        <p:spPr>
          <a:xfrm>
            <a:off x="502920" y="2404872"/>
            <a:ext cx="8138160" cy="640080"/>
          </a:xfrm>
          <a:prstGeom prst="rect">
            <a:avLst/>
          </a:prstGeom>
          <a:solidFill>
            <a:srgbClr val="FFFFFF"/>
          </a:solidFill>
          <a:ln w="9525">
            <a:solidFill>
              <a:srgbClr val="EAD9C9"/>
            </a:solidFill>
            <a:prstDash val="solid"/>
          </a:ln>
        </p:spPr>
      </p:sp>
      <p:sp>
        <p:nvSpPr>
          <p:cNvPr id="14" name="Shape 10"/>
          <p:cNvSpPr/>
          <p:nvPr/>
        </p:nvSpPr>
        <p:spPr>
          <a:xfrm>
            <a:off x="502920" y="2404872"/>
            <a:ext cx="109728" cy="640080"/>
          </a:xfrm>
          <a:prstGeom prst="rect">
            <a:avLst/>
          </a:prstGeom>
          <a:solidFill>
            <a:srgbClr val="FFBBA8"/>
          </a:solidFill>
          <a:ln w="12700">
            <a:solidFill>
              <a:srgbClr val="FFBBA8"/>
            </a:solidFill>
            <a:prstDash val="solid"/>
          </a:ln>
        </p:spPr>
      </p:sp>
      <p:sp>
        <p:nvSpPr>
          <p:cNvPr id="15" name="Shape 11"/>
          <p:cNvSpPr/>
          <p:nvPr/>
        </p:nvSpPr>
        <p:spPr>
          <a:xfrm>
            <a:off x="777240" y="2523744"/>
            <a:ext cx="402336" cy="402336"/>
          </a:xfrm>
          <a:prstGeom prst="ellipse">
            <a:avLst/>
          </a:prstGeom>
          <a:solidFill>
            <a:srgbClr val="FFBBA8"/>
          </a:solidFill>
          <a:ln w="12700">
            <a:solidFill>
              <a:srgbClr val="FFBBA8"/>
            </a:solidFill>
            <a:prstDash val="solid"/>
          </a:ln>
        </p:spPr>
      </p:sp>
      <p:pic>
        <p:nvPicPr>
          <p:cNvPr id="16" name="Image 1" descr="preencoded.png">    </p:cNvPr>
          <p:cNvPicPr>
            <a:picLocks noChangeAspect="1"/>
          </p:cNvPicPr>
          <p:nvPr/>
        </p:nvPicPr>
        <p:blipFill>
          <a:blip r:embed="rId2"/>
          <a:stretch>
            <a:fillRect/>
          </a:stretch>
        </p:blipFill>
        <p:spPr>
          <a:xfrm>
            <a:off x="841248" y="2587752"/>
            <a:ext cx="274320" cy="274320"/>
          </a:xfrm>
          <a:prstGeom prst="rect">
            <a:avLst/>
          </a:prstGeom>
        </p:spPr>
      </p:pic>
      <p:sp>
        <p:nvSpPr>
          <p:cNvPr id="17" name="Text 12"/>
          <p:cNvSpPr/>
          <p:nvPr/>
        </p:nvSpPr>
        <p:spPr>
          <a:xfrm>
            <a:off x="1325880" y="2459736"/>
            <a:ext cx="2743200" cy="274320"/>
          </a:xfrm>
          <a:prstGeom prst="rect">
            <a:avLst/>
          </a:prstGeom>
          <a:noFill/>
          <a:ln/>
        </p:spPr>
        <p:txBody>
          <a:bodyPr wrap="square" lIns="0" tIns="0" rIns="0" bIns="0" rtlCol="0" anchor="ctr"/>
          <a:lstStyle/>
          <a:p>
            <a:pPr indent="0" marL="0">
              <a:buNone/>
            </a:pPr>
            <a:r>
              <a:rPr lang="en-US" sz="1400" b="1" dirty="0">
                <a:solidFill>
                  <a:srgbClr val="2A446F"/>
                </a:solidFill>
                <a:latin typeface="Segoe UI" pitchFamily="34" charset="0"/>
                <a:ea typeface="Segoe UI" pitchFamily="34" charset="-122"/>
                <a:cs typeface="Segoe UI" pitchFamily="34" charset="-120"/>
              </a:rPr>
              <a:t>2. Risk Engine</a:t>
            </a:r>
            <a:endParaRPr lang="en-US" sz="1400" dirty="0"/>
          </a:p>
        </p:txBody>
      </p:sp>
      <p:sp>
        <p:nvSpPr>
          <p:cNvPr id="18" name="Text 13"/>
          <p:cNvSpPr/>
          <p:nvPr/>
        </p:nvSpPr>
        <p:spPr>
          <a:xfrm>
            <a:off x="1325880" y="2715768"/>
            <a:ext cx="7223760" cy="310896"/>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Rolling z-scores, anomaly + co-occurrence, per-LGA score, time-to-breach, impact model.</a:t>
            </a:r>
            <a:endParaRPr lang="en-US" sz="1100" dirty="0"/>
          </a:p>
        </p:txBody>
      </p:sp>
      <p:sp>
        <p:nvSpPr>
          <p:cNvPr id="19" name="Shape 14"/>
          <p:cNvSpPr/>
          <p:nvPr/>
        </p:nvSpPr>
        <p:spPr>
          <a:xfrm>
            <a:off x="502920" y="3118104"/>
            <a:ext cx="8138160" cy="640080"/>
          </a:xfrm>
          <a:prstGeom prst="rect">
            <a:avLst/>
          </a:prstGeom>
          <a:solidFill>
            <a:srgbClr val="FFFFFF"/>
          </a:solidFill>
          <a:ln w="9525">
            <a:solidFill>
              <a:srgbClr val="EAD9C9"/>
            </a:solidFill>
            <a:prstDash val="solid"/>
          </a:ln>
        </p:spPr>
      </p:sp>
      <p:sp>
        <p:nvSpPr>
          <p:cNvPr id="20" name="Shape 15"/>
          <p:cNvSpPr/>
          <p:nvPr/>
        </p:nvSpPr>
        <p:spPr>
          <a:xfrm>
            <a:off x="502920" y="3118104"/>
            <a:ext cx="109728" cy="640080"/>
          </a:xfrm>
          <a:prstGeom prst="rect">
            <a:avLst/>
          </a:prstGeom>
          <a:solidFill>
            <a:srgbClr val="0078D4"/>
          </a:solidFill>
          <a:ln w="12700">
            <a:solidFill>
              <a:srgbClr val="0078D4"/>
            </a:solidFill>
            <a:prstDash val="solid"/>
          </a:ln>
        </p:spPr>
      </p:sp>
      <p:sp>
        <p:nvSpPr>
          <p:cNvPr id="21" name="Shape 16"/>
          <p:cNvSpPr/>
          <p:nvPr/>
        </p:nvSpPr>
        <p:spPr>
          <a:xfrm>
            <a:off x="777240" y="3236976"/>
            <a:ext cx="402336" cy="402336"/>
          </a:xfrm>
          <a:prstGeom prst="ellipse">
            <a:avLst/>
          </a:prstGeom>
          <a:solidFill>
            <a:srgbClr val="0078D4"/>
          </a:solidFill>
          <a:ln w="12700">
            <a:solidFill>
              <a:srgbClr val="0078D4"/>
            </a:solidFill>
            <a:prstDash val="solid"/>
          </a:ln>
        </p:spPr>
      </p:sp>
      <p:pic>
        <p:nvPicPr>
          <p:cNvPr id="22" name="Image 2" descr="preencoded.png">    </p:cNvPr>
          <p:cNvPicPr>
            <a:picLocks noChangeAspect="1"/>
          </p:cNvPicPr>
          <p:nvPr/>
        </p:nvPicPr>
        <p:blipFill>
          <a:blip r:embed="rId3"/>
          <a:stretch>
            <a:fillRect/>
          </a:stretch>
        </p:blipFill>
        <p:spPr>
          <a:xfrm>
            <a:off x="841248" y="3300984"/>
            <a:ext cx="274320" cy="274320"/>
          </a:xfrm>
          <a:prstGeom prst="rect">
            <a:avLst/>
          </a:prstGeom>
        </p:spPr>
      </p:pic>
      <p:sp>
        <p:nvSpPr>
          <p:cNvPr id="23" name="Text 17"/>
          <p:cNvSpPr/>
          <p:nvPr/>
        </p:nvSpPr>
        <p:spPr>
          <a:xfrm>
            <a:off x="1325880" y="3172968"/>
            <a:ext cx="2743200" cy="274320"/>
          </a:xfrm>
          <a:prstGeom prst="rect">
            <a:avLst/>
          </a:prstGeom>
          <a:noFill/>
          <a:ln/>
        </p:spPr>
        <p:txBody>
          <a:bodyPr wrap="square" lIns="0" tIns="0" rIns="0" bIns="0" rtlCol="0" anchor="ctr"/>
          <a:lstStyle/>
          <a:p>
            <a:pPr indent="0" marL="0">
              <a:buNone/>
            </a:pPr>
            <a:r>
              <a:rPr lang="en-US" sz="1400" b="1" dirty="0">
                <a:solidFill>
                  <a:srgbClr val="2A446F"/>
                </a:solidFill>
                <a:latin typeface="Segoe UI" pitchFamily="34" charset="0"/>
                <a:ea typeface="Segoe UI" pitchFamily="34" charset="-122"/>
                <a:cs typeface="Segoe UI" pitchFamily="34" charset="-120"/>
              </a:rPr>
              <a:t>3. Agentic Copilot</a:t>
            </a:r>
            <a:endParaRPr lang="en-US" sz="1400" dirty="0"/>
          </a:p>
        </p:txBody>
      </p:sp>
      <p:sp>
        <p:nvSpPr>
          <p:cNvPr id="24" name="Text 18"/>
          <p:cNvSpPr/>
          <p:nvPr/>
        </p:nvSpPr>
        <p:spPr>
          <a:xfrm>
            <a:off x="1325880" y="3429000"/>
            <a:ext cx="7223760" cy="310896"/>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Semantic Kernel + Azure OpenAI. 5 role agents call grounded tools. ClaimValidator gates output.</a:t>
            </a:r>
            <a:endParaRPr lang="en-US" sz="1100" dirty="0"/>
          </a:p>
        </p:txBody>
      </p:sp>
      <p:sp>
        <p:nvSpPr>
          <p:cNvPr id="25" name="Shape 19"/>
          <p:cNvSpPr/>
          <p:nvPr/>
        </p:nvSpPr>
        <p:spPr>
          <a:xfrm>
            <a:off x="502920" y="3831336"/>
            <a:ext cx="8138160" cy="640080"/>
          </a:xfrm>
          <a:prstGeom prst="rect">
            <a:avLst/>
          </a:prstGeom>
          <a:solidFill>
            <a:srgbClr val="FFFFFF"/>
          </a:solidFill>
          <a:ln w="9525">
            <a:solidFill>
              <a:srgbClr val="EAD9C9"/>
            </a:solidFill>
            <a:prstDash val="solid"/>
          </a:ln>
        </p:spPr>
      </p:sp>
      <p:sp>
        <p:nvSpPr>
          <p:cNvPr id="26" name="Shape 20"/>
          <p:cNvSpPr/>
          <p:nvPr/>
        </p:nvSpPr>
        <p:spPr>
          <a:xfrm>
            <a:off x="502920" y="3831336"/>
            <a:ext cx="109728" cy="640080"/>
          </a:xfrm>
          <a:prstGeom prst="rect">
            <a:avLst/>
          </a:prstGeom>
          <a:solidFill>
            <a:srgbClr val="FF9176"/>
          </a:solidFill>
          <a:ln w="12700">
            <a:solidFill>
              <a:srgbClr val="FF9176"/>
            </a:solidFill>
            <a:prstDash val="solid"/>
          </a:ln>
        </p:spPr>
      </p:sp>
      <p:sp>
        <p:nvSpPr>
          <p:cNvPr id="27" name="Shape 21"/>
          <p:cNvSpPr/>
          <p:nvPr/>
        </p:nvSpPr>
        <p:spPr>
          <a:xfrm>
            <a:off x="777240" y="3950208"/>
            <a:ext cx="402336" cy="402336"/>
          </a:xfrm>
          <a:prstGeom prst="ellipse">
            <a:avLst/>
          </a:prstGeom>
          <a:solidFill>
            <a:srgbClr val="FF9176"/>
          </a:solidFill>
          <a:ln w="12700">
            <a:solidFill>
              <a:srgbClr val="FF9176"/>
            </a:solidFill>
            <a:prstDash val="solid"/>
          </a:ln>
        </p:spPr>
      </p:sp>
      <p:pic>
        <p:nvPicPr>
          <p:cNvPr id="28" name="Image 3" descr="preencoded.png">    </p:cNvPr>
          <p:cNvPicPr>
            <a:picLocks noChangeAspect="1"/>
          </p:cNvPicPr>
          <p:nvPr/>
        </p:nvPicPr>
        <p:blipFill>
          <a:blip r:embed="rId4"/>
          <a:stretch>
            <a:fillRect/>
          </a:stretch>
        </p:blipFill>
        <p:spPr>
          <a:xfrm>
            <a:off x="841248" y="4014216"/>
            <a:ext cx="274320" cy="274320"/>
          </a:xfrm>
          <a:prstGeom prst="rect">
            <a:avLst/>
          </a:prstGeom>
        </p:spPr>
      </p:pic>
      <p:sp>
        <p:nvSpPr>
          <p:cNvPr id="29" name="Text 22"/>
          <p:cNvSpPr/>
          <p:nvPr/>
        </p:nvSpPr>
        <p:spPr>
          <a:xfrm>
            <a:off x="1325880" y="3886200"/>
            <a:ext cx="2743200" cy="274320"/>
          </a:xfrm>
          <a:prstGeom prst="rect">
            <a:avLst/>
          </a:prstGeom>
          <a:noFill/>
          <a:ln/>
        </p:spPr>
        <p:txBody>
          <a:bodyPr wrap="square" lIns="0" tIns="0" rIns="0" bIns="0" rtlCol="0" anchor="ctr"/>
          <a:lstStyle/>
          <a:p>
            <a:pPr indent="0" marL="0">
              <a:buNone/>
            </a:pPr>
            <a:r>
              <a:rPr lang="en-US" sz="1400" b="1" dirty="0">
                <a:solidFill>
                  <a:srgbClr val="2A446F"/>
                </a:solidFill>
                <a:latin typeface="Segoe UI" pitchFamily="34" charset="0"/>
                <a:ea typeface="Segoe UI" pitchFamily="34" charset="-122"/>
                <a:cs typeface="Segoe UI" pitchFamily="34" charset="-120"/>
              </a:rPr>
              <a:t>4. Operator Console</a:t>
            </a:r>
            <a:endParaRPr lang="en-US" sz="1400" dirty="0"/>
          </a:p>
        </p:txBody>
      </p:sp>
      <p:sp>
        <p:nvSpPr>
          <p:cNvPr id="30" name="Text 23"/>
          <p:cNvSpPr/>
          <p:nvPr/>
        </p:nvSpPr>
        <p:spPr>
          <a:xfrm>
            <a:off x="1325880" y="4142232"/>
            <a:ext cx="7223760" cy="310896"/>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Live risk map · incident panel · mitigation simulator · approval flow · NCC compliance pack.</a:t>
            </a:r>
            <a:endParaRPr lang="en-US" sz="1100" dirty="0"/>
          </a:p>
        </p:txBody>
      </p:sp>
      <p:sp>
        <p:nvSpPr>
          <p:cNvPr id="31" name="Shape 24"/>
          <p:cNvSpPr/>
          <p:nvPr/>
        </p:nvSpPr>
        <p:spPr>
          <a:xfrm>
            <a:off x="502920" y="4617720"/>
            <a:ext cx="8138160" cy="292608"/>
          </a:xfrm>
          <a:prstGeom prst="roundRect">
            <a:avLst>
              <a:gd name="adj" fmla="val 50000"/>
            </a:avLst>
          </a:prstGeom>
          <a:solidFill>
            <a:srgbClr val="2A446F"/>
          </a:solidFill>
          <a:ln w="12700">
            <a:solidFill>
              <a:srgbClr val="2A446F"/>
            </a:solidFill>
            <a:prstDash val="solid"/>
          </a:ln>
        </p:spPr>
      </p:sp>
      <p:sp>
        <p:nvSpPr>
          <p:cNvPr id="32" name="Text 25"/>
          <p:cNvSpPr/>
          <p:nvPr/>
        </p:nvSpPr>
        <p:spPr>
          <a:xfrm>
            <a:off x="502920" y="4617720"/>
            <a:ext cx="8138160"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Built on Microsoft Azure OpenAI  ·  Semantic Kernel agent runtime  ·  FastAPI  ·  React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8F3"/>
        </a:solidFill>
      </p:bgPr>
    </p:bg>
    <p:spTree>
      <p:nvGrpSpPr>
        <p:cNvPr id="1" name=""/>
        <p:cNvGrpSpPr/>
        <p:nvPr/>
      </p:nvGrpSpPr>
      <p:grpSpPr>
        <a:xfrm>
          <a:off x="0" y="0"/>
          <a:ext cx="0" cy="0"/>
          <a:chOff x="0" y="0"/>
          <a:chExt cx="0" cy="0"/>
        </a:xfrm>
      </p:grpSpPr>
      <p:sp>
        <p:nvSpPr>
          <p:cNvPr id="3" name="Shape 0"/>
          <p:cNvSpPr/>
          <p:nvPr/>
        </p:nvSpPr>
        <p:spPr>
          <a:xfrm>
            <a:off x="457200" y="411480"/>
            <a:ext cx="164592" cy="292608"/>
          </a:xfrm>
          <a:prstGeom prst="rect">
            <a:avLst/>
          </a:prstGeom>
          <a:solidFill>
            <a:srgbClr val="0078D4"/>
          </a:solidFill>
          <a:ln w="12700">
            <a:solidFill>
              <a:srgbClr val="0078D4"/>
            </a:solidFill>
            <a:prstDash val="solid"/>
          </a:ln>
        </p:spPr>
      </p:sp>
      <p:sp>
        <p:nvSpPr>
          <p:cNvPr id="4" name="Text 1"/>
          <p:cNvSpPr/>
          <p:nvPr/>
        </p:nvSpPr>
        <p:spPr>
          <a:xfrm>
            <a:off x="713232" y="384048"/>
            <a:ext cx="7955280" cy="329184"/>
          </a:xfrm>
          <a:prstGeom prst="rect">
            <a:avLst/>
          </a:prstGeom>
          <a:noFill/>
          <a:ln/>
        </p:spPr>
        <p:txBody>
          <a:bodyPr wrap="square" lIns="0" tIns="0" rIns="0" bIns="0" rtlCol="0" anchor="ctr"/>
          <a:lstStyle/>
          <a:p>
            <a:pPr indent="0" marL="0">
              <a:buNone/>
            </a:pPr>
            <a:r>
              <a:rPr lang="en-US" sz="1100" b="1" spc="400" kern="0" dirty="0">
                <a:solidFill>
                  <a:srgbClr val="0078D4"/>
                </a:solidFill>
                <a:latin typeface="Segoe UI" pitchFamily="34" charset="0"/>
                <a:ea typeface="Segoe UI" pitchFamily="34" charset="-122"/>
                <a:cs typeface="Segoe UI" pitchFamily="34" charset="-120"/>
              </a:rPr>
              <a:t>LIVE DEMO  ·  IKEJA, LAGOS</a:t>
            </a:r>
            <a:endParaRPr lang="en-US" sz="1100" dirty="0"/>
          </a:p>
        </p:txBody>
      </p:sp>
      <p:sp>
        <p:nvSpPr>
          <p:cNvPr id="5" name="Text 2"/>
          <p:cNvSpPr/>
          <p:nvPr/>
        </p:nvSpPr>
        <p:spPr>
          <a:xfrm>
            <a:off x="457200" y="777240"/>
            <a:ext cx="8686800" cy="548640"/>
          </a:xfrm>
          <a:prstGeom prst="rect">
            <a:avLst/>
          </a:prstGeom>
          <a:noFill/>
          <a:ln/>
        </p:spPr>
        <p:txBody>
          <a:bodyPr wrap="square" lIns="0" tIns="0" rIns="0" bIns="0" rtlCol="0" anchor="ctr"/>
          <a:lstStyle/>
          <a:p>
            <a:pPr indent="0" marL="0">
              <a:buNone/>
            </a:pPr>
            <a:r>
              <a:rPr lang="en-US" sz="2600" b="1" dirty="0">
                <a:solidFill>
                  <a:srgbClr val="2A446F"/>
                </a:solidFill>
                <a:latin typeface="Segoe UI" pitchFamily="34" charset="0"/>
                <a:ea typeface="Segoe UI" pitchFamily="34" charset="-122"/>
                <a:cs typeface="Segoe UI" pitchFamily="34" charset="-120"/>
              </a:rPr>
              <a:t>From green to recovered in 90 seconds.</a:t>
            </a:r>
            <a:endParaRPr lang="en-US" sz="2600" dirty="0"/>
          </a:p>
        </p:txBody>
      </p:sp>
      <p:sp>
        <p:nvSpPr>
          <p:cNvPr id="6" name="Shape 3"/>
          <p:cNvSpPr/>
          <p:nvPr/>
        </p:nvSpPr>
        <p:spPr>
          <a:xfrm>
            <a:off x="457200" y="1417320"/>
            <a:ext cx="8229600" cy="0"/>
          </a:xfrm>
          <a:prstGeom prst="line">
            <a:avLst/>
          </a:prstGeom>
          <a:noFill/>
          <a:ln w="9525">
            <a:solidFill>
              <a:srgbClr val="EAD9C9"/>
            </a:solidFill>
            <a:prstDash val="solid"/>
          </a:ln>
        </p:spPr>
      </p:sp>
      <p:sp>
        <p:nvSpPr>
          <p:cNvPr id="7" name="Shape 4"/>
          <p:cNvSpPr/>
          <p:nvPr/>
        </p:nvSpPr>
        <p:spPr>
          <a:xfrm>
            <a:off x="1143000" y="1691640"/>
            <a:ext cx="457200" cy="457200"/>
          </a:xfrm>
          <a:prstGeom prst="ellipse">
            <a:avLst/>
          </a:prstGeom>
          <a:solidFill>
            <a:srgbClr val="0078D4"/>
          </a:solidFill>
          <a:ln w="12700">
            <a:solidFill>
              <a:srgbClr val="0078D4"/>
            </a:solidFill>
            <a:prstDash val="solid"/>
          </a:ln>
        </p:spPr>
      </p:sp>
      <p:pic>
        <p:nvPicPr>
          <p:cNvPr id="8" name="Image 0" descr="preencoded.png">    </p:cNvPr>
          <p:cNvPicPr>
            <a:picLocks noChangeAspect="1"/>
          </p:cNvPicPr>
          <p:nvPr/>
        </p:nvPicPr>
        <p:blipFill>
          <a:blip r:embed="rId1"/>
          <a:stretch>
            <a:fillRect/>
          </a:stretch>
        </p:blipFill>
        <p:spPr>
          <a:xfrm>
            <a:off x="1216152" y="1764792"/>
            <a:ext cx="310896" cy="310896"/>
          </a:xfrm>
          <a:prstGeom prst="rect">
            <a:avLst/>
          </a:prstGeom>
        </p:spPr>
      </p:pic>
      <p:sp>
        <p:nvSpPr>
          <p:cNvPr id="9" name="Text 5"/>
          <p:cNvSpPr/>
          <p:nvPr/>
        </p:nvSpPr>
        <p:spPr>
          <a:xfrm>
            <a:off x="502920" y="2194560"/>
            <a:ext cx="1554480" cy="274320"/>
          </a:xfrm>
          <a:prstGeom prst="rect">
            <a:avLst/>
          </a:prstGeom>
          <a:noFill/>
          <a:ln/>
        </p:spPr>
        <p:txBody>
          <a:bodyPr wrap="square" lIns="0" tIns="0" rIns="0" bIns="0" rtlCol="0" anchor="ctr"/>
          <a:lstStyle/>
          <a:p>
            <a:pPr algn="ctr" indent="0" marL="0">
              <a:buNone/>
            </a:pPr>
            <a:r>
              <a:rPr lang="en-US" sz="1100" b="1" dirty="0">
                <a:solidFill>
                  <a:srgbClr val="0078D4"/>
                </a:solidFill>
                <a:latin typeface="Segoe UI" pitchFamily="34" charset="0"/>
                <a:ea typeface="Segoe UI" pitchFamily="34" charset="-122"/>
                <a:cs typeface="Segoe UI" pitchFamily="34" charset="-120"/>
              </a:rPr>
              <a:t>00:00</a:t>
            </a:r>
            <a:endParaRPr lang="en-US" sz="1100" dirty="0"/>
          </a:p>
        </p:txBody>
      </p:sp>
      <p:sp>
        <p:nvSpPr>
          <p:cNvPr id="10" name="Text 6"/>
          <p:cNvSpPr/>
          <p:nvPr/>
        </p:nvSpPr>
        <p:spPr>
          <a:xfrm>
            <a:off x="502920" y="2468880"/>
            <a:ext cx="1554480" cy="292608"/>
          </a:xfrm>
          <a:prstGeom prst="rect">
            <a:avLst/>
          </a:prstGeom>
          <a:noFill/>
          <a:ln/>
        </p:spPr>
        <p:txBody>
          <a:bodyPr wrap="square" lIns="0" tIns="0" rIns="0" bIns="0" rtlCol="0" anchor="ctr"/>
          <a:lstStyle/>
          <a:p>
            <a:pPr algn="ctr" indent="0" marL="0">
              <a:buNone/>
            </a:pPr>
            <a:r>
              <a:rPr lang="en-US" sz="1300" b="1" dirty="0">
                <a:solidFill>
                  <a:srgbClr val="2A446F"/>
                </a:solidFill>
                <a:latin typeface="Segoe UI" pitchFamily="34" charset="0"/>
                <a:ea typeface="Segoe UI" pitchFamily="34" charset="-122"/>
                <a:cs typeface="Segoe UI" pitchFamily="34" charset="-120"/>
              </a:rPr>
              <a:t>Baseline</a:t>
            </a:r>
            <a:endParaRPr lang="en-US" sz="1300" dirty="0"/>
          </a:p>
        </p:txBody>
      </p:sp>
      <p:sp>
        <p:nvSpPr>
          <p:cNvPr id="11" name="Text 7"/>
          <p:cNvSpPr/>
          <p:nvPr/>
        </p:nvSpPr>
        <p:spPr>
          <a:xfrm>
            <a:off x="502920" y="2743200"/>
            <a:ext cx="1554480" cy="640080"/>
          </a:xfrm>
          <a:prstGeom prst="rect">
            <a:avLst/>
          </a:prstGeom>
          <a:noFill/>
          <a:ln/>
        </p:spPr>
        <p:txBody>
          <a:bodyPr wrap="square" lIns="0" tIns="0" rIns="0" bIns="0" rtlCol="0" anchor="ctr"/>
          <a:lstStyle/>
          <a:p>
            <a:pPr algn="ctr" indent="0" marL="0">
              <a:buNone/>
            </a:pPr>
            <a:r>
              <a:rPr lang="en-US" sz="1000" dirty="0">
                <a:solidFill>
                  <a:srgbClr val="6B7E9B"/>
                </a:solidFill>
                <a:latin typeface="Segoe UI" pitchFamily="34" charset="0"/>
                <a:ea typeface="Segoe UI" pitchFamily="34" charset="-122"/>
                <a:cs typeface="Segoe UI" pitchFamily="34" charset="-120"/>
              </a:rPr>
              <a:t>All LGAs green</a:t>
            </a:r>
            <a:endParaRPr lang="en-US" sz="1000" dirty="0"/>
          </a:p>
        </p:txBody>
      </p:sp>
      <p:sp>
        <p:nvSpPr>
          <p:cNvPr id="12" name="Shape 8"/>
          <p:cNvSpPr/>
          <p:nvPr/>
        </p:nvSpPr>
        <p:spPr>
          <a:xfrm>
            <a:off x="1600200" y="1920240"/>
            <a:ext cx="557784" cy="0"/>
          </a:xfrm>
          <a:prstGeom prst="line">
            <a:avLst/>
          </a:prstGeom>
          <a:noFill/>
          <a:ln w="19050">
            <a:solidFill>
              <a:srgbClr val="EAD9C9"/>
            </a:solidFill>
            <a:prstDash val="dash"/>
          </a:ln>
        </p:spPr>
      </p:sp>
      <p:sp>
        <p:nvSpPr>
          <p:cNvPr id="13" name="Shape 9"/>
          <p:cNvSpPr/>
          <p:nvPr/>
        </p:nvSpPr>
        <p:spPr>
          <a:xfrm>
            <a:off x="2798064" y="1691640"/>
            <a:ext cx="457200" cy="457200"/>
          </a:xfrm>
          <a:prstGeom prst="ellipse">
            <a:avLst/>
          </a:prstGeom>
          <a:solidFill>
            <a:srgbClr val="FFBBA8"/>
          </a:solidFill>
          <a:ln w="12700">
            <a:solidFill>
              <a:srgbClr val="FFBBA8"/>
            </a:solidFill>
            <a:prstDash val="solid"/>
          </a:ln>
        </p:spPr>
      </p:sp>
      <p:pic>
        <p:nvPicPr>
          <p:cNvPr id="14" name="Image 1" descr="preencoded.png">    </p:cNvPr>
          <p:cNvPicPr>
            <a:picLocks noChangeAspect="1"/>
          </p:cNvPicPr>
          <p:nvPr/>
        </p:nvPicPr>
        <p:blipFill>
          <a:blip r:embed="rId2"/>
          <a:stretch>
            <a:fillRect/>
          </a:stretch>
        </p:blipFill>
        <p:spPr>
          <a:xfrm>
            <a:off x="2871216" y="1764792"/>
            <a:ext cx="310896" cy="310896"/>
          </a:xfrm>
          <a:prstGeom prst="rect">
            <a:avLst/>
          </a:prstGeom>
        </p:spPr>
      </p:pic>
      <p:sp>
        <p:nvSpPr>
          <p:cNvPr id="15" name="Text 10"/>
          <p:cNvSpPr/>
          <p:nvPr/>
        </p:nvSpPr>
        <p:spPr>
          <a:xfrm>
            <a:off x="2157984" y="2194560"/>
            <a:ext cx="1554480" cy="274320"/>
          </a:xfrm>
          <a:prstGeom prst="rect">
            <a:avLst/>
          </a:prstGeom>
          <a:noFill/>
          <a:ln/>
        </p:spPr>
        <p:txBody>
          <a:bodyPr wrap="square" lIns="0" tIns="0" rIns="0" bIns="0" rtlCol="0" anchor="ctr"/>
          <a:lstStyle/>
          <a:p>
            <a:pPr algn="ctr" indent="0" marL="0">
              <a:buNone/>
            </a:pPr>
            <a:r>
              <a:rPr lang="en-US" sz="1100" b="1" dirty="0">
                <a:solidFill>
                  <a:srgbClr val="FFBBA8"/>
                </a:solidFill>
                <a:latin typeface="Segoe UI" pitchFamily="34" charset="0"/>
                <a:ea typeface="Segoe UI" pitchFamily="34" charset="-122"/>
                <a:cs typeface="Segoe UI" pitchFamily="34" charset="-120"/>
              </a:rPr>
              <a:t>00:15</a:t>
            </a:r>
            <a:endParaRPr lang="en-US" sz="1100" dirty="0"/>
          </a:p>
        </p:txBody>
      </p:sp>
      <p:sp>
        <p:nvSpPr>
          <p:cNvPr id="16" name="Text 11"/>
          <p:cNvSpPr/>
          <p:nvPr/>
        </p:nvSpPr>
        <p:spPr>
          <a:xfrm>
            <a:off x="2157984" y="2468880"/>
            <a:ext cx="1554480" cy="292608"/>
          </a:xfrm>
          <a:prstGeom prst="rect">
            <a:avLst/>
          </a:prstGeom>
          <a:noFill/>
          <a:ln/>
        </p:spPr>
        <p:txBody>
          <a:bodyPr wrap="square" lIns="0" tIns="0" rIns="0" bIns="0" rtlCol="0" anchor="ctr"/>
          <a:lstStyle/>
          <a:p>
            <a:pPr algn="ctr" indent="0" marL="0">
              <a:buNone/>
            </a:pPr>
            <a:r>
              <a:rPr lang="en-US" sz="1300" b="1" dirty="0">
                <a:solidFill>
                  <a:srgbClr val="2A446F"/>
                </a:solidFill>
                <a:latin typeface="Segoe UI" pitchFamily="34" charset="0"/>
                <a:ea typeface="Segoe UI" pitchFamily="34" charset="-122"/>
                <a:cs typeface="Segoe UI" pitchFamily="34" charset="-120"/>
              </a:rPr>
              <a:t>Trigger</a:t>
            </a:r>
            <a:endParaRPr lang="en-US" sz="1300" dirty="0"/>
          </a:p>
        </p:txBody>
      </p:sp>
      <p:sp>
        <p:nvSpPr>
          <p:cNvPr id="17" name="Text 12"/>
          <p:cNvSpPr/>
          <p:nvPr/>
        </p:nvSpPr>
        <p:spPr>
          <a:xfrm>
            <a:off x="2157984" y="2743200"/>
            <a:ext cx="1554480" cy="640080"/>
          </a:xfrm>
          <a:prstGeom prst="rect">
            <a:avLst/>
          </a:prstGeom>
          <a:noFill/>
          <a:ln/>
        </p:spPr>
        <p:txBody>
          <a:bodyPr wrap="square" lIns="0" tIns="0" rIns="0" bIns="0" rtlCol="0" anchor="ctr"/>
          <a:lstStyle/>
          <a:p>
            <a:pPr algn="ctr" indent="0" marL="0">
              <a:buNone/>
            </a:pPr>
            <a:r>
              <a:rPr lang="en-US" sz="1000" dirty="0">
                <a:solidFill>
                  <a:srgbClr val="6B7E9B"/>
                </a:solidFill>
                <a:latin typeface="Segoe UI" pitchFamily="34" charset="0"/>
                <a:ea typeface="Segoe UI" pitchFamily="34" charset="-122"/>
                <a:cs typeface="Segoe UI" pitchFamily="34" charset="-120"/>
              </a:rPr>
              <a:t>Ikeja BTS deviation + complaint spike</a:t>
            </a:r>
            <a:endParaRPr lang="en-US" sz="1000" dirty="0"/>
          </a:p>
        </p:txBody>
      </p:sp>
      <p:sp>
        <p:nvSpPr>
          <p:cNvPr id="18" name="Shape 13"/>
          <p:cNvSpPr/>
          <p:nvPr/>
        </p:nvSpPr>
        <p:spPr>
          <a:xfrm>
            <a:off x="3255264" y="1920240"/>
            <a:ext cx="557784" cy="0"/>
          </a:xfrm>
          <a:prstGeom prst="line">
            <a:avLst/>
          </a:prstGeom>
          <a:noFill/>
          <a:ln w="19050">
            <a:solidFill>
              <a:srgbClr val="EAD9C9"/>
            </a:solidFill>
            <a:prstDash val="dash"/>
          </a:ln>
        </p:spPr>
      </p:sp>
      <p:sp>
        <p:nvSpPr>
          <p:cNvPr id="19" name="Shape 14"/>
          <p:cNvSpPr/>
          <p:nvPr/>
        </p:nvSpPr>
        <p:spPr>
          <a:xfrm>
            <a:off x="4453128" y="1691640"/>
            <a:ext cx="457200" cy="457200"/>
          </a:xfrm>
          <a:prstGeom prst="ellipse">
            <a:avLst/>
          </a:prstGeom>
          <a:solidFill>
            <a:srgbClr val="FF9176"/>
          </a:solidFill>
          <a:ln w="12700">
            <a:solidFill>
              <a:srgbClr val="FF9176"/>
            </a:solidFill>
            <a:prstDash val="solid"/>
          </a:ln>
        </p:spPr>
      </p:sp>
      <p:pic>
        <p:nvPicPr>
          <p:cNvPr id="20" name="Image 2" descr="preencoded.png">    </p:cNvPr>
          <p:cNvPicPr>
            <a:picLocks noChangeAspect="1"/>
          </p:cNvPicPr>
          <p:nvPr/>
        </p:nvPicPr>
        <p:blipFill>
          <a:blip r:embed="rId3"/>
          <a:stretch>
            <a:fillRect/>
          </a:stretch>
        </p:blipFill>
        <p:spPr>
          <a:xfrm>
            <a:off x="4526280" y="1764792"/>
            <a:ext cx="310896" cy="310896"/>
          </a:xfrm>
          <a:prstGeom prst="rect">
            <a:avLst/>
          </a:prstGeom>
        </p:spPr>
      </p:pic>
      <p:sp>
        <p:nvSpPr>
          <p:cNvPr id="21" name="Text 15"/>
          <p:cNvSpPr/>
          <p:nvPr/>
        </p:nvSpPr>
        <p:spPr>
          <a:xfrm>
            <a:off x="3813048" y="2194560"/>
            <a:ext cx="1554480" cy="274320"/>
          </a:xfrm>
          <a:prstGeom prst="rect">
            <a:avLst/>
          </a:prstGeom>
          <a:noFill/>
          <a:ln/>
        </p:spPr>
        <p:txBody>
          <a:bodyPr wrap="square" lIns="0" tIns="0" rIns="0" bIns="0" rtlCol="0" anchor="ctr"/>
          <a:lstStyle/>
          <a:p>
            <a:pPr algn="ctr" indent="0" marL="0">
              <a:buNone/>
            </a:pPr>
            <a:r>
              <a:rPr lang="en-US" sz="1100" b="1" dirty="0">
                <a:solidFill>
                  <a:srgbClr val="FF9176"/>
                </a:solidFill>
                <a:latin typeface="Segoe UI" pitchFamily="34" charset="0"/>
                <a:ea typeface="Segoe UI" pitchFamily="34" charset="-122"/>
                <a:cs typeface="Segoe UI" pitchFamily="34" charset="-120"/>
              </a:rPr>
              <a:t>00:30</a:t>
            </a:r>
            <a:endParaRPr lang="en-US" sz="1100" dirty="0"/>
          </a:p>
        </p:txBody>
      </p:sp>
      <p:sp>
        <p:nvSpPr>
          <p:cNvPr id="22" name="Text 16"/>
          <p:cNvSpPr/>
          <p:nvPr/>
        </p:nvSpPr>
        <p:spPr>
          <a:xfrm>
            <a:off x="3813048" y="2468880"/>
            <a:ext cx="1554480" cy="292608"/>
          </a:xfrm>
          <a:prstGeom prst="rect">
            <a:avLst/>
          </a:prstGeom>
          <a:noFill/>
          <a:ln/>
        </p:spPr>
        <p:txBody>
          <a:bodyPr wrap="square" lIns="0" tIns="0" rIns="0" bIns="0" rtlCol="0" anchor="ctr"/>
          <a:lstStyle/>
          <a:p>
            <a:pPr algn="ctr" indent="0" marL="0">
              <a:buNone/>
            </a:pPr>
            <a:r>
              <a:rPr lang="en-US" sz="1300" b="1" dirty="0">
                <a:solidFill>
                  <a:srgbClr val="2A446F"/>
                </a:solidFill>
                <a:latin typeface="Segoe UI" pitchFamily="34" charset="0"/>
                <a:ea typeface="Segoe UI" pitchFamily="34" charset="-122"/>
                <a:cs typeface="Segoe UI" pitchFamily="34" charset="-120"/>
              </a:rPr>
              <a:t>Risk = 87</a:t>
            </a:r>
            <a:endParaRPr lang="en-US" sz="1300" dirty="0"/>
          </a:p>
        </p:txBody>
      </p:sp>
      <p:sp>
        <p:nvSpPr>
          <p:cNvPr id="23" name="Text 17"/>
          <p:cNvSpPr/>
          <p:nvPr/>
        </p:nvSpPr>
        <p:spPr>
          <a:xfrm>
            <a:off x="3813048" y="2743200"/>
            <a:ext cx="1554480" cy="640080"/>
          </a:xfrm>
          <a:prstGeom prst="rect">
            <a:avLst/>
          </a:prstGeom>
          <a:noFill/>
          <a:ln/>
        </p:spPr>
        <p:txBody>
          <a:bodyPr wrap="square" lIns="0" tIns="0" rIns="0" bIns="0" rtlCol="0" anchor="ctr"/>
          <a:lstStyle/>
          <a:p>
            <a:pPr algn="ctr" indent="0" marL="0">
              <a:buNone/>
            </a:pPr>
            <a:r>
              <a:rPr lang="en-US" sz="1000" dirty="0">
                <a:solidFill>
                  <a:srgbClr val="6B7E9B"/>
                </a:solidFill>
                <a:latin typeface="Segoe UI" pitchFamily="34" charset="0"/>
                <a:ea typeface="Segoe UI" pitchFamily="34" charset="-122"/>
                <a:cs typeface="Segoe UI" pitchFamily="34" charset="-120"/>
              </a:rPr>
              <a:t>47 min to SLA breach · 18,420 subs</a:t>
            </a:r>
            <a:endParaRPr lang="en-US" sz="1000" dirty="0"/>
          </a:p>
        </p:txBody>
      </p:sp>
      <p:sp>
        <p:nvSpPr>
          <p:cNvPr id="24" name="Shape 18"/>
          <p:cNvSpPr/>
          <p:nvPr/>
        </p:nvSpPr>
        <p:spPr>
          <a:xfrm>
            <a:off x="4910328" y="1920240"/>
            <a:ext cx="557784" cy="0"/>
          </a:xfrm>
          <a:prstGeom prst="line">
            <a:avLst/>
          </a:prstGeom>
          <a:noFill/>
          <a:ln w="19050">
            <a:solidFill>
              <a:srgbClr val="EAD9C9"/>
            </a:solidFill>
            <a:prstDash val="dash"/>
          </a:ln>
        </p:spPr>
      </p:sp>
      <p:sp>
        <p:nvSpPr>
          <p:cNvPr id="25" name="Shape 19"/>
          <p:cNvSpPr/>
          <p:nvPr/>
        </p:nvSpPr>
        <p:spPr>
          <a:xfrm>
            <a:off x="6108192" y="1691640"/>
            <a:ext cx="457200" cy="457200"/>
          </a:xfrm>
          <a:prstGeom prst="ellipse">
            <a:avLst/>
          </a:prstGeom>
          <a:solidFill>
            <a:srgbClr val="0078D4"/>
          </a:solidFill>
          <a:ln w="12700">
            <a:solidFill>
              <a:srgbClr val="0078D4"/>
            </a:solidFill>
            <a:prstDash val="solid"/>
          </a:ln>
        </p:spPr>
      </p:sp>
      <p:pic>
        <p:nvPicPr>
          <p:cNvPr id="26" name="Image 3" descr="preencoded.png">    </p:cNvPr>
          <p:cNvPicPr>
            <a:picLocks noChangeAspect="1"/>
          </p:cNvPicPr>
          <p:nvPr/>
        </p:nvPicPr>
        <p:blipFill>
          <a:blip r:embed="rId4"/>
          <a:stretch>
            <a:fillRect/>
          </a:stretch>
        </p:blipFill>
        <p:spPr>
          <a:xfrm>
            <a:off x="6181344" y="1764792"/>
            <a:ext cx="310896" cy="310896"/>
          </a:xfrm>
          <a:prstGeom prst="rect">
            <a:avLst/>
          </a:prstGeom>
        </p:spPr>
      </p:pic>
      <p:sp>
        <p:nvSpPr>
          <p:cNvPr id="27" name="Text 20"/>
          <p:cNvSpPr/>
          <p:nvPr/>
        </p:nvSpPr>
        <p:spPr>
          <a:xfrm>
            <a:off x="5468112" y="2194560"/>
            <a:ext cx="1554480" cy="274320"/>
          </a:xfrm>
          <a:prstGeom prst="rect">
            <a:avLst/>
          </a:prstGeom>
          <a:noFill/>
          <a:ln/>
        </p:spPr>
        <p:txBody>
          <a:bodyPr wrap="square" lIns="0" tIns="0" rIns="0" bIns="0" rtlCol="0" anchor="ctr"/>
          <a:lstStyle/>
          <a:p>
            <a:pPr algn="ctr" indent="0" marL="0">
              <a:buNone/>
            </a:pPr>
            <a:r>
              <a:rPr lang="en-US" sz="1100" b="1" dirty="0">
                <a:solidFill>
                  <a:srgbClr val="0078D4"/>
                </a:solidFill>
                <a:latin typeface="Segoe UI" pitchFamily="34" charset="0"/>
                <a:ea typeface="Segoe UI" pitchFamily="34" charset="-122"/>
                <a:cs typeface="Segoe UI" pitchFamily="34" charset="-120"/>
              </a:rPr>
              <a:t>01:00</a:t>
            </a:r>
            <a:endParaRPr lang="en-US" sz="1100" dirty="0"/>
          </a:p>
        </p:txBody>
      </p:sp>
      <p:sp>
        <p:nvSpPr>
          <p:cNvPr id="28" name="Text 21"/>
          <p:cNvSpPr/>
          <p:nvPr/>
        </p:nvSpPr>
        <p:spPr>
          <a:xfrm>
            <a:off x="5468112" y="2468880"/>
            <a:ext cx="1554480" cy="292608"/>
          </a:xfrm>
          <a:prstGeom prst="rect">
            <a:avLst/>
          </a:prstGeom>
          <a:noFill/>
          <a:ln/>
        </p:spPr>
        <p:txBody>
          <a:bodyPr wrap="square" lIns="0" tIns="0" rIns="0" bIns="0" rtlCol="0" anchor="ctr"/>
          <a:lstStyle/>
          <a:p>
            <a:pPr algn="ctr" indent="0" marL="0">
              <a:buNone/>
            </a:pPr>
            <a:r>
              <a:rPr lang="en-US" sz="1300" b="1" dirty="0">
                <a:solidFill>
                  <a:srgbClr val="2A446F"/>
                </a:solidFill>
                <a:latin typeface="Segoe UI" pitchFamily="34" charset="0"/>
                <a:ea typeface="Segoe UI" pitchFamily="34" charset="-122"/>
                <a:cs typeface="Segoe UI" pitchFamily="34" charset="-120"/>
              </a:rPr>
              <a:t>Operator approves</a:t>
            </a:r>
            <a:endParaRPr lang="en-US" sz="1300" dirty="0"/>
          </a:p>
        </p:txBody>
      </p:sp>
      <p:sp>
        <p:nvSpPr>
          <p:cNvPr id="29" name="Text 22"/>
          <p:cNvSpPr/>
          <p:nvPr/>
        </p:nvSpPr>
        <p:spPr>
          <a:xfrm>
            <a:off x="5468112" y="2743200"/>
            <a:ext cx="1554480" cy="640080"/>
          </a:xfrm>
          <a:prstGeom prst="rect">
            <a:avLst/>
          </a:prstGeom>
          <a:noFill/>
          <a:ln/>
        </p:spPr>
        <p:txBody>
          <a:bodyPr wrap="square" lIns="0" tIns="0" rIns="0" bIns="0" rtlCol="0" anchor="ctr"/>
          <a:lstStyle/>
          <a:p>
            <a:pPr algn="ctr" indent="0" marL="0">
              <a:buNone/>
            </a:pPr>
            <a:r>
              <a:rPr lang="en-US" sz="1000" dirty="0">
                <a:solidFill>
                  <a:srgbClr val="6B7E9B"/>
                </a:solidFill>
                <a:latin typeface="Segoe UI" pitchFamily="34" charset="0"/>
                <a:ea typeface="Segoe UI" pitchFamily="34" charset="-122"/>
                <a:cs typeface="Segoe UI" pitchFamily="34" charset="-120"/>
              </a:rPr>
              <a:t>Reroute traffic · audit logged</a:t>
            </a:r>
            <a:endParaRPr lang="en-US" sz="1000" dirty="0"/>
          </a:p>
        </p:txBody>
      </p:sp>
      <p:sp>
        <p:nvSpPr>
          <p:cNvPr id="30" name="Shape 23"/>
          <p:cNvSpPr/>
          <p:nvPr/>
        </p:nvSpPr>
        <p:spPr>
          <a:xfrm>
            <a:off x="6565392" y="1920240"/>
            <a:ext cx="557784" cy="0"/>
          </a:xfrm>
          <a:prstGeom prst="line">
            <a:avLst/>
          </a:prstGeom>
          <a:noFill/>
          <a:ln w="19050">
            <a:solidFill>
              <a:srgbClr val="EAD9C9"/>
            </a:solidFill>
            <a:prstDash val="dash"/>
          </a:ln>
        </p:spPr>
      </p:sp>
      <p:sp>
        <p:nvSpPr>
          <p:cNvPr id="31" name="Shape 24"/>
          <p:cNvSpPr/>
          <p:nvPr/>
        </p:nvSpPr>
        <p:spPr>
          <a:xfrm>
            <a:off x="7763256" y="1691640"/>
            <a:ext cx="457200" cy="457200"/>
          </a:xfrm>
          <a:prstGeom prst="ellipse">
            <a:avLst/>
          </a:prstGeom>
          <a:solidFill>
            <a:srgbClr val="0078D4"/>
          </a:solidFill>
          <a:ln w="12700">
            <a:solidFill>
              <a:srgbClr val="0078D4"/>
            </a:solidFill>
            <a:prstDash val="solid"/>
          </a:ln>
        </p:spPr>
      </p:sp>
      <p:pic>
        <p:nvPicPr>
          <p:cNvPr id="32" name="Image 4" descr="preencoded.png">    </p:cNvPr>
          <p:cNvPicPr>
            <a:picLocks noChangeAspect="1"/>
          </p:cNvPicPr>
          <p:nvPr/>
        </p:nvPicPr>
        <p:blipFill>
          <a:blip r:embed="rId5"/>
          <a:stretch>
            <a:fillRect/>
          </a:stretch>
        </p:blipFill>
        <p:spPr>
          <a:xfrm>
            <a:off x="7836408" y="1764792"/>
            <a:ext cx="310896" cy="310896"/>
          </a:xfrm>
          <a:prstGeom prst="rect">
            <a:avLst/>
          </a:prstGeom>
        </p:spPr>
      </p:pic>
      <p:sp>
        <p:nvSpPr>
          <p:cNvPr id="33" name="Text 25"/>
          <p:cNvSpPr/>
          <p:nvPr/>
        </p:nvSpPr>
        <p:spPr>
          <a:xfrm>
            <a:off x="7123176" y="2194560"/>
            <a:ext cx="1554480" cy="274320"/>
          </a:xfrm>
          <a:prstGeom prst="rect">
            <a:avLst/>
          </a:prstGeom>
          <a:noFill/>
          <a:ln/>
        </p:spPr>
        <p:txBody>
          <a:bodyPr wrap="square" lIns="0" tIns="0" rIns="0" bIns="0" rtlCol="0" anchor="ctr"/>
          <a:lstStyle/>
          <a:p>
            <a:pPr algn="ctr" indent="0" marL="0">
              <a:buNone/>
            </a:pPr>
            <a:r>
              <a:rPr lang="en-US" sz="1100" b="1" dirty="0">
                <a:solidFill>
                  <a:srgbClr val="0078D4"/>
                </a:solidFill>
                <a:latin typeface="Segoe UI" pitchFamily="34" charset="0"/>
                <a:ea typeface="Segoe UI" pitchFamily="34" charset="-122"/>
                <a:cs typeface="Segoe UI" pitchFamily="34" charset="-120"/>
              </a:rPr>
              <a:t>01:30</a:t>
            </a:r>
            <a:endParaRPr lang="en-US" sz="1100" dirty="0"/>
          </a:p>
        </p:txBody>
      </p:sp>
      <p:sp>
        <p:nvSpPr>
          <p:cNvPr id="34" name="Text 26"/>
          <p:cNvSpPr/>
          <p:nvPr/>
        </p:nvSpPr>
        <p:spPr>
          <a:xfrm>
            <a:off x="7123176" y="2468880"/>
            <a:ext cx="1554480" cy="292608"/>
          </a:xfrm>
          <a:prstGeom prst="rect">
            <a:avLst/>
          </a:prstGeom>
          <a:noFill/>
          <a:ln/>
        </p:spPr>
        <p:txBody>
          <a:bodyPr wrap="square" lIns="0" tIns="0" rIns="0" bIns="0" rtlCol="0" anchor="ctr"/>
          <a:lstStyle/>
          <a:p>
            <a:pPr algn="ctr" indent="0" marL="0">
              <a:buNone/>
            </a:pPr>
            <a:r>
              <a:rPr lang="en-US" sz="1300" b="1" dirty="0">
                <a:solidFill>
                  <a:srgbClr val="2A446F"/>
                </a:solidFill>
                <a:latin typeface="Segoe UI" pitchFamily="34" charset="0"/>
                <a:ea typeface="Segoe UI" pitchFamily="34" charset="-122"/>
                <a:cs typeface="Segoe UI" pitchFamily="34" charset="-120"/>
              </a:rPr>
              <a:t>Risk = 42</a:t>
            </a:r>
            <a:endParaRPr lang="en-US" sz="1300" dirty="0"/>
          </a:p>
        </p:txBody>
      </p:sp>
      <p:sp>
        <p:nvSpPr>
          <p:cNvPr id="35" name="Text 27"/>
          <p:cNvSpPr/>
          <p:nvPr/>
        </p:nvSpPr>
        <p:spPr>
          <a:xfrm>
            <a:off x="7123176" y="2743200"/>
            <a:ext cx="1554480" cy="640080"/>
          </a:xfrm>
          <a:prstGeom prst="rect">
            <a:avLst/>
          </a:prstGeom>
          <a:noFill/>
          <a:ln/>
        </p:spPr>
        <p:txBody>
          <a:bodyPr wrap="square" lIns="0" tIns="0" rIns="0" bIns="0" rtlCol="0" anchor="ctr"/>
          <a:lstStyle/>
          <a:p>
            <a:pPr algn="ctr" indent="0" marL="0">
              <a:buNone/>
            </a:pPr>
            <a:r>
              <a:rPr lang="en-US" sz="1000" dirty="0">
                <a:solidFill>
                  <a:srgbClr val="6B7E9B"/>
                </a:solidFill>
                <a:latin typeface="Segoe UI" pitchFamily="34" charset="0"/>
                <a:ea typeface="Segoe UI" pitchFamily="34" charset="-122"/>
                <a:cs typeface="Segoe UI" pitchFamily="34" charset="-120"/>
              </a:rPr>
              <a:t>Recovery confirmed · NCC pack ready</a:t>
            </a:r>
            <a:endParaRPr lang="en-US" sz="1000" dirty="0"/>
          </a:p>
        </p:txBody>
      </p:sp>
      <p:graphicFrame>
        <p:nvGraphicFramePr>
          <p:cNvPr id="36" name="Chart 0" descr=""/>
          <p:cNvGraphicFramePr/>
          <p:nvPr/>
        </p:nvGraphicFramePr>
        <p:xfrm>
          <a:off x="502920" y="3520440"/>
          <a:ext cx="8138160" cy="1325880"/>
        </p:xfrm>
        <a:graphic xmlns:a="http://schemas.openxmlformats.org/drawingml/2006/main">
          <a:graphicData uri="http://schemas.openxmlformats.org/drawingml/2006/chart">
            <c:chart xmlns:c="http://schemas.openxmlformats.org/drawingml/2006/chart" r:id="rId6"/>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8F3"/>
        </a:solidFill>
      </p:bgPr>
    </p:bg>
    <p:spTree>
      <p:nvGrpSpPr>
        <p:cNvPr id="1" name=""/>
        <p:cNvGrpSpPr/>
        <p:nvPr/>
      </p:nvGrpSpPr>
      <p:grpSpPr>
        <a:xfrm>
          <a:off x="0" y="0"/>
          <a:ext cx="0" cy="0"/>
          <a:chOff x="0" y="0"/>
          <a:chExt cx="0" cy="0"/>
        </a:xfrm>
      </p:grpSpPr>
      <p:sp>
        <p:nvSpPr>
          <p:cNvPr id="3" name="Shape 0"/>
          <p:cNvSpPr/>
          <p:nvPr/>
        </p:nvSpPr>
        <p:spPr>
          <a:xfrm>
            <a:off x="457200" y="411480"/>
            <a:ext cx="164592" cy="292608"/>
          </a:xfrm>
          <a:prstGeom prst="rect">
            <a:avLst/>
          </a:prstGeom>
          <a:solidFill>
            <a:srgbClr val="0078D4"/>
          </a:solidFill>
          <a:ln w="12700">
            <a:solidFill>
              <a:srgbClr val="0078D4"/>
            </a:solidFill>
            <a:prstDash val="solid"/>
          </a:ln>
        </p:spPr>
      </p:sp>
      <p:sp>
        <p:nvSpPr>
          <p:cNvPr id="4" name="Text 1"/>
          <p:cNvSpPr/>
          <p:nvPr/>
        </p:nvSpPr>
        <p:spPr>
          <a:xfrm>
            <a:off x="713232" y="384048"/>
            <a:ext cx="7955280" cy="329184"/>
          </a:xfrm>
          <a:prstGeom prst="rect">
            <a:avLst/>
          </a:prstGeom>
          <a:noFill/>
          <a:ln/>
        </p:spPr>
        <p:txBody>
          <a:bodyPr wrap="square" lIns="0" tIns="0" rIns="0" bIns="0" rtlCol="0" anchor="ctr"/>
          <a:lstStyle/>
          <a:p>
            <a:pPr indent="0" marL="0">
              <a:buNone/>
            </a:pPr>
            <a:r>
              <a:rPr lang="en-US" sz="1100" b="1" spc="400" kern="0" dirty="0">
                <a:solidFill>
                  <a:srgbClr val="0078D4"/>
                </a:solidFill>
                <a:latin typeface="Segoe UI" pitchFamily="34" charset="0"/>
                <a:ea typeface="Segoe UI" pitchFamily="34" charset="-122"/>
                <a:cs typeface="Segoe UI" pitchFamily="34" charset="-120"/>
              </a:rPr>
              <a:t>THE AGENTIC COPILOT</a:t>
            </a:r>
            <a:endParaRPr lang="en-US" sz="1100" dirty="0"/>
          </a:p>
        </p:txBody>
      </p:sp>
      <p:sp>
        <p:nvSpPr>
          <p:cNvPr id="5" name="Text 2"/>
          <p:cNvSpPr/>
          <p:nvPr/>
        </p:nvSpPr>
        <p:spPr>
          <a:xfrm>
            <a:off x="457200" y="777240"/>
            <a:ext cx="8686800" cy="548640"/>
          </a:xfrm>
          <a:prstGeom prst="rect">
            <a:avLst/>
          </a:prstGeom>
          <a:noFill/>
          <a:ln/>
        </p:spPr>
        <p:txBody>
          <a:bodyPr wrap="square" lIns="0" tIns="0" rIns="0" bIns="0" rtlCol="0" anchor="ctr"/>
          <a:lstStyle/>
          <a:p>
            <a:pPr indent="0" marL="0">
              <a:buNone/>
            </a:pPr>
            <a:r>
              <a:rPr lang="en-US" sz="2600" b="1" dirty="0">
                <a:solidFill>
                  <a:srgbClr val="2A446F"/>
                </a:solidFill>
                <a:latin typeface="Segoe UI" pitchFamily="34" charset="0"/>
                <a:ea typeface="Segoe UI" pitchFamily="34" charset="-122"/>
                <a:cs typeface="Segoe UI" pitchFamily="34" charset="-120"/>
              </a:rPr>
              <a:t>Five specialist agents. Zero hallucinations.</a:t>
            </a:r>
            <a:endParaRPr lang="en-US" sz="2600" dirty="0"/>
          </a:p>
        </p:txBody>
      </p:sp>
      <p:sp>
        <p:nvSpPr>
          <p:cNvPr id="6" name="Shape 3"/>
          <p:cNvSpPr/>
          <p:nvPr/>
        </p:nvSpPr>
        <p:spPr>
          <a:xfrm>
            <a:off x="457200" y="1417320"/>
            <a:ext cx="8229600" cy="0"/>
          </a:xfrm>
          <a:prstGeom prst="line">
            <a:avLst/>
          </a:prstGeom>
          <a:noFill/>
          <a:ln w="9525">
            <a:solidFill>
              <a:srgbClr val="EAD9C9"/>
            </a:solidFill>
            <a:prstDash val="solid"/>
          </a:ln>
        </p:spPr>
      </p:sp>
      <p:sp>
        <p:nvSpPr>
          <p:cNvPr id="7" name="Shape 4"/>
          <p:cNvSpPr/>
          <p:nvPr/>
        </p:nvSpPr>
        <p:spPr>
          <a:xfrm>
            <a:off x="502920" y="1691640"/>
            <a:ext cx="2560320" cy="128016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8" name="Shape 5"/>
          <p:cNvSpPr/>
          <p:nvPr/>
        </p:nvSpPr>
        <p:spPr>
          <a:xfrm>
            <a:off x="502920" y="1691640"/>
            <a:ext cx="91440" cy="1280160"/>
          </a:xfrm>
          <a:prstGeom prst="rect">
            <a:avLst/>
          </a:prstGeom>
          <a:solidFill>
            <a:srgbClr val="0078D4"/>
          </a:solidFill>
          <a:ln w="12700">
            <a:solidFill>
              <a:srgbClr val="0078D4"/>
            </a:solidFill>
            <a:prstDash val="solid"/>
          </a:ln>
        </p:spPr>
      </p:sp>
      <p:sp>
        <p:nvSpPr>
          <p:cNvPr id="9" name="Shape 6"/>
          <p:cNvSpPr/>
          <p:nvPr/>
        </p:nvSpPr>
        <p:spPr>
          <a:xfrm>
            <a:off x="758952" y="1892808"/>
            <a:ext cx="457200" cy="457200"/>
          </a:xfrm>
          <a:prstGeom prst="ellipse">
            <a:avLst/>
          </a:prstGeom>
          <a:solidFill>
            <a:srgbClr val="0078D4"/>
          </a:solidFill>
          <a:ln w="12700">
            <a:solidFill>
              <a:srgbClr val="0078D4"/>
            </a:solidFill>
            <a:prstDash val="solid"/>
          </a:ln>
        </p:spPr>
      </p:sp>
      <p:pic>
        <p:nvPicPr>
          <p:cNvPr id="10" name="Image 0" descr="preencoded.png">    </p:cNvPr>
          <p:cNvPicPr>
            <a:picLocks noChangeAspect="1"/>
          </p:cNvPicPr>
          <p:nvPr/>
        </p:nvPicPr>
        <p:blipFill>
          <a:blip r:embed="rId1"/>
          <a:stretch>
            <a:fillRect/>
          </a:stretch>
        </p:blipFill>
        <p:spPr>
          <a:xfrm>
            <a:off x="832104" y="1965960"/>
            <a:ext cx="310896" cy="310896"/>
          </a:xfrm>
          <a:prstGeom prst="rect">
            <a:avLst/>
          </a:prstGeom>
        </p:spPr>
      </p:pic>
      <p:sp>
        <p:nvSpPr>
          <p:cNvPr id="11" name="Text 7"/>
          <p:cNvSpPr/>
          <p:nvPr/>
        </p:nvSpPr>
        <p:spPr>
          <a:xfrm>
            <a:off x="1325880" y="1856232"/>
            <a:ext cx="1691640" cy="365760"/>
          </a:xfrm>
          <a:prstGeom prst="rect">
            <a:avLst/>
          </a:prstGeom>
          <a:noFill/>
          <a:ln/>
        </p:spPr>
        <p:txBody>
          <a:bodyPr wrap="square" lIns="0" tIns="0" rIns="0" bIns="0" rtlCol="0" anchor="ctr"/>
          <a:lstStyle/>
          <a:p>
            <a:pPr indent="0" marL="0">
              <a:buNone/>
            </a:pPr>
            <a:r>
              <a:rPr lang="en-US" sz="1500" b="1" dirty="0">
                <a:solidFill>
                  <a:srgbClr val="2A446F"/>
                </a:solidFill>
                <a:latin typeface="Segoe UI" pitchFamily="34" charset="0"/>
                <a:ea typeface="Segoe UI" pitchFamily="34" charset="-122"/>
                <a:cs typeface="Segoe UI" pitchFamily="34" charset="-120"/>
              </a:rPr>
              <a:t>Network Agent</a:t>
            </a:r>
            <a:endParaRPr lang="en-US" sz="1500" dirty="0"/>
          </a:p>
        </p:txBody>
      </p:sp>
      <p:sp>
        <p:nvSpPr>
          <p:cNvPr id="12" name="Text 8"/>
          <p:cNvSpPr/>
          <p:nvPr/>
        </p:nvSpPr>
        <p:spPr>
          <a:xfrm>
            <a:off x="758952" y="2441448"/>
            <a:ext cx="2194560" cy="457200"/>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Localizes the fault, pulls BTS evidence</a:t>
            </a:r>
            <a:endParaRPr lang="en-US" sz="1100" dirty="0"/>
          </a:p>
        </p:txBody>
      </p:sp>
      <p:sp>
        <p:nvSpPr>
          <p:cNvPr id="13" name="Shape 9"/>
          <p:cNvSpPr/>
          <p:nvPr/>
        </p:nvSpPr>
        <p:spPr>
          <a:xfrm>
            <a:off x="3246120" y="1691640"/>
            <a:ext cx="2560320" cy="128016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14" name="Shape 10"/>
          <p:cNvSpPr/>
          <p:nvPr/>
        </p:nvSpPr>
        <p:spPr>
          <a:xfrm>
            <a:off x="3246120" y="1691640"/>
            <a:ext cx="91440" cy="1280160"/>
          </a:xfrm>
          <a:prstGeom prst="rect">
            <a:avLst/>
          </a:prstGeom>
          <a:solidFill>
            <a:srgbClr val="35517E"/>
          </a:solidFill>
          <a:ln w="12700">
            <a:solidFill>
              <a:srgbClr val="35517E"/>
            </a:solidFill>
            <a:prstDash val="solid"/>
          </a:ln>
        </p:spPr>
      </p:sp>
      <p:sp>
        <p:nvSpPr>
          <p:cNvPr id="15" name="Shape 11"/>
          <p:cNvSpPr/>
          <p:nvPr/>
        </p:nvSpPr>
        <p:spPr>
          <a:xfrm>
            <a:off x="3502152" y="1892808"/>
            <a:ext cx="457200" cy="457200"/>
          </a:xfrm>
          <a:prstGeom prst="ellipse">
            <a:avLst/>
          </a:prstGeom>
          <a:solidFill>
            <a:srgbClr val="35517E"/>
          </a:solidFill>
          <a:ln w="12700">
            <a:solidFill>
              <a:srgbClr val="35517E"/>
            </a:solidFill>
            <a:prstDash val="solid"/>
          </a:ln>
        </p:spPr>
      </p:sp>
      <p:pic>
        <p:nvPicPr>
          <p:cNvPr id="16" name="Image 1" descr="preencoded.png">    </p:cNvPr>
          <p:cNvPicPr>
            <a:picLocks noChangeAspect="1"/>
          </p:cNvPicPr>
          <p:nvPr/>
        </p:nvPicPr>
        <p:blipFill>
          <a:blip r:embed="rId2"/>
          <a:stretch>
            <a:fillRect/>
          </a:stretch>
        </p:blipFill>
        <p:spPr>
          <a:xfrm>
            <a:off x="3575304" y="1965960"/>
            <a:ext cx="310896" cy="310896"/>
          </a:xfrm>
          <a:prstGeom prst="rect">
            <a:avLst/>
          </a:prstGeom>
        </p:spPr>
      </p:pic>
      <p:sp>
        <p:nvSpPr>
          <p:cNvPr id="17" name="Text 12"/>
          <p:cNvSpPr/>
          <p:nvPr/>
        </p:nvSpPr>
        <p:spPr>
          <a:xfrm>
            <a:off x="4069080" y="1856232"/>
            <a:ext cx="1691640" cy="365760"/>
          </a:xfrm>
          <a:prstGeom prst="rect">
            <a:avLst/>
          </a:prstGeom>
          <a:noFill/>
          <a:ln/>
        </p:spPr>
        <p:txBody>
          <a:bodyPr wrap="square" lIns="0" tIns="0" rIns="0" bIns="0" rtlCol="0" anchor="ctr"/>
          <a:lstStyle/>
          <a:p>
            <a:pPr indent="0" marL="0">
              <a:buNone/>
            </a:pPr>
            <a:r>
              <a:rPr lang="en-US" sz="1500" b="1" dirty="0">
                <a:solidFill>
                  <a:srgbClr val="2A446F"/>
                </a:solidFill>
                <a:latin typeface="Segoe UI" pitchFamily="34" charset="0"/>
                <a:ea typeface="Segoe UI" pitchFamily="34" charset="-122"/>
                <a:cs typeface="Segoe UI" pitchFamily="34" charset="-120"/>
              </a:rPr>
              <a:t>Revenue Agent</a:t>
            </a:r>
            <a:endParaRPr lang="en-US" sz="1500" dirty="0"/>
          </a:p>
        </p:txBody>
      </p:sp>
      <p:sp>
        <p:nvSpPr>
          <p:cNvPr id="18" name="Text 13"/>
          <p:cNvSpPr/>
          <p:nvPr/>
        </p:nvSpPr>
        <p:spPr>
          <a:xfrm>
            <a:off x="3502152" y="2441448"/>
            <a:ext cx="2194560" cy="457200"/>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Spots leakage in recharge &amp; billing streams</a:t>
            </a:r>
            <a:endParaRPr lang="en-US" sz="1100" dirty="0"/>
          </a:p>
        </p:txBody>
      </p:sp>
      <p:sp>
        <p:nvSpPr>
          <p:cNvPr id="19" name="Shape 14"/>
          <p:cNvSpPr/>
          <p:nvPr/>
        </p:nvSpPr>
        <p:spPr>
          <a:xfrm>
            <a:off x="5989320" y="1691640"/>
            <a:ext cx="2560320" cy="128016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20" name="Shape 15"/>
          <p:cNvSpPr/>
          <p:nvPr/>
        </p:nvSpPr>
        <p:spPr>
          <a:xfrm>
            <a:off x="5989320" y="1691640"/>
            <a:ext cx="91440" cy="1280160"/>
          </a:xfrm>
          <a:prstGeom prst="rect">
            <a:avLst/>
          </a:prstGeom>
          <a:solidFill>
            <a:srgbClr val="FF9176"/>
          </a:solidFill>
          <a:ln w="12700">
            <a:solidFill>
              <a:srgbClr val="FF9176"/>
            </a:solidFill>
            <a:prstDash val="solid"/>
          </a:ln>
        </p:spPr>
      </p:sp>
      <p:sp>
        <p:nvSpPr>
          <p:cNvPr id="21" name="Shape 16"/>
          <p:cNvSpPr/>
          <p:nvPr/>
        </p:nvSpPr>
        <p:spPr>
          <a:xfrm>
            <a:off x="6245352" y="1892808"/>
            <a:ext cx="457200" cy="457200"/>
          </a:xfrm>
          <a:prstGeom prst="ellipse">
            <a:avLst/>
          </a:prstGeom>
          <a:solidFill>
            <a:srgbClr val="FF9176"/>
          </a:solidFill>
          <a:ln w="12700">
            <a:solidFill>
              <a:srgbClr val="FF9176"/>
            </a:solidFill>
            <a:prstDash val="solid"/>
          </a:ln>
        </p:spPr>
      </p:sp>
      <p:pic>
        <p:nvPicPr>
          <p:cNvPr id="22" name="Image 2" descr="preencoded.png">    </p:cNvPr>
          <p:cNvPicPr>
            <a:picLocks noChangeAspect="1"/>
          </p:cNvPicPr>
          <p:nvPr/>
        </p:nvPicPr>
        <p:blipFill>
          <a:blip r:embed="rId3"/>
          <a:stretch>
            <a:fillRect/>
          </a:stretch>
        </p:blipFill>
        <p:spPr>
          <a:xfrm>
            <a:off x="6318504" y="1965960"/>
            <a:ext cx="310896" cy="310896"/>
          </a:xfrm>
          <a:prstGeom prst="rect">
            <a:avLst/>
          </a:prstGeom>
        </p:spPr>
      </p:pic>
      <p:sp>
        <p:nvSpPr>
          <p:cNvPr id="23" name="Text 17"/>
          <p:cNvSpPr/>
          <p:nvPr/>
        </p:nvSpPr>
        <p:spPr>
          <a:xfrm>
            <a:off x="6812280" y="1856232"/>
            <a:ext cx="1691640" cy="365760"/>
          </a:xfrm>
          <a:prstGeom prst="rect">
            <a:avLst/>
          </a:prstGeom>
          <a:noFill/>
          <a:ln/>
        </p:spPr>
        <p:txBody>
          <a:bodyPr wrap="square" lIns="0" tIns="0" rIns="0" bIns="0" rtlCol="0" anchor="ctr"/>
          <a:lstStyle/>
          <a:p>
            <a:pPr indent="0" marL="0">
              <a:buNone/>
            </a:pPr>
            <a:r>
              <a:rPr lang="en-US" sz="1500" b="1" dirty="0">
                <a:solidFill>
                  <a:srgbClr val="2A446F"/>
                </a:solidFill>
                <a:latin typeface="Segoe UI" pitchFamily="34" charset="0"/>
                <a:ea typeface="Segoe UI" pitchFamily="34" charset="-122"/>
                <a:cs typeface="Segoe UI" pitchFamily="34" charset="-120"/>
              </a:rPr>
              <a:t>Customer Agent</a:t>
            </a:r>
            <a:endParaRPr lang="en-US" sz="1500" dirty="0"/>
          </a:p>
        </p:txBody>
      </p:sp>
      <p:sp>
        <p:nvSpPr>
          <p:cNvPr id="24" name="Text 18"/>
          <p:cNvSpPr/>
          <p:nvPr/>
        </p:nvSpPr>
        <p:spPr>
          <a:xfrm>
            <a:off x="6245352" y="2441448"/>
            <a:ext cx="2194560" cy="457200"/>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Reads complaints, projects churn risk</a:t>
            </a:r>
            <a:endParaRPr lang="en-US" sz="1100" dirty="0"/>
          </a:p>
        </p:txBody>
      </p:sp>
      <p:sp>
        <p:nvSpPr>
          <p:cNvPr id="25" name="Shape 19"/>
          <p:cNvSpPr/>
          <p:nvPr/>
        </p:nvSpPr>
        <p:spPr>
          <a:xfrm>
            <a:off x="1508760" y="3108960"/>
            <a:ext cx="2560320" cy="128016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26" name="Shape 20"/>
          <p:cNvSpPr/>
          <p:nvPr/>
        </p:nvSpPr>
        <p:spPr>
          <a:xfrm>
            <a:off x="1508760" y="3108960"/>
            <a:ext cx="91440" cy="1280160"/>
          </a:xfrm>
          <a:prstGeom prst="rect">
            <a:avLst/>
          </a:prstGeom>
          <a:solidFill>
            <a:srgbClr val="2A446F"/>
          </a:solidFill>
          <a:ln w="12700">
            <a:solidFill>
              <a:srgbClr val="2A446F"/>
            </a:solidFill>
            <a:prstDash val="solid"/>
          </a:ln>
        </p:spPr>
      </p:sp>
      <p:sp>
        <p:nvSpPr>
          <p:cNvPr id="27" name="Shape 21"/>
          <p:cNvSpPr/>
          <p:nvPr/>
        </p:nvSpPr>
        <p:spPr>
          <a:xfrm>
            <a:off x="1764792" y="3310128"/>
            <a:ext cx="457200" cy="457200"/>
          </a:xfrm>
          <a:prstGeom prst="ellipse">
            <a:avLst/>
          </a:prstGeom>
          <a:solidFill>
            <a:srgbClr val="2A446F"/>
          </a:solidFill>
          <a:ln w="12700">
            <a:solidFill>
              <a:srgbClr val="2A446F"/>
            </a:solidFill>
            <a:prstDash val="solid"/>
          </a:ln>
        </p:spPr>
      </p:sp>
      <p:pic>
        <p:nvPicPr>
          <p:cNvPr id="28" name="Image 3" descr="preencoded.png">    </p:cNvPr>
          <p:cNvPicPr>
            <a:picLocks noChangeAspect="1"/>
          </p:cNvPicPr>
          <p:nvPr/>
        </p:nvPicPr>
        <p:blipFill>
          <a:blip r:embed="rId4"/>
          <a:stretch>
            <a:fillRect/>
          </a:stretch>
        </p:blipFill>
        <p:spPr>
          <a:xfrm>
            <a:off x="1837944" y="3383280"/>
            <a:ext cx="310896" cy="310896"/>
          </a:xfrm>
          <a:prstGeom prst="rect">
            <a:avLst/>
          </a:prstGeom>
        </p:spPr>
      </p:pic>
      <p:sp>
        <p:nvSpPr>
          <p:cNvPr id="29" name="Text 22"/>
          <p:cNvSpPr/>
          <p:nvPr/>
        </p:nvSpPr>
        <p:spPr>
          <a:xfrm>
            <a:off x="2331720" y="3273552"/>
            <a:ext cx="1691640" cy="365760"/>
          </a:xfrm>
          <a:prstGeom prst="rect">
            <a:avLst/>
          </a:prstGeom>
          <a:noFill/>
          <a:ln/>
        </p:spPr>
        <p:txBody>
          <a:bodyPr wrap="square" lIns="0" tIns="0" rIns="0" bIns="0" rtlCol="0" anchor="ctr"/>
          <a:lstStyle/>
          <a:p>
            <a:pPr indent="0" marL="0">
              <a:buNone/>
            </a:pPr>
            <a:r>
              <a:rPr lang="en-US" sz="1500" b="1" dirty="0">
                <a:solidFill>
                  <a:srgbClr val="2A446F"/>
                </a:solidFill>
                <a:latin typeface="Segoe UI" pitchFamily="34" charset="0"/>
                <a:ea typeface="Segoe UI" pitchFamily="34" charset="-122"/>
                <a:cs typeface="Segoe UI" pitchFamily="34" charset="-120"/>
              </a:rPr>
              <a:t>Mitigation Agent</a:t>
            </a:r>
            <a:endParaRPr lang="en-US" sz="1500" dirty="0"/>
          </a:p>
        </p:txBody>
      </p:sp>
      <p:sp>
        <p:nvSpPr>
          <p:cNvPr id="30" name="Text 23"/>
          <p:cNvSpPr/>
          <p:nvPr/>
        </p:nvSpPr>
        <p:spPr>
          <a:xfrm>
            <a:off x="1764792" y="3858768"/>
            <a:ext cx="2194560" cy="457200"/>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Simulates options, ranks by impact + cost</a:t>
            </a:r>
            <a:endParaRPr lang="en-US" sz="1100" dirty="0"/>
          </a:p>
        </p:txBody>
      </p:sp>
      <p:sp>
        <p:nvSpPr>
          <p:cNvPr id="31" name="Shape 24"/>
          <p:cNvSpPr/>
          <p:nvPr/>
        </p:nvSpPr>
        <p:spPr>
          <a:xfrm>
            <a:off x="4251960" y="3108960"/>
            <a:ext cx="2560320" cy="128016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32" name="Shape 25"/>
          <p:cNvSpPr/>
          <p:nvPr/>
        </p:nvSpPr>
        <p:spPr>
          <a:xfrm>
            <a:off x="4251960" y="3108960"/>
            <a:ext cx="91440" cy="1280160"/>
          </a:xfrm>
          <a:prstGeom prst="rect">
            <a:avLst/>
          </a:prstGeom>
          <a:solidFill>
            <a:srgbClr val="1F5A9C"/>
          </a:solidFill>
          <a:ln w="12700">
            <a:solidFill>
              <a:srgbClr val="1F5A9C"/>
            </a:solidFill>
            <a:prstDash val="solid"/>
          </a:ln>
        </p:spPr>
      </p:sp>
      <p:sp>
        <p:nvSpPr>
          <p:cNvPr id="33" name="Shape 26"/>
          <p:cNvSpPr/>
          <p:nvPr/>
        </p:nvSpPr>
        <p:spPr>
          <a:xfrm>
            <a:off x="4507992" y="3310128"/>
            <a:ext cx="457200" cy="457200"/>
          </a:xfrm>
          <a:prstGeom prst="ellipse">
            <a:avLst/>
          </a:prstGeom>
          <a:solidFill>
            <a:srgbClr val="1F5A9C"/>
          </a:solidFill>
          <a:ln w="12700">
            <a:solidFill>
              <a:srgbClr val="1F5A9C"/>
            </a:solidFill>
            <a:prstDash val="solid"/>
          </a:ln>
        </p:spPr>
      </p:sp>
      <p:pic>
        <p:nvPicPr>
          <p:cNvPr id="34" name="Image 4" descr="preencoded.png">    </p:cNvPr>
          <p:cNvPicPr>
            <a:picLocks noChangeAspect="1"/>
          </p:cNvPicPr>
          <p:nvPr/>
        </p:nvPicPr>
        <p:blipFill>
          <a:blip r:embed="rId5"/>
          <a:stretch>
            <a:fillRect/>
          </a:stretch>
        </p:blipFill>
        <p:spPr>
          <a:xfrm>
            <a:off x="4581144" y="3383280"/>
            <a:ext cx="310896" cy="310896"/>
          </a:xfrm>
          <a:prstGeom prst="rect">
            <a:avLst/>
          </a:prstGeom>
        </p:spPr>
      </p:pic>
      <p:sp>
        <p:nvSpPr>
          <p:cNvPr id="35" name="Text 27"/>
          <p:cNvSpPr/>
          <p:nvPr/>
        </p:nvSpPr>
        <p:spPr>
          <a:xfrm>
            <a:off x="5074920" y="3273552"/>
            <a:ext cx="1691640" cy="365760"/>
          </a:xfrm>
          <a:prstGeom prst="rect">
            <a:avLst/>
          </a:prstGeom>
          <a:noFill/>
          <a:ln/>
        </p:spPr>
        <p:txBody>
          <a:bodyPr wrap="square" lIns="0" tIns="0" rIns="0" bIns="0" rtlCol="0" anchor="ctr"/>
          <a:lstStyle/>
          <a:p>
            <a:pPr indent="0" marL="0">
              <a:buNone/>
            </a:pPr>
            <a:r>
              <a:rPr lang="en-US" sz="1500" b="1" dirty="0">
                <a:solidFill>
                  <a:srgbClr val="2A446F"/>
                </a:solidFill>
                <a:latin typeface="Segoe UI" pitchFamily="34" charset="0"/>
                <a:ea typeface="Segoe UI" pitchFamily="34" charset="-122"/>
                <a:cs typeface="Segoe UI" pitchFamily="34" charset="-120"/>
              </a:rPr>
              <a:t>Compliance Agent</a:t>
            </a:r>
            <a:endParaRPr lang="en-US" sz="1500" dirty="0"/>
          </a:p>
        </p:txBody>
      </p:sp>
      <p:sp>
        <p:nvSpPr>
          <p:cNvPr id="36" name="Text 28"/>
          <p:cNvSpPr/>
          <p:nvPr/>
        </p:nvSpPr>
        <p:spPr>
          <a:xfrm>
            <a:off x="4507992" y="3858768"/>
            <a:ext cx="2194560" cy="457200"/>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Drafts NCC notes, assembles evidence pack</a:t>
            </a:r>
            <a:endParaRPr lang="en-US" sz="1100" dirty="0"/>
          </a:p>
        </p:txBody>
      </p:sp>
      <p:sp>
        <p:nvSpPr>
          <p:cNvPr id="37" name="Shape 29"/>
          <p:cNvSpPr/>
          <p:nvPr/>
        </p:nvSpPr>
        <p:spPr>
          <a:xfrm>
            <a:off x="502920" y="4526280"/>
            <a:ext cx="8138160" cy="384048"/>
          </a:xfrm>
          <a:prstGeom prst="rect">
            <a:avLst/>
          </a:prstGeom>
          <a:solidFill>
            <a:srgbClr val="2A446F"/>
          </a:solidFill>
          <a:ln w="12700">
            <a:solidFill>
              <a:srgbClr val="2A446F"/>
            </a:solidFill>
            <a:prstDash val="solid"/>
          </a:ln>
        </p:spPr>
      </p:sp>
      <p:sp>
        <p:nvSpPr>
          <p:cNvPr id="38" name="Text 30"/>
          <p:cNvSpPr/>
          <p:nvPr/>
        </p:nvSpPr>
        <p:spPr>
          <a:xfrm>
            <a:off x="502920" y="4526280"/>
            <a:ext cx="813816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Segoe UI" pitchFamily="34" charset="0"/>
                <a:ea typeface="Segoe UI" pitchFamily="34" charset="-122"/>
                <a:cs typeface="Segoe UI" pitchFamily="34" charset="-120"/>
              </a:rPr>
              <a:t>Every claim — every KPI, naira figure, subscriber count — must trace to a tool call. ClaimValidator strips the rest.</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F3"/>
        </a:solidFill>
      </p:bgPr>
    </p:bg>
    <p:spTree>
      <p:nvGrpSpPr>
        <p:cNvPr id="1" name=""/>
        <p:cNvGrpSpPr/>
        <p:nvPr/>
      </p:nvGrpSpPr>
      <p:grpSpPr>
        <a:xfrm>
          <a:off x="0" y="0"/>
          <a:ext cx="0" cy="0"/>
          <a:chOff x="0" y="0"/>
          <a:chExt cx="0" cy="0"/>
        </a:xfrm>
      </p:grpSpPr>
      <p:sp>
        <p:nvSpPr>
          <p:cNvPr id="3" name="Shape 0"/>
          <p:cNvSpPr/>
          <p:nvPr/>
        </p:nvSpPr>
        <p:spPr>
          <a:xfrm>
            <a:off x="457200" y="411480"/>
            <a:ext cx="164592" cy="292608"/>
          </a:xfrm>
          <a:prstGeom prst="rect">
            <a:avLst/>
          </a:prstGeom>
          <a:solidFill>
            <a:srgbClr val="0078D4"/>
          </a:solidFill>
          <a:ln w="12700">
            <a:solidFill>
              <a:srgbClr val="0078D4"/>
            </a:solidFill>
            <a:prstDash val="solid"/>
          </a:ln>
        </p:spPr>
      </p:sp>
      <p:sp>
        <p:nvSpPr>
          <p:cNvPr id="4" name="Text 1"/>
          <p:cNvSpPr/>
          <p:nvPr/>
        </p:nvSpPr>
        <p:spPr>
          <a:xfrm>
            <a:off x="713232" y="384048"/>
            <a:ext cx="7955280" cy="329184"/>
          </a:xfrm>
          <a:prstGeom prst="rect">
            <a:avLst/>
          </a:prstGeom>
          <a:noFill/>
          <a:ln/>
        </p:spPr>
        <p:txBody>
          <a:bodyPr wrap="square" lIns="0" tIns="0" rIns="0" bIns="0" rtlCol="0" anchor="ctr"/>
          <a:lstStyle/>
          <a:p>
            <a:pPr indent="0" marL="0">
              <a:buNone/>
            </a:pPr>
            <a:r>
              <a:rPr lang="en-US" sz="1100" b="1" spc="400" kern="0" dirty="0">
                <a:solidFill>
                  <a:srgbClr val="0078D4"/>
                </a:solidFill>
                <a:latin typeface="Segoe UI" pitchFamily="34" charset="0"/>
                <a:ea typeface="Segoe UI" pitchFamily="34" charset="-122"/>
                <a:cs typeface="Segoe UI" pitchFamily="34" charset="-120"/>
              </a:rPr>
              <a:t>AGENTIC SYSTEM DESIGN</a:t>
            </a:r>
            <a:endParaRPr lang="en-US" sz="1100" dirty="0"/>
          </a:p>
        </p:txBody>
      </p:sp>
      <p:sp>
        <p:nvSpPr>
          <p:cNvPr id="5" name="Text 2"/>
          <p:cNvSpPr/>
          <p:nvPr/>
        </p:nvSpPr>
        <p:spPr>
          <a:xfrm>
            <a:off x="457200" y="777240"/>
            <a:ext cx="8686800" cy="548640"/>
          </a:xfrm>
          <a:prstGeom prst="rect">
            <a:avLst/>
          </a:prstGeom>
          <a:noFill/>
          <a:ln/>
        </p:spPr>
        <p:txBody>
          <a:bodyPr wrap="square" lIns="0" tIns="0" rIns="0" bIns="0" rtlCol="0" anchor="ctr"/>
          <a:lstStyle/>
          <a:p>
            <a:pPr indent="0" marL="0">
              <a:buNone/>
            </a:pPr>
            <a:r>
              <a:rPr lang="en-US" sz="2600" b="1" dirty="0">
                <a:solidFill>
                  <a:srgbClr val="2A446F"/>
                </a:solidFill>
                <a:latin typeface="Segoe UI" pitchFamily="34" charset="0"/>
                <a:ea typeface="Segoe UI" pitchFamily="34" charset="-122"/>
                <a:cs typeface="Segoe UI" pitchFamily="34" charset="-120"/>
              </a:rPr>
              <a:t>Five agents.  Pluggable tools.  Any data system.</a:t>
            </a:r>
            <a:endParaRPr lang="en-US" sz="2600" dirty="0"/>
          </a:p>
        </p:txBody>
      </p:sp>
      <p:sp>
        <p:nvSpPr>
          <p:cNvPr id="6" name="Shape 3"/>
          <p:cNvSpPr/>
          <p:nvPr/>
        </p:nvSpPr>
        <p:spPr>
          <a:xfrm>
            <a:off x="457200" y="1417320"/>
            <a:ext cx="8229600" cy="0"/>
          </a:xfrm>
          <a:prstGeom prst="line">
            <a:avLst/>
          </a:prstGeom>
          <a:noFill/>
          <a:ln w="9525">
            <a:solidFill>
              <a:srgbClr val="EAD9C9"/>
            </a:solidFill>
            <a:prstDash val="solid"/>
          </a:ln>
        </p:spPr>
      </p:sp>
      <p:sp>
        <p:nvSpPr>
          <p:cNvPr id="7" name="Shape 4"/>
          <p:cNvSpPr/>
          <p:nvPr/>
        </p:nvSpPr>
        <p:spPr>
          <a:xfrm>
            <a:off x="502920" y="1627632"/>
            <a:ext cx="2103120" cy="365760"/>
          </a:xfrm>
          <a:prstGeom prst="rect">
            <a:avLst/>
          </a:prstGeom>
          <a:solidFill>
            <a:srgbClr val="2A446F"/>
          </a:solidFill>
          <a:ln w="12700">
            <a:solidFill>
              <a:srgbClr val="2A446F"/>
            </a:solidFill>
            <a:prstDash val="solid"/>
          </a:ln>
        </p:spPr>
      </p:sp>
      <p:sp>
        <p:nvSpPr>
          <p:cNvPr id="8" name="Text 5"/>
          <p:cNvSpPr/>
          <p:nvPr/>
        </p:nvSpPr>
        <p:spPr>
          <a:xfrm>
            <a:off x="502920" y="1627632"/>
            <a:ext cx="2103120" cy="36576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Segoe UI" pitchFamily="34" charset="0"/>
                <a:ea typeface="Segoe UI" pitchFamily="34" charset="-122"/>
                <a:cs typeface="Segoe UI" pitchFamily="34" charset="-120"/>
              </a:rPr>
              <a:t>AGENT</a:t>
            </a:r>
            <a:endParaRPr lang="en-US" sz="1000" dirty="0"/>
          </a:p>
        </p:txBody>
      </p:sp>
      <p:sp>
        <p:nvSpPr>
          <p:cNvPr id="9" name="Shape 6"/>
          <p:cNvSpPr/>
          <p:nvPr/>
        </p:nvSpPr>
        <p:spPr>
          <a:xfrm>
            <a:off x="2697480" y="1627632"/>
            <a:ext cx="3337560" cy="365760"/>
          </a:xfrm>
          <a:prstGeom prst="rect">
            <a:avLst/>
          </a:prstGeom>
          <a:solidFill>
            <a:srgbClr val="0078D4"/>
          </a:solidFill>
          <a:ln w="12700">
            <a:solidFill>
              <a:srgbClr val="0078D4"/>
            </a:solidFill>
            <a:prstDash val="solid"/>
          </a:ln>
        </p:spPr>
      </p:sp>
      <p:sp>
        <p:nvSpPr>
          <p:cNvPr id="10" name="Text 7"/>
          <p:cNvSpPr/>
          <p:nvPr/>
        </p:nvSpPr>
        <p:spPr>
          <a:xfrm>
            <a:off x="2697480" y="1627632"/>
            <a:ext cx="3337560" cy="36576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Segoe UI" pitchFamily="34" charset="0"/>
                <a:ea typeface="Segoe UI" pitchFamily="34" charset="-122"/>
                <a:cs typeface="Segoe UI" pitchFamily="34" charset="-120"/>
              </a:rPr>
              <a:t>TOOL  (SK function)</a:t>
            </a:r>
            <a:endParaRPr lang="en-US" sz="1000" dirty="0"/>
          </a:p>
        </p:txBody>
      </p:sp>
      <p:sp>
        <p:nvSpPr>
          <p:cNvPr id="11" name="Shape 8"/>
          <p:cNvSpPr/>
          <p:nvPr/>
        </p:nvSpPr>
        <p:spPr>
          <a:xfrm>
            <a:off x="6126480" y="1627632"/>
            <a:ext cx="2606040" cy="365760"/>
          </a:xfrm>
          <a:prstGeom prst="rect">
            <a:avLst/>
          </a:prstGeom>
          <a:solidFill>
            <a:srgbClr val="FFBBA8"/>
          </a:solidFill>
          <a:ln w="12700">
            <a:solidFill>
              <a:srgbClr val="FFBBA8"/>
            </a:solidFill>
            <a:prstDash val="solid"/>
          </a:ln>
        </p:spPr>
      </p:sp>
      <p:sp>
        <p:nvSpPr>
          <p:cNvPr id="12" name="Text 9"/>
          <p:cNvSpPr/>
          <p:nvPr/>
        </p:nvSpPr>
        <p:spPr>
          <a:xfrm>
            <a:off x="6126480" y="1627632"/>
            <a:ext cx="2606040" cy="36576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Segoe UI" pitchFamily="34" charset="0"/>
                <a:ea typeface="Segoe UI" pitchFamily="34" charset="-122"/>
                <a:cs typeface="Segoe UI" pitchFamily="34" charset="-120"/>
              </a:rPr>
              <a:t>EXTERNAL SYSTEM</a:t>
            </a:r>
            <a:endParaRPr lang="en-US" sz="1000" dirty="0"/>
          </a:p>
        </p:txBody>
      </p:sp>
      <p:sp>
        <p:nvSpPr>
          <p:cNvPr id="13" name="Shape 10"/>
          <p:cNvSpPr/>
          <p:nvPr/>
        </p:nvSpPr>
        <p:spPr>
          <a:xfrm>
            <a:off x="502920" y="2103120"/>
            <a:ext cx="2103120" cy="457200"/>
          </a:xfrm>
          <a:prstGeom prst="rect">
            <a:avLst/>
          </a:prstGeom>
          <a:solidFill>
            <a:srgbClr val="FFFFFF"/>
          </a:solidFill>
          <a:ln w="6350">
            <a:solidFill>
              <a:srgbClr val="EAD9C9"/>
            </a:solidFill>
            <a:prstDash val="solid"/>
          </a:ln>
        </p:spPr>
      </p:sp>
      <p:sp>
        <p:nvSpPr>
          <p:cNvPr id="14" name="Shape 11"/>
          <p:cNvSpPr/>
          <p:nvPr/>
        </p:nvSpPr>
        <p:spPr>
          <a:xfrm>
            <a:off x="502920" y="2103120"/>
            <a:ext cx="91440" cy="457200"/>
          </a:xfrm>
          <a:prstGeom prst="rect">
            <a:avLst/>
          </a:prstGeom>
          <a:solidFill>
            <a:srgbClr val="0078D4"/>
          </a:solidFill>
          <a:ln w="12700">
            <a:solidFill>
              <a:srgbClr val="0078D4"/>
            </a:solidFill>
            <a:prstDash val="solid"/>
          </a:ln>
        </p:spPr>
      </p:sp>
      <p:sp>
        <p:nvSpPr>
          <p:cNvPr id="15" name="Shape 12"/>
          <p:cNvSpPr/>
          <p:nvPr/>
        </p:nvSpPr>
        <p:spPr>
          <a:xfrm>
            <a:off x="704088" y="2194560"/>
            <a:ext cx="329184" cy="329184"/>
          </a:xfrm>
          <a:prstGeom prst="ellipse">
            <a:avLst/>
          </a:prstGeom>
          <a:solidFill>
            <a:srgbClr val="0078D4"/>
          </a:solidFill>
          <a:ln w="12700">
            <a:solidFill>
              <a:srgbClr val="0078D4"/>
            </a:solidFill>
            <a:prstDash val="solid"/>
          </a:ln>
        </p:spPr>
      </p:sp>
      <p:pic>
        <p:nvPicPr>
          <p:cNvPr id="16" name="Image 0" descr="preencoded.png">    </p:cNvPr>
          <p:cNvPicPr>
            <a:picLocks noChangeAspect="1"/>
          </p:cNvPicPr>
          <p:nvPr/>
        </p:nvPicPr>
        <p:blipFill>
          <a:blip r:embed="rId1"/>
          <a:stretch>
            <a:fillRect/>
          </a:stretch>
        </p:blipFill>
        <p:spPr>
          <a:xfrm>
            <a:off x="758952" y="2249424"/>
            <a:ext cx="219456" cy="219456"/>
          </a:xfrm>
          <a:prstGeom prst="rect">
            <a:avLst/>
          </a:prstGeom>
        </p:spPr>
      </p:pic>
      <p:sp>
        <p:nvSpPr>
          <p:cNvPr id="17" name="Text 13"/>
          <p:cNvSpPr/>
          <p:nvPr/>
        </p:nvSpPr>
        <p:spPr>
          <a:xfrm>
            <a:off x="1097280" y="2103120"/>
            <a:ext cx="1463040" cy="457200"/>
          </a:xfrm>
          <a:prstGeom prst="rect">
            <a:avLst/>
          </a:prstGeom>
          <a:noFill/>
          <a:ln/>
        </p:spPr>
        <p:txBody>
          <a:bodyPr wrap="square" lIns="0" tIns="0" rIns="0" bIns="0" rtlCol="0" anchor="ctr"/>
          <a:lstStyle/>
          <a:p>
            <a:pPr indent="0" marL="0">
              <a:buNone/>
            </a:pPr>
            <a:r>
              <a:rPr lang="en-US" sz="1200" b="1" dirty="0">
                <a:solidFill>
                  <a:srgbClr val="2A446F"/>
                </a:solidFill>
                <a:latin typeface="Segoe UI" pitchFamily="34" charset="0"/>
                <a:ea typeface="Segoe UI" pitchFamily="34" charset="-122"/>
                <a:cs typeface="Segoe UI" pitchFamily="34" charset="-120"/>
              </a:rPr>
              <a:t>Network Agent</a:t>
            </a:r>
            <a:endParaRPr lang="en-US" sz="1200" dirty="0"/>
          </a:p>
        </p:txBody>
      </p:sp>
      <p:sp>
        <p:nvSpPr>
          <p:cNvPr id="18" name="Shape 14"/>
          <p:cNvSpPr/>
          <p:nvPr/>
        </p:nvSpPr>
        <p:spPr>
          <a:xfrm>
            <a:off x="2606040" y="2331720"/>
            <a:ext cx="64008" cy="0"/>
          </a:xfrm>
          <a:prstGeom prst="line">
            <a:avLst/>
          </a:prstGeom>
          <a:noFill/>
          <a:ln w="15875">
            <a:solidFill>
              <a:srgbClr val="0078D4"/>
            </a:solidFill>
            <a:prstDash val="solid"/>
            <a:tailEnd type="triangle"/>
          </a:ln>
        </p:spPr>
      </p:sp>
      <p:sp>
        <p:nvSpPr>
          <p:cNvPr id="19" name="Shape 15"/>
          <p:cNvSpPr/>
          <p:nvPr/>
        </p:nvSpPr>
        <p:spPr>
          <a:xfrm>
            <a:off x="2697480" y="2103120"/>
            <a:ext cx="3337560" cy="457200"/>
          </a:xfrm>
          <a:prstGeom prst="rect">
            <a:avLst/>
          </a:prstGeom>
          <a:solidFill>
            <a:srgbClr val="FFFFFF"/>
          </a:solidFill>
          <a:ln w="6350">
            <a:solidFill>
              <a:srgbClr val="EAD9C9"/>
            </a:solidFill>
            <a:prstDash val="solid"/>
          </a:ln>
        </p:spPr>
      </p:sp>
      <p:sp>
        <p:nvSpPr>
          <p:cNvPr id="20" name="Text 16"/>
          <p:cNvSpPr/>
          <p:nvPr/>
        </p:nvSpPr>
        <p:spPr>
          <a:xfrm>
            <a:off x="2807208" y="2139696"/>
            <a:ext cx="3172968" cy="384048"/>
          </a:xfrm>
          <a:prstGeom prst="rect">
            <a:avLst/>
          </a:prstGeom>
          <a:noFill/>
          <a:ln/>
        </p:spPr>
        <p:txBody>
          <a:bodyPr wrap="square" lIns="0" tIns="0" rIns="0" bIns="0" rtlCol="0" anchor="ctr"/>
          <a:lstStyle/>
          <a:p>
            <a:pPr marL="342900" indent="-342900">
              <a:buSzPct val="100000"/>
              <a:buChar char="▪"/>
            </a:pPr>
            <a:r>
              <a:rPr lang="en-US" sz="950" dirty="0">
                <a:solidFill>
                  <a:srgbClr val="2A446F"/>
                </a:solidFill>
                <a:latin typeface="Consolas" pitchFamily="34" charset="0"/>
                <a:ea typeface="Consolas" pitchFamily="34" charset="-122"/>
                <a:cs typeface="Consolas" pitchFamily="34" charset="-120"/>
              </a:rPr>
              <a:t>get_incident_context()</a:t>
            </a:r>
            <a:endParaRPr lang="en-US" sz="950" dirty="0"/>
          </a:p>
          <a:p>
            <a:pPr marL="342900" indent="-342900">
              <a:buSzPct val="100000"/>
              <a:buChar char="▪"/>
            </a:pPr>
            <a:r>
              <a:rPr lang="en-US" sz="950" dirty="0">
                <a:solidFill>
                  <a:srgbClr val="2A446F"/>
                </a:solidFill>
                <a:latin typeface="Consolas" pitchFamily="34" charset="0"/>
                <a:ea typeface="Consolas" pitchFamily="34" charset="-122"/>
                <a:cs typeface="Consolas" pitchFamily="34" charset="-120"/>
              </a:rPr>
              <a:t>get_signal_evidence(net, bts)</a:t>
            </a:r>
            <a:endParaRPr lang="en-US" sz="950" dirty="0"/>
          </a:p>
        </p:txBody>
      </p:sp>
      <p:sp>
        <p:nvSpPr>
          <p:cNvPr id="21" name="Shape 17"/>
          <p:cNvSpPr/>
          <p:nvPr/>
        </p:nvSpPr>
        <p:spPr>
          <a:xfrm>
            <a:off x="6035040" y="2331720"/>
            <a:ext cx="164592" cy="0"/>
          </a:xfrm>
          <a:prstGeom prst="line">
            <a:avLst/>
          </a:prstGeom>
          <a:noFill/>
          <a:ln w="15875">
            <a:solidFill>
              <a:srgbClr val="6B7E9B"/>
            </a:solidFill>
            <a:prstDash val="dash"/>
            <a:tailEnd type="triangle"/>
          </a:ln>
        </p:spPr>
      </p:sp>
      <p:sp>
        <p:nvSpPr>
          <p:cNvPr id="22" name="Shape 18"/>
          <p:cNvSpPr/>
          <p:nvPr/>
        </p:nvSpPr>
        <p:spPr>
          <a:xfrm>
            <a:off x="6126480" y="2103120"/>
            <a:ext cx="2606040" cy="457200"/>
          </a:xfrm>
          <a:prstGeom prst="rect">
            <a:avLst/>
          </a:prstGeom>
          <a:solidFill>
            <a:srgbClr val="FFFFFF"/>
          </a:solidFill>
          <a:ln w="6350">
            <a:solidFill>
              <a:srgbClr val="EAD9C9"/>
            </a:solidFill>
            <a:prstDash val="solid"/>
          </a:ln>
        </p:spPr>
      </p:sp>
      <p:sp>
        <p:nvSpPr>
          <p:cNvPr id="23" name="Shape 19"/>
          <p:cNvSpPr/>
          <p:nvPr/>
        </p:nvSpPr>
        <p:spPr>
          <a:xfrm>
            <a:off x="6126480" y="2103120"/>
            <a:ext cx="73152" cy="457200"/>
          </a:xfrm>
          <a:prstGeom prst="rect">
            <a:avLst/>
          </a:prstGeom>
          <a:solidFill>
            <a:srgbClr val="FFBBA8"/>
          </a:solidFill>
          <a:ln w="12700">
            <a:solidFill>
              <a:srgbClr val="FFBBA8"/>
            </a:solidFill>
            <a:prstDash val="solid"/>
          </a:ln>
        </p:spPr>
      </p:sp>
      <p:sp>
        <p:nvSpPr>
          <p:cNvPr id="24" name="Text 20"/>
          <p:cNvSpPr/>
          <p:nvPr/>
        </p:nvSpPr>
        <p:spPr>
          <a:xfrm>
            <a:off x="6272784" y="2148840"/>
            <a:ext cx="2423160" cy="365760"/>
          </a:xfrm>
          <a:prstGeom prst="rect">
            <a:avLst/>
          </a:prstGeom>
          <a:noFill/>
          <a:ln/>
        </p:spPr>
        <p:txBody>
          <a:bodyPr wrap="square" lIns="0" tIns="0" rIns="0" bIns="0" rtlCol="0" anchor="ctr"/>
          <a:lstStyle/>
          <a:p>
            <a:pPr indent="0" marL="0">
              <a:buNone/>
            </a:pPr>
            <a:r>
              <a:rPr lang="en-US" sz="950" b="1" dirty="0">
                <a:solidFill>
                  <a:srgbClr val="2A446F"/>
                </a:solidFill>
                <a:latin typeface="Segoe UI" pitchFamily="34" charset="0"/>
                <a:ea typeface="Segoe UI" pitchFamily="34" charset="-122"/>
                <a:cs typeface="Segoe UI" pitchFamily="34" charset="-120"/>
              </a:rPr>
              <a:t>Network OSS · NMS · BTS</a:t>
            </a:r>
            <a:endParaRPr lang="en-US" sz="950" dirty="0"/>
          </a:p>
          <a:p>
            <a:pPr indent="0" marL="0">
              <a:buNone/>
            </a:pPr>
            <a:r>
              <a:rPr lang="en-US" sz="950" i="1" dirty="0">
                <a:solidFill>
                  <a:srgbClr val="6B7E9B"/>
                </a:solidFill>
                <a:latin typeface="Segoe UI" pitchFamily="34" charset="0"/>
                <a:ea typeface="Segoe UI" pitchFamily="34" charset="-122"/>
                <a:cs typeface="Segoe UI" pitchFamily="34" charset="-120"/>
              </a:rPr>
              <a:t>Ericsson · Huawei · Nokia</a:t>
            </a:r>
            <a:endParaRPr lang="en-US" sz="950" dirty="0"/>
          </a:p>
        </p:txBody>
      </p:sp>
      <p:sp>
        <p:nvSpPr>
          <p:cNvPr id="25" name="Shape 21"/>
          <p:cNvSpPr/>
          <p:nvPr/>
        </p:nvSpPr>
        <p:spPr>
          <a:xfrm>
            <a:off x="502920" y="2606040"/>
            <a:ext cx="2103120" cy="457200"/>
          </a:xfrm>
          <a:prstGeom prst="rect">
            <a:avLst/>
          </a:prstGeom>
          <a:solidFill>
            <a:srgbClr val="FFFFFF"/>
          </a:solidFill>
          <a:ln w="6350">
            <a:solidFill>
              <a:srgbClr val="EAD9C9"/>
            </a:solidFill>
            <a:prstDash val="solid"/>
          </a:ln>
        </p:spPr>
      </p:sp>
      <p:sp>
        <p:nvSpPr>
          <p:cNvPr id="26" name="Shape 22"/>
          <p:cNvSpPr/>
          <p:nvPr/>
        </p:nvSpPr>
        <p:spPr>
          <a:xfrm>
            <a:off x="502920" y="2606040"/>
            <a:ext cx="91440" cy="457200"/>
          </a:xfrm>
          <a:prstGeom prst="rect">
            <a:avLst/>
          </a:prstGeom>
          <a:solidFill>
            <a:srgbClr val="35517E"/>
          </a:solidFill>
          <a:ln w="12700">
            <a:solidFill>
              <a:srgbClr val="35517E"/>
            </a:solidFill>
            <a:prstDash val="solid"/>
          </a:ln>
        </p:spPr>
      </p:sp>
      <p:sp>
        <p:nvSpPr>
          <p:cNvPr id="27" name="Shape 23"/>
          <p:cNvSpPr/>
          <p:nvPr/>
        </p:nvSpPr>
        <p:spPr>
          <a:xfrm>
            <a:off x="704088" y="2697480"/>
            <a:ext cx="329184" cy="329184"/>
          </a:xfrm>
          <a:prstGeom prst="ellipse">
            <a:avLst/>
          </a:prstGeom>
          <a:solidFill>
            <a:srgbClr val="35517E"/>
          </a:solidFill>
          <a:ln w="12700">
            <a:solidFill>
              <a:srgbClr val="35517E"/>
            </a:solidFill>
            <a:prstDash val="solid"/>
          </a:ln>
        </p:spPr>
      </p:sp>
      <p:pic>
        <p:nvPicPr>
          <p:cNvPr id="28" name="Image 1" descr="preencoded.png">    </p:cNvPr>
          <p:cNvPicPr>
            <a:picLocks noChangeAspect="1"/>
          </p:cNvPicPr>
          <p:nvPr/>
        </p:nvPicPr>
        <p:blipFill>
          <a:blip r:embed="rId2"/>
          <a:stretch>
            <a:fillRect/>
          </a:stretch>
        </p:blipFill>
        <p:spPr>
          <a:xfrm>
            <a:off x="758952" y="2752344"/>
            <a:ext cx="219456" cy="219456"/>
          </a:xfrm>
          <a:prstGeom prst="rect">
            <a:avLst/>
          </a:prstGeom>
        </p:spPr>
      </p:pic>
      <p:sp>
        <p:nvSpPr>
          <p:cNvPr id="29" name="Text 24"/>
          <p:cNvSpPr/>
          <p:nvPr/>
        </p:nvSpPr>
        <p:spPr>
          <a:xfrm>
            <a:off x="1097280" y="2606040"/>
            <a:ext cx="1463040" cy="457200"/>
          </a:xfrm>
          <a:prstGeom prst="rect">
            <a:avLst/>
          </a:prstGeom>
          <a:noFill/>
          <a:ln/>
        </p:spPr>
        <p:txBody>
          <a:bodyPr wrap="square" lIns="0" tIns="0" rIns="0" bIns="0" rtlCol="0" anchor="ctr"/>
          <a:lstStyle/>
          <a:p>
            <a:pPr indent="0" marL="0">
              <a:buNone/>
            </a:pPr>
            <a:r>
              <a:rPr lang="en-US" sz="1200" b="1" dirty="0">
                <a:solidFill>
                  <a:srgbClr val="2A446F"/>
                </a:solidFill>
                <a:latin typeface="Segoe UI" pitchFamily="34" charset="0"/>
                <a:ea typeface="Segoe UI" pitchFamily="34" charset="-122"/>
                <a:cs typeface="Segoe UI" pitchFamily="34" charset="-120"/>
              </a:rPr>
              <a:t>Revenue Agent</a:t>
            </a:r>
            <a:endParaRPr lang="en-US" sz="1200" dirty="0"/>
          </a:p>
        </p:txBody>
      </p:sp>
      <p:sp>
        <p:nvSpPr>
          <p:cNvPr id="30" name="Shape 25"/>
          <p:cNvSpPr/>
          <p:nvPr/>
        </p:nvSpPr>
        <p:spPr>
          <a:xfrm>
            <a:off x="2606040" y="2834640"/>
            <a:ext cx="64008" cy="0"/>
          </a:xfrm>
          <a:prstGeom prst="line">
            <a:avLst/>
          </a:prstGeom>
          <a:noFill/>
          <a:ln w="15875">
            <a:solidFill>
              <a:srgbClr val="35517E"/>
            </a:solidFill>
            <a:prstDash val="solid"/>
            <a:tailEnd type="triangle"/>
          </a:ln>
        </p:spPr>
      </p:sp>
      <p:sp>
        <p:nvSpPr>
          <p:cNvPr id="31" name="Shape 26"/>
          <p:cNvSpPr/>
          <p:nvPr/>
        </p:nvSpPr>
        <p:spPr>
          <a:xfrm>
            <a:off x="2697480" y="2606040"/>
            <a:ext cx="3337560" cy="457200"/>
          </a:xfrm>
          <a:prstGeom prst="rect">
            <a:avLst/>
          </a:prstGeom>
          <a:solidFill>
            <a:srgbClr val="FFFFFF"/>
          </a:solidFill>
          <a:ln w="6350">
            <a:solidFill>
              <a:srgbClr val="EAD9C9"/>
            </a:solidFill>
            <a:prstDash val="solid"/>
          </a:ln>
        </p:spPr>
      </p:sp>
      <p:sp>
        <p:nvSpPr>
          <p:cNvPr id="32" name="Text 27"/>
          <p:cNvSpPr/>
          <p:nvPr/>
        </p:nvSpPr>
        <p:spPr>
          <a:xfrm>
            <a:off x="2807208" y="2642616"/>
            <a:ext cx="3172968" cy="384048"/>
          </a:xfrm>
          <a:prstGeom prst="rect">
            <a:avLst/>
          </a:prstGeom>
          <a:noFill/>
          <a:ln/>
        </p:spPr>
        <p:txBody>
          <a:bodyPr wrap="square" lIns="0" tIns="0" rIns="0" bIns="0" rtlCol="0" anchor="ctr"/>
          <a:lstStyle/>
          <a:p>
            <a:pPr marL="342900" indent="-342900">
              <a:buSzPct val="100000"/>
              <a:buChar char="▪"/>
            </a:pPr>
            <a:r>
              <a:rPr lang="en-US" sz="950" dirty="0">
                <a:solidFill>
                  <a:srgbClr val="2A446F"/>
                </a:solidFill>
                <a:latin typeface="Consolas" pitchFamily="34" charset="0"/>
                <a:ea typeface="Consolas" pitchFamily="34" charset="-122"/>
                <a:cs typeface="Consolas" pitchFamily="34" charset="-120"/>
              </a:rPr>
              <a:t>get_signal_evidence(billing, recharge)</a:t>
            </a:r>
            <a:endParaRPr lang="en-US" sz="950" dirty="0"/>
          </a:p>
          <a:p>
            <a:pPr marL="342900" indent="-342900">
              <a:buSzPct val="100000"/>
              <a:buChar char="▪"/>
            </a:pPr>
            <a:r>
              <a:rPr lang="en-US" sz="950" dirty="0">
                <a:solidFill>
                  <a:srgbClr val="2A446F"/>
                </a:solidFill>
                <a:latin typeface="Consolas" pitchFamily="34" charset="0"/>
                <a:ea typeface="Consolas" pitchFamily="34" charset="-122"/>
                <a:cs typeface="Consolas" pitchFamily="34" charset="-120"/>
              </a:rPr>
              <a:t>estimate_impact()</a:t>
            </a:r>
            <a:endParaRPr lang="en-US" sz="950" dirty="0"/>
          </a:p>
        </p:txBody>
      </p:sp>
      <p:sp>
        <p:nvSpPr>
          <p:cNvPr id="33" name="Shape 28"/>
          <p:cNvSpPr/>
          <p:nvPr/>
        </p:nvSpPr>
        <p:spPr>
          <a:xfrm>
            <a:off x="6035040" y="2834640"/>
            <a:ext cx="164592" cy="0"/>
          </a:xfrm>
          <a:prstGeom prst="line">
            <a:avLst/>
          </a:prstGeom>
          <a:noFill/>
          <a:ln w="15875">
            <a:solidFill>
              <a:srgbClr val="6B7E9B"/>
            </a:solidFill>
            <a:prstDash val="dash"/>
            <a:tailEnd type="triangle"/>
          </a:ln>
        </p:spPr>
      </p:sp>
      <p:sp>
        <p:nvSpPr>
          <p:cNvPr id="34" name="Shape 29"/>
          <p:cNvSpPr/>
          <p:nvPr/>
        </p:nvSpPr>
        <p:spPr>
          <a:xfrm>
            <a:off x="6126480" y="2606040"/>
            <a:ext cx="2606040" cy="457200"/>
          </a:xfrm>
          <a:prstGeom prst="rect">
            <a:avLst/>
          </a:prstGeom>
          <a:solidFill>
            <a:srgbClr val="FFFFFF"/>
          </a:solidFill>
          <a:ln w="6350">
            <a:solidFill>
              <a:srgbClr val="EAD9C9"/>
            </a:solidFill>
            <a:prstDash val="solid"/>
          </a:ln>
        </p:spPr>
      </p:sp>
      <p:sp>
        <p:nvSpPr>
          <p:cNvPr id="35" name="Shape 30"/>
          <p:cNvSpPr/>
          <p:nvPr/>
        </p:nvSpPr>
        <p:spPr>
          <a:xfrm>
            <a:off x="6126480" y="2606040"/>
            <a:ext cx="73152" cy="457200"/>
          </a:xfrm>
          <a:prstGeom prst="rect">
            <a:avLst/>
          </a:prstGeom>
          <a:solidFill>
            <a:srgbClr val="FFBBA8"/>
          </a:solidFill>
          <a:ln w="12700">
            <a:solidFill>
              <a:srgbClr val="FFBBA8"/>
            </a:solidFill>
            <a:prstDash val="solid"/>
          </a:ln>
        </p:spPr>
      </p:sp>
      <p:sp>
        <p:nvSpPr>
          <p:cNvPr id="36" name="Text 31"/>
          <p:cNvSpPr/>
          <p:nvPr/>
        </p:nvSpPr>
        <p:spPr>
          <a:xfrm>
            <a:off x="6272784" y="2651760"/>
            <a:ext cx="2423160" cy="365760"/>
          </a:xfrm>
          <a:prstGeom prst="rect">
            <a:avLst/>
          </a:prstGeom>
          <a:noFill/>
          <a:ln/>
        </p:spPr>
        <p:txBody>
          <a:bodyPr wrap="square" lIns="0" tIns="0" rIns="0" bIns="0" rtlCol="0" anchor="ctr"/>
          <a:lstStyle/>
          <a:p>
            <a:pPr indent="0" marL="0">
              <a:buNone/>
            </a:pPr>
            <a:r>
              <a:rPr lang="en-US" sz="950" b="1" dirty="0">
                <a:solidFill>
                  <a:srgbClr val="2A446F"/>
                </a:solidFill>
                <a:latin typeface="Segoe UI" pitchFamily="34" charset="0"/>
                <a:ea typeface="Segoe UI" pitchFamily="34" charset="-122"/>
                <a:cs typeface="Segoe UI" pitchFamily="34" charset="-120"/>
              </a:rPr>
              <a:t>Billing · Charging · Top-up</a:t>
            </a:r>
            <a:endParaRPr lang="en-US" sz="950" dirty="0"/>
          </a:p>
          <a:p>
            <a:pPr indent="0" marL="0">
              <a:buNone/>
            </a:pPr>
            <a:r>
              <a:rPr lang="en-US" sz="950" i="1" dirty="0">
                <a:solidFill>
                  <a:srgbClr val="6B7E9B"/>
                </a:solidFill>
                <a:latin typeface="Segoe UI" pitchFamily="34" charset="0"/>
                <a:ea typeface="Segoe UI" pitchFamily="34" charset="-122"/>
                <a:cs typeface="Segoe UI" pitchFamily="34" charset="-120"/>
              </a:rPr>
              <a:t>Amdocs · BSCS · Comviva</a:t>
            </a:r>
            <a:endParaRPr lang="en-US" sz="950" dirty="0"/>
          </a:p>
        </p:txBody>
      </p:sp>
      <p:sp>
        <p:nvSpPr>
          <p:cNvPr id="37" name="Shape 32"/>
          <p:cNvSpPr/>
          <p:nvPr/>
        </p:nvSpPr>
        <p:spPr>
          <a:xfrm>
            <a:off x="502920" y="3108960"/>
            <a:ext cx="2103120" cy="457200"/>
          </a:xfrm>
          <a:prstGeom prst="rect">
            <a:avLst/>
          </a:prstGeom>
          <a:solidFill>
            <a:srgbClr val="FFFFFF"/>
          </a:solidFill>
          <a:ln w="6350">
            <a:solidFill>
              <a:srgbClr val="EAD9C9"/>
            </a:solidFill>
            <a:prstDash val="solid"/>
          </a:ln>
        </p:spPr>
      </p:sp>
      <p:sp>
        <p:nvSpPr>
          <p:cNvPr id="38" name="Shape 33"/>
          <p:cNvSpPr/>
          <p:nvPr/>
        </p:nvSpPr>
        <p:spPr>
          <a:xfrm>
            <a:off x="502920" y="3108960"/>
            <a:ext cx="91440" cy="457200"/>
          </a:xfrm>
          <a:prstGeom prst="rect">
            <a:avLst/>
          </a:prstGeom>
          <a:solidFill>
            <a:srgbClr val="FF9176"/>
          </a:solidFill>
          <a:ln w="12700">
            <a:solidFill>
              <a:srgbClr val="FF9176"/>
            </a:solidFill>
            <a:prstDash val="solid"/>
          </a:ln>
        </p:spPr>
      </p:sp>
      <p:sp>
        <p:nvSpPr>
          <p:cNvPr id="39" name="Shape 34"/>
          <p:cNvSpPr/>
          <p:nvPr/>
        </p:nvSpPr>
        <p:spPr>
          <a:xfrm>
            <a:off x="704088" y="3200400"/>
            <a:ext cx="329184" cy="329184"/>
          </a:xfrm>
          <a:prstGeom prst="ellipse">
            <a:avLst/>
          </a:prstGeom>
          <a:solidFill>
            <a:srgbClr val="FF9176"/>
          </a:solidFill>
          <a:ln w="12700">
            <a:solidFill>
              <a:srgbClr val="FF9176"/>
            </a:solidFill>
            <a:prstDash val="solid"/>
          </a:ln>
        </p:spPr>
      </p:sp>
      <p:pic>
        <p:nvPicPr>
          <p:cNvPr id="40" name="Image 2" descr="preencoded.png">    </p:cNvPr>
          <p:cNvPicPr>
            <a:picLocks noChangeAspect="1"/>
          </p:cNvPicPr>
          <p:nvPr/>
        </p:nvPicPr>
        <p:blipFill>
          <a:blip r:embed="rId3"/>
          <a:stretch>
            <a:fillRect/>
          </a:stretch>
        </p:blipFill>
        <p:spPr>
          <a:xfrm>
            <a:off x="758952" y="3255264"/>
            <a:ext cx="219456" cy="219456"/>
          </a:xfrm>
          <a:prstGeom prst="rect">
            <a:avLst/>
          </a:prstGeom>
        </p:spPr>
      </p:pic>
      <p:sp>
        <p:nvSpPr>
          <p:cNvPr id="41" name="Text 35"/>
          <p:cNvSpPr/>
          <p:nvPr/>
        </p:nvSpPr>
        <p:spPr>
          <a:xfrm>
            <a:off x="1097280" y="3108960"/>
            <a:ext cx="1463040" cy="457200"/>
          </a:xfrm>
          <a:prstGeom prst="rect">
            <a:avLst/>
          </a:prstGeom>
          <a:noFill/>
          <a:ln/>
        </p:spPr>
        <p:txBody>
          <a:bodyPr wrap="square" lIns="0" tIns="0" rIns="0" bIns="0" rtlCol="0" anchor="ctr"/>
          <a:lstStyle/>
          <a:p>
            <a:pPr indent="0" marL="0">
              <a:buNone/>
            </a:pPr>
            <a:r>
              <a:rPr lang="en-US" sz="1200" b="1" dirty="0">
                <a:solidFill>
                  <a:srgbClr val="2A446F"/>
                </a:solidFill>
                <a:latin typeface="Segoe UI" pitchFamily="34" charset="0"/>
                <a:ea typeface="Segoe UI" pitchFamily="34" charset="-122"/>
                <a:cs typeface="Segoe UI" pitchFamily="34" charset="-120"/>
              </a:rPr>
              <a:t>Customer Agent</a:t>
            </a:r>
            <a:endParaRPr lang="en-US" sz="1200" dirty="0"/>
          </a:p>
        </p:txBody>
      </p:sp>
      <p:sp>
        <p:nvSpPr>
          <p:cNvPr id="42" name="Shape 36"/>
          <p:cNvSpPr/>
          <p:nvPr/>
        </p:nvSpPr>
        <p:spPr>
          <a:xfrm>
            <a:off x="2606040" y="3337560"/>
            <a:ext cx="64008" cy="0"/>
          </a:xfrm>
          <a:prstGeom prst="line">
            <a:avLst/>
          </a:prstGeom>
          <a:noFill/>
          <a:ln w="15875">
            <a:solidFill>
              <a:srgbClr val="FF9176"/>
            </a:solidFill>
            <a:prstDash val="solid"/>
            <a:tailEnd type="triangle"/>
          </a:ln>
        </p:spPr>
      </p:sp>
      <p:sp>
        <p:nvSpPr>
          <p:cNvPr id="43" name="Shape 37"/>
          <p:cNvSpPr/>
          <p:nvPr/>
        </p:nvSpPr>
        <p:spPr>
          <a:xfrm>
            <a:off x="2697480" y="3108960"/>
            <a:ext cx="3337560" cy="457200"/>
          </a:xfrm>
          <a:prstGeom prst="rect">
            <a:avLst/>
          </a:prstGeom>
          <a:solidFill>
            <a:srgbClr val="FFFFFF"/>
          </a:solidFill>
          <a:ln w="6350">
            <a:solidFill>
              <a:srgbClr val="EAD9C9"/>
            </a:solidFill>
            <a:prstDash val="solid"/>
          </a:ln>
        </p:spPr>
      </p:sp>
      <p:sp>
        <p:nvSpPr>
          <p:cNvPr id="44" name="Text 38"/>
          <p:cNvSpPr/>
          <p:nvPr/>
        </p:nvSpPr>
        <p:spPr>
          <a:xfrm>
            <a:off x="2807208" y="3145536"/>
            <a:ext cx="3172968" cy="384048"/>
          </a:xfrm>
          <a:prstGeom prst="rect">
            <a:avLst/>
          </a:prstGeom>
          <a:noFill/>
          <a:ln/>
        </p:spPr>
        <p:txBody>
          <a:bodyPr wrap="square" lIns="0" tIns="0" rIns="0" bIns="0" rtlCol="0" anchor="ctr"/>
          <a:lstStyle/>
          <a:p>
            <a:pPr marL="342900" indent="-342900">
              <a:buSzPct val="100000"/>
              <a:buChar char="▪"/>
            </a:pPr>
            <a:r>
              <a:rPr lang="en-US" sz="950" dirty="0">
                <a:solidFill>
                  <a:srgbClr val="2A446F"/>
                </a:solidFill>
                <a:latin typeface="Consolas" pitchFamily="34" charset="0"/>
                <a:ea typeface="Consolas" pitchFamily="34" charset="-122"/>
                <a:cs typeface="Consolas" pitchFamily="34" charset="-120"/>
              </a:rPr>
              <a:t>get_signal_evidence(complaints, social)</a:t>
            </a:r>
            <a:endParaRPr lang="en-US" sz="950" dirty="0"/>
          </a:p>
          <a:p>
            <a:pPr marL="342900" indent="-342900">
              <a:buSzPct val="100000"/>
              <a:buChar char="▪"/>
            </a:pPr>
            <a:r>
              <a:rPr lang="en-US" sz="950" dirty="0">
                <a:solidFill>
                  <a:srgbClr val="2A446F"/>
                </a:solidFill>
                <a:latin typeface="Consolas" pitchFamily="34" charset="0"/>
                <a:ea typeface="Consolas" pitchFamily="34" charset="-122"/>
                <a:cs typeface="Consolas" pitchFamily="34" charset="-120"/>
              </a:rPr>
              <a:t>estimate_impact()</a:t>
            </a:r>
            <a:endParaRPr lang="en-US" sz="950" dirty="0"/>
          </a:p>
        </p:txBody>
      </p:sp>
      <p:sp>
        <p:nvSpPr>
          <p:cNvPr id="45" name="Shape 39"/>
          <p:cNvSpPr/>
          <p:nvPr/>
        </p:nvSpPr>
        <p:spPr>
          <a:xfrm>
            <a:off x="6035040" y="3337560"/>
            <a:ext cx="164592" cy="0"/>
          </a:xfrm>
          <a:prstGeom prst="line">
            <a:avLst/>
          </a:prstGeom>
          <a:noFill/>
          <a:ln w="15875">
            <a:solidFill>
              <a:srgbClr val="6B7E9B"/>
            </a:solidFill>
            <a:prstDash val="dash"/>
            <a:tailEnd type="triangle"/>
          </a:ln>
        </p:spPr>
      </p:sp>
      <p:sp>
        <p:nvSpPr>
          <p:cNvPr id="46" name="Shape 40"/>
          <p:cNvSpPr/>
          <p:nvPr/>
        </p:nvSpPr>
        <p:spPr>
          <a:xfrm>
            <a:off x="6126480" y="3108960"/>
            <a:ext cx="2606040" cy="457200"/>
          </a:xfrm>
          <a:prstGeom prst="rect">
            <a:avLst/>
          </a:prstGeom>
          <a:solidFill>
            <a:srgbClr val="FFFFFF"/>
          </a:solidFill>
          <a:ln w="6350">
            <a:solidFill>
              <a:srgbClr val="EAD9C9"/>
            </a:solidFill>
            <a:prstDash val="solid"/>
          </a:ln>
        </p:spPr>
      </p:sp>
      <p:sp>
        <p:nvSpPr>
          <p:cNvPr id="47" name="Shape 41"/>
          <p:cNvSpPr/>
          <p:nvPr/>
        </p:nvSpPr>
        <p:spPr>
          <a:xfrm>
            <a:off x="6126480" y="3108960"/>
            <a:ext cx="73152" cy="457200"/>
          </a:xfrm>
          <a:prstGeom prst="rect">
            <a:avLst/>
          </a:prstGeom>
          <a:solidFill>
            <a:srgbClr val="FFBBA8"/>
          </a:solidFill>
          <a:ln w="12700">
            <a:solidFill>
              <a:srgbClr val="FFBBA8"/>
            </a:solidFill>
            <a:prstDash val="solid"/>
          </a:ln>
        </p:spPr>
      </p:sp>
      <p:sp>
        <p:nvSpPr>
          <p:cNvPr id="48" name="Text 42"/>
          <p:cNvSpPr/>
          <p:nvPr/>
        </p:nvSpPr>
        <p:spPr>
          <a:xfrm>
            <a:off x="6272784" y="3154680"/>
            <a:ext cx="2423160" cy="365760"/>
          </a:xfrm>
          <a:prstGeom prst="rect">
            <a:avLst/>
          </a:prstGeom>
          <a:noFill/>
          <a:ln/>
        </p:spPr>
        <p:txBody>
          <a:bodyPr wrap="square" lIns="0" tIns="0" rIns="0" bIns="0" rtlCol="0" anchor="ctr"/>
          <a:lstStyle/>
          <a:p>
            <a:pPr indent="0" marL="0">
              <a:buNone/>
            </a:pPr>
            <a:r>
              <a:rPr lang="en-US" sz="950" b="1" dirty="0">
                <a:solidFill>
                  <a:srgbClr val="2A446F"/>
                </a:solidFill>
                <a:latin typeface="Segoe UI" pitchFamily="34" charset="0"/>
                <a:ea typeface="Segoe UI" pitchFamily="34" charset="-122"/>
                <a:cs typeface="Segoe UI" pitchFamily="34" charset="-120"/>
              </a:rPr>
              <a:t>CRM · Contact Centre · Social</a:t>
            </a:r>
            <a:endParaRPr lang="en-US" sz="950" dirty="0"/>
          </a:p>
          <a:p>
            <a:pPr indent="0" marL="0">
              <a:buNone/>
            </a:pPr>
            <a:r>
              <a:rPr lang="en-US" sz="950" i="1" dirty="0">
                <a:solidFill>
                  <a:srgbClr val="6B7E9B"/>
                </a:solidFill>
                <a:latin typeface="Segoe UI" pitchFamily="34" charset="0"/>
                <a:ea typeface="Segoe UI" pitchFamily="34" charset="-122"/>
                <a:cs typeface="Segoe UI" pitchFamily="34" charset="-120"/>
              </a:rPr>
              <a:t>Salesforce · Genesys · X (API)</a:t>
            </a:r>
            <a:endParaRPr lang="en-US" sz="950" dirty="0"/>
          </a:p>
        </p:txBody>
      </p:sp>
      <p:sp>
        <p:nvSpPr>
          <p:cNvPr id="49" name="Shape 43"/>
          <p:cNvSpPr/>
          <p:nvPr/>
        </p:nvSpPr>
        <p:spPr>
          <a:xfrm>
            <a:off x="502920" y="3611880"/>
            <a:ext cx="2103120" cy="457200"/>
          </a:xfrm>
          <a:prstGeom prst="rect">
            <a:avLst/>
          </a:prstGeom>
          <a:solidFill>
            <a:srgbClr val="FFFFFF"/>
          </a:solidFill>
          <a:ln w="6350">
            <a:solidFill>
              <a:srgbClr val="EAD9C9"/>
            </a:solidFill>
            <a:prstDash val="solid"/>
          </a:ln>
        </p:spPr>
      </p:sp>
      <p:sp>
        <p:nvSpPr>
          <p:cNvPr id="50" name="Shape 44"/>
          <p:cNvSpPr/>
          <p:nvPr/>
        </p:nvSpPr>
        <p:spPr>
          <a:xfrm>
            <a:off x="502920" y="3611880"/>
            <a:ext cx="91440" cy="457200"/>
          </a:xfrm>
          <a:prstGeom prst="rect">
            <a:avLst/>
          </a:prstGeom>
          <a:solidFill>
            <a:srgbClr val="2A446F"/>
          </a:solidFill>
          <a:ln w="12700">
            <a:solidFill>
              <a:srgbClr val="2A446F"/>
            </a:solidFill>
            <a:prstDash val="solid"/>
          </a:ln>
        </p:spPr>
      </p:sp>
      <p:sp>
        <p:nvSpPr>
          <p:cNvPr id="51" name="Shape 45"/>
          <p:cNvSpPr/>
          <p:nvPr/>
        </p:nvSpPr>
        <p:spPr>
          <a:xfrm>
            <a:off x="704088" y="3703320"/>
            <a:ext cx="329184" cy="329184"/>
          </a:xfrm>
          <a:prstGeom prst="ellipse">
            <a:avLst/>
          </a:prstGeom>
          <a:solidFill>
            <a:srgbClr val="2A446F"/>
          </a:solidFill>
          <a:ln w="12700">
            <a:solidFill>
              <a:srgbClr val="2A446F"/>
            </a:solidFill>
            <a:prstDash val="solid"/>
          </a:ln>
        </p:spPr>
      </p:sp>
      <p:pic>
        <p:nvPicPr>
          <p:cNvPr id="52" name="Image 3" descr="preencoded.png">    </p:cNvPr>
          <p:cNvPicPr>
            <a:picLocks noChangeAspect="1"/>
          </p:cNvPicPr>
          <p:nvPr/>
        </p:nvPicPr>
        <p:blipFill>
          <a:blip r:embed="rId4"/>
          <a:stretch>
            <a:fillRect/>
          </a:stretch>
        </p:blipFill>
        <p:spPr>
          <a:xfrm>
            <a:off x="758952" y="3758184"/>
            <a:ext cx="219456" cy="219456"/>
          </a:xfrm>
          <a:prstGeom prst="rect">
            <a:avLst/>
          </a:prstGeom>
        </p:spPr>
      </p:pic>
      <p:sp>
        <p:nvSpPr>
          <p:cNvPr id="53" name="Text 46"/>
          <p:cNvSpPr/>
          <p:nvPr/>
        </p:nvSpPr>
        <p:spPr>
          <a:xfrm>
            <a:off x="1097280" y="3611880"/>
            <a:ext cx="1463040" cy="457200"/>
          </a:xfrm>
          <a:prstGeom prst="rect">
            <a:avLst/>
          </a:prstGeom>
          <a:noFill/>
          <a:ln/>
        </p:spPr>
        <p:txBody>
          <a:bodyPr wrap="square" lIns="0" tIns="0" rIns="0" bIns="0" rtlCol="0" anchor="ctr"/>
          <a:lstStyle/>
          <a:p>
            <a:pPr indent="0" marL="0">
              <a:buNone/>
            </a:pPr>
            <a:r>
              <a:rPr lang="en-US" sz="1200" b="1" dirty="0">
                <a:solidFill>
                  <a:srgbClr val="2A446F"/>
                </a:solidFill>
                <a:latin typeface="Segoe UI" pitchFamily="34" charset="0"/>
                <a:ea typeface="Segoe UI" pitchFamily="34" charset="-122"/>
                <a:cs typeface="Segoe UI" pitchFamily="34" charset="-120"/>
              </a:rPr>
              <a:t>Mitigation Agent</a:t>
            </a:r>
            <a:endParaRPr lang="en-US" sz="1200" dirty="0"/>
          </a:p>
        </p:txBody>
      </p:sp>
      <p:sp>
        <p:nvSpPr>
          <p:cNvPr id="54" name="Shape 47"/>
          <p:cNvSpPr/>
          <p:nvPr/>
        </p:nvSpPr>
        <p:spPr>
          <a:xfrm>
            <a:off x="2606040" y="3840480"/>
            <a:ext cx="64008" cy="0"/>
          </a:xfrm>
          <a:prstGeom prst="line">
            <a:avLst/>
          </a:prstGeom>
          <a:noFill/>
          <a:ln w="15875">
            <a:solidFill>
              <a:srgbClr val="2A446F"/>
            </a:solidFill>
            <a:prstDash val="solid"/>
            <a:tailEnd type="triangle"/>
          </a:ln>
        </p:spPr>
      </p:sp>
      <p:sp>
        <p:nvSpPr>
          <p:cNvPr id="55" name="Shape 48"/>
          <p:cNvSpPr/>
          <p:nvPr/>
        </p:nvSpPr>
        <p:spPr>
          <a:xfrm>
            <a:off x="2697480" y="3611880"/>
            <a:ext cx="3337560" cy="457200"/>
          </a:xfrm>
          <a:prstGeom prst="rect">
            <a:avLst/>
          </a:prstGeom>
          <a:solidFill>
            <a:srgbClr val="FFFFFF"/>
          </a:solidFill>
          <a:ln w="6350">
            <a:solidFill>
              <a:srgbClr val="EAD9C9"/>
            </a:solidFill>
            <a:prstDash val="solid"/>
          </a:ln>
        </p:spPr>
      </p:sp>
      <p:sp>
        <p:nvSpPr>
          <p:cNvPr id="56" name="Text 49"/>
          <p:cNvSpPr/>
          <p:nvPr/>
        </p:nvSpPr>
        <p:spPr>
          <a:xfrm>
            <a:off x="2807208" y="3648456"/>
            <a:ext cx="3172968" cy="384048"/>
          </a:xfrm>
          <a:prstGeom prst="rect">
            <a:avLst/>
          </a:prstGeom>
          <a:noFill/>
          <a:ln/>
        </p:spPr>
        <p:txBody>
          <a:bodyPr wrap="square" lIns="0" tIns="0" rIns="0" bIns="0" rtlCol="0" anchor="ctr"/>
          <a:lstStyle/>
          <a:p>
            <a:pPr marL="342900" indent="-342900">
              <a:buSzPct val="100000"/>
              <a:buChar char="▪"/>
            </a:pPr>
            <a:r>
              <a:rPr lang="en-US" sz="950" dirty="0">
                <a:solidFill>
                  <a:srgbClr val="2A446F"/>
                </a:solidFill>
                <a:latin typeface="Consolas" pitchFamily="34" charset="0"/>
                <a:ea typeface="Consolas" pitchFamily="34" charset="-122"/>
                <a:cs typeface="Consolas" pitchFamily="34" charset="-120"/>
              </a:rPr>
              <a:t>get_mitigation_playbook()</a:t>
            </a:r>
            <a:endParaRPr lang="en-US" sz="950" dirty="0"/>
          </a:p>
          <a:p>
            <a:pPr marL="342900" indent="-342900">
              <a:buSzPct val="100000"/>
              <a:buChar char="▪"/>
            </a:pPr>
            <a:r>
              <a:rPr lang="en-US" sz="950" dirty="0">
                <a:solidFill>
                  <a:srgbClr val="2A446F"/>
                </a:solidFill>
                <a:latin typeface="Consolas" pitchFamily="34" charset="0"/>
                <a:ea typeface="Consolas" pitchFamily="34" charset="-122"/>
                <a:cs typeface="Consolas" pitchFamily="34" charset="-120"/>
              </a:rPr>
              <a:t>run_pre_action_simulation()</a:t>
            </a:r>
            <a:endParaRPr lang="en-US" sz="950" dirty="0"/>
          </a:p>
        </p:txBody>
      </p:sp>
      <p:sp>
        <p:nvSpPr>
          <p:cNvPr id="57" name="Shape 50"/>
          <p:cNvSpPr/>
          <p:nvPr/>
        </p:nvSpPr>
        <p:spPr>
          <a:xfrm>
            <a:off x="6035040" y="3840480"/>
            <a:ext cx="164592" cy="0"/>
          </a:xfrm>
          <a:prstGeom prst="line">
            <a:avLst/>
          </a:prstGeom>
          <a:noFill/>
          <a:ln w="15875">
            <a:solidFill>
              <a:srgbClr val="6B7E9B"/>
            </a:solidFill>
            <a:prstDash val="dash"/>
            <a:tailEnd type="triangle"/>
          </a:ln>
        </p:spPr>
      </p:sp>
      <p:sp>
        <p:nvSpPr>
          <p:cNvPr id="58" name="Shape 51"/>
          <p:cNvSpPr/>
          <p:nvPr/>
        </p:nvSpPr>
        <p:spPr>
          <a:xfrm>
            <a:off x="6126480" y="3611880"/>
            <a:ext cx="2606040" cy="457200"/>
          </a:xfrm>
          <a:prstGeom prst="rect">
            <a:avLst/>
          </a:prstGeom>
          <a:solidFill>
            <a:srgbClr val="FFFFFF"/>
          </a:solidFill>
          <a:ln w="6350">
            <a:solidFill>
              <a:srgbClr val="EAD9C9"/>
            </a:solidFill>
            <a:prstDash val="solid"/>
          </a:ln>
        </p:spPr>
      </p:sp>
      <p:sp>
        <p:nvSpPr>
          <p:cNvPr id="59" name="Shape 52"/>
          <p:cNvSpPr/>
          <p:nvPr/>
        </p:nvSpPr>
        <p:spPr>
          <a:xfrm>
            <a:off x="6126480" y="3611880"/>
            <a:ext cx="73152" cy="457200"/>
          </a:xfrm>
          <a:prstGeom prst="rect">
            <a:avLst/>
          </a:prstGeom>
          <a:solidFill>
            <a:srgbClr val="FFBBA8"/>
          </a:solidFill>
          <a:ln w="12700">
            <a:solidFill>
              <a:srgbClr val="FFBBA8"/>
            </a:solidFill>
            <a:prstDash val="solid"/>
          </a:ln>
        </p:spPr>
      </p:sp>
      <p:sp>
        <p:nvSpPr>
          <p:cNvPr id="60" name="Text 53"/>
          <p:cNvSpPr/>
          <p:nvPr/>
        </p:nvSpPr>
        <p:spPr>
          <a:xfrm>
            <a:off x="6272784" y="3657600"/>
            <a:ext cx="2423160" cy="365760"/>
          </a:xfrm>
          <a:prstGeom prst="rect">
            <a:avLst/>
          </a:prstGeom>
          <a:noFill/>
          <a:ln/>
        </p:spPr>
        <p:txBody>
          <a:bodyPr wrap="square" lIns="0" tIns="0" rIns="0" bIns="0" rtlCol="0" anchor="ctr"/>
          <a:lstStyle/>
          <a:p>
            <a:pPr indent="0" marL="0">
              <a:buNone/>
            </a:pPr>
            <a:r>
              <a:rPr lang="en-US" sz="950" b="1" dirty="0">
                <a:solidFill>
                  <a:srgbClr val="2A446F"/>
                </a:solidFill>
                <a:latin typeface="Segoe UI" pitchFamily="34" charset="0"/>
                <a:ea typeface="Segoe UI" pitchFamily="34" charset="-122"/>
                <a:cs typeface="Segoe UI" pitchFamily="34" charset="-120"/>
              </a:rPr>
              <a:t>Playbook DB · Risk Engine</a:t>
            </a:r>
            <a:endParaRPr lang="en-US" sz="950" dirty="0"/>
          </a:p>
          <a:p>
            <a:pPr indent="0" marL="0">
              <a:buNone/>
            </a:pPr>
            <a:r>
              <a:rPr lang="en-US" sz="950" i="1" dirty="0">
                <a:solidFill>
                  <a:srgbClr val="6B7E9B"/>
                </a:solidFill>
                <a:latin typeface="Segoe UI" pitchFamily="34" charset="0"/>
                <a:ea typeface="Segoe UI" pitchFamily="34" charset="-122"/>
                <a:cs typeface="Segoe UI" pitchFamily="34" charset="-120"/>
              </a:rPr>
              <a:t>Custom · ServiceNow</a:t>
            </a:r>
            <a:endParaRPr lang="en-US" sz="950" dirty="0"/>
          </a:p>
        </p:txBody>
      </p:sp>
      <p:sp>
        <p:nvSpPr>
          <p:cNvPr id="61" name="Shape 54"/>
          <p:cNvSpPr/>
          <p:nvPr/>
        </p:nvSpPr>
        <p:spPr>
          <a:xfrm>
            <a:off x="502920" y="4114800"/>
            <a:ext cx="2103120" cy="457200"/>
          </a:xfrm>
          <a:prstGeom prst="rect">
            <a:avLst/>
          </a:prstGeom>
          <a:solidFill>
            <a:srgbClr val="FFFFFF"/>
          </a:solidFill>
          <a:ln w="6350">
            <a:solidFill>
              <a:srgbClr val="EAD9C9"/>
            </a:solidFill>
            <a:prstDash val="solid"/>
          </a:ln>
        </p:spPr>
      </p:sp>
      <p:sp>
        <p:nvSpPr>
          <p:cNvPr id="62" name="Shape 55"/>
          <p:cNvSpPr/>
          <p:nvPr/>
        </p:nvSpPr>
        <p:spPr>
          <a:xfrm>
            <a:off x="502920" y="4114800"/>
            <a:ext cx="91440" cy="457200"/>
          </a:xfrm>
          <a:prstGeom prst="rect">
            <a:avLst/>
          </a:prstGeom>
          <a:solidFill>
            <a:srgbClr val="1F5A9C"/>
          </a:solidFill>
          <a:ln w="12700">
            <a:solidFill>
              <a:srgbClr val="1F5A9C"/>
            </a:solidFill>
            <a:prstDash val="solid"/>
          </a:ln>
        </p:spPr>
      </p:sp>
      <p:sp>
        <p:nvSpPr>
          <p:cNvPr id="63" name="Shape 56"/>
          <p:cNvSpPr/>
          <p:nvPr/>
        </p:nvSpPr>
        <p:spPr>
          <a:xfrm>
            <a:off x="704088" y="4206240"/>
            <a:ext cx="329184" cy="329184"/>
          </a:xfrm>
          <a:prstGeom prst="ellipse">
            <a:avLst/>
          </a:prstGeom>
          <a:solidFill>
            <a:srgbClr val="1F5A9C"/>
          </a:solidFill>
          <a:ln w="12700">
            <a:solidFill>
              <a:srgbClr val="1F5A9C"/>
            </a:solidFill>
            <a:prstDash val="solid"/>
          </a:ln>
        </p:spPr>
      </p:sp>
      <p:pic>
        <p:nvPicPr>
          <p:cNvPr id="64" name="Image 4" descr="preencoded.png">    </p:cNvPr>
          <p:cNvPicPr>
            <a:picLocks noChangeAspect="1"/>
          </p:cNvPicPr>
          <p:nvPr/>
        </p:nvPicPr>
        <p:blipFill>
          <a:blip r:embed="rId5"/>
          <a:stretch>
            <a:fillRect/>
          </a:stretch>
        </p:blipFill>
        <p:spPr>
          <a:xfrm>
            <a:off x="758952" y="4261104"/>
            <a:ext cx="219456" cy="219456"/>
          </a:xfrm>
          <a:prstGeom prst="rect">
            <a:avLst/>
          </a:prstGeom>
        </p:spPr>
      </p:pic>
      <p:sp>
        <p:nvSpPr>
          <p:cNvPr id="65" name="Text 57"/>
          <p:cNvSpPr/>
          <p:nvPr/>
        </p:nvSpPr>
        <p:spPr>
          <a:xfrm>
            <a:off x="1097280" y="4114800"/>
            <a:ext cx="1463040" cy="457200"/>
          </a:xfrm>
          <a:prstGeom prst="rect">
            <a:avLst/>
          </a:prstGeom>
          <a:noFill/>
          <a:ln/>
        </p:spPr>
        <p:txBody>
          <a:bodyPr wrap="square" lIns="0" tIns="0" rIns="0" bIns="0" rtlCol="0" anchor="ctr"/>
          <a:lstStyle/>
          <a:p>
            <a:pPr indent="0" marL="0">
              <a:buNone/>
            </a:pPr>
            <a:r>
              <a:rPr lang="en-US" sz="1200" b="1" dirty="0">
                <a:solidFill>
                  <a:srgbClr val="2A446F"/>
                </a:solidFill>
                <a:latin typeface="Segoe UI" pitchFamily="34" charset="0"/>
                <a:ea typeface="Segoe UI" pitchFamily="34" charset="-122"/>
                <a:cs typeface="Segoe UI" pitchFamily="34" charset="-120"/>
              </a:rPr>
              <a:t>Compliance Agent</a:t>
            </a:r>
            <a:endParaRPr lang="en-US" sz="1200" dirty="0"/>
          </a:p>
        </p:txBody>
      </p:sp>
      <p:sp>
        <p:nvSpPr>
          <p:cNvPr id="66" name="Shape 58"/>
          <p:cNvSpPr/>
          <p:nvPr/>
        </p:nvSpPr>
        <p:spPr>
          <a:xfrm>
            <a:off x="2606040" y="4343400"/>
            <a:ext cx="64008" cy="0"/>
          </a:xfrm>
          <a:prstGeom prst="line">
            <a:avLst/>
          </a:prstGeom>
          <a:noFill/>
          <a:ln w="15875">
            <a:solidFill>
              <a:srgbClr val="1F5A9C"/>
            </a:solidFill>
            <a:prstDash val="solid"/>
            <a:tailEnd type="triangle"/>
          </a:ln>
        </p:spPr>
      </p:sp>
      <p:sp>
        <p:nvSpPr>
          <p:cNvPr id="67" name="Shape 59"/>
          <p:cNvSpPr/>
          <p:nvPr/>
        </p:nvSpPr>
        <p:spPr>
          <a:xfrm>
            <a:off x="2697480" y="4114800"/>
            <a:ext cx="3337560" cy="457200"/>
          </a:xfrm>
          <a:prstGeom prst="rect">
            <a:avLst/>
          </a:prstGeom>
          <a:solidFill>
            <a:srgbClr val="FFFFFF"/>
          </a:solidFill>
          <a:ln w="6350">
            <a:solidFill>
              <a:srgbClr val="EAD9C9"/>
            </a:solidFill>
            <a:prstDash val="solid"/>
          </a:ln>
        </p:spPr>
      </p:sp>
      <p:sp>
        <p:nvSpPr>
          <p:cNvPr id="68" name="Text 60"/>
          <p:cNvSpPr/>
          <p:nvPr/>
        </p:nvSpPr>
        <p:spPr>
          <a:xfrm>
            <a:off x="2807208" y="4151376"/>
            <a:ext cx="3172968" cy="384048"/>
          </a:xfrm>
          <a:prstGeom prst="rect">
            <a:avLst/>
          </a:prstGeom>
          <a:noFill/>
          <a:ln/>
        </p:spPr>
        <p:txBody>
          <a:bodyPr wrap="square" lIns="0" tIns="0" rIns="0" bIns="0" rtlCol="0" anchor="ctr"/>
          <a:lstStyle/>
          <a:p>
            <a:pPr marL="342900" indent="-342900">
              <a:buSzPct val="100000"/>
              <a:buChar char="▪"/>
            </a:pPr>
            <a:r>
              <a:rPr lang="en-US" sz="950" dirty="0">
                <a:solidFill>
                  <a:srgbClr val="2A446F"/>
                </a:solidFill>
                <a:latin typeface="Consolas" pitchFamily="34" charset="0"/>
                <a:ea typeface="Consolas" pitchFamily="34" charset="-122"/>
                <a:cs typeface="Consolas" pitchFamily="34" charset="-120"/>
              </a:rPr>
              <a:t>get_audit_trail()</a:t>
            </a:r>
            <a:endParaRPr lang="en-US" sz="950" dirty="0"/>
          </a:p>
          <a:p>
            <a:pPr marL="342900" indent="-342900">
              <a:buSzPct val="100000"/>
              <a:buChar char="▪"/>
            </a:pPr>
            <a:r>
              <a:rPr lang="en-US" sz="950" dirty="0">
                <a:solidFill>
                  <a:srgbClr val="2A446F"/>
                </a:solidFill>
                <a:latin typeface="Consolas" pitchFamily="34" charset="0"/>
                <a:ea typeface="Consolas" pitchFamily="34" charset="-122"/>
                <a:cs typeface="Consolas" pitchFamily="34" charset="-120"/>
              </a:rPr>
              <a:t>generate_ncc_pack_draft()</a:t>
            </a:r>
            <a:endParaRPr lang="en-US" sz="950" dirty="0"/>
          </a:p>
        </p:txBody>
      </p:sp>
      <p:sp>
        <p:nvSpPr>
          <p:cNvPr id="69" name="Shape 61"/>
          <p:cNvSpPr/>
          <p:nvPr/>
        </p:nvSpPr>
        <p:spPr>
          <a:xfrm>
            <a:off x="6035040" y="4343400"/>
            <a:ext cx="164592" cy="0"/>
          </a:xfrm>
          <a:prstGeom prst="line">
            <a:avLst/>
          </a:prstGeom>
          <a:noFill/>
          <a:ln w="15875">
            <a:solidFill>
              <a:srgbClr val="6B7E9B"/>
            </a:solidFill>
            <a:prstDash val="dash"/>
            <a:tailEnd type="triangle"/>
          </a:ln>
        </p:spPr>
      </p:sp>
      <p:sp>
        <p:nvSpPr>
          <p:cNvPr id="70" name="Shape 62"/>
          <p:cNvSpPr/>
          <p:nvPr/>
        </p:nvSpPr>
        <p:spPr>
          <a:xfrm>
            <a:off x="6126480" y="4114800"/>
            <a:ext cx="2606040" cy="457200"/>
          </a:xfrm>
          <a:prstGeom prst="rect">
            <a:avLst/>
          </a:prstGeom>
          <a:solidFill>
            <a:srgbClr val="FFFFFF"/>
          </a:solidFill>
          <a:ln w="6350">
            <a:solidFill>
              <a:srgbClr val="EAD9C9"/>
            </a:solidFill>
            <a:prstDash val="solid"/>
          </a:ln>
        </p:spPr>
      </p:sp>
      <p:sp>
        <p:nvSpPr>
          <p:cNvPr id="71" name="Shape 63"/>
          <p:cNvSpPr/>
          <p:nvPr/>
        </p:nvSpPr>
        <p:spPr>
          <a:xfrm>
            <a:off x="6126480" y="4114800"/>
            <a:ext cx="73152" cy="457200"/>
          </a:xfrm>
          <a:prstGeom prst="rect">
            <a:avLst/>
          </a:prstGeom>
          <a:solidFill>
            <a:srgbClr val="FFBBA8"/>
          </a:solidFill>
          <a:ln w="12700">
            <a:solidFill>
              <a:srgbClr val="FFBBA8"/>
            </a:solidFill>
            <a:prstDash val="solid"/>
          </a:ln>
        </p:spPr>
      </p:sp>
      <p:sp>
        <p:nvSpPr>
          <p:cNvPr id="72" name="Text 64"/>
          <p:cNvSpPr/>
          <p:nvPr/>
        </p:nvSpPr>
        <p:spPr>
          <a:xfrm>
            <a:off x="6272784" y="4160520"/>
            <a:ext cx="2423160" cy="365760"/>
          </a:xfrm>
          <a:prstGeom prst="rect">
            <a:avLst/>
          </a:prstGeom>
          <a:noFill/>
          <a:ln/>
        </p:spPr>
        <p:txBody>
          <a:bodyPr wrap="square" lIns="0" tIns="0" rIns="0" bIns="0" rtlCol="0" anchor="ctr"/>
          <a:lstStyle/>
          <a:p>
            <a:pPr indent="0" marL="0">
              <a:buNone/>
            </a:pPr>
            <a:r>
              <a:rPr lang="en-US" sz="950" b="1" dirty="0">
                <a:solidFill>
                  <a:srgbClr val="2A446F"/>
                </a:solidFill>
                <a:latin typeface="Segoe UI" pitchFamily="34" charset="0"/>
                <a:ea typeface="Segoe UI" pitchFamily="34" charset="-122"/>
                <a:cs typeface="Segoe UI" pitchFamily="34" charset="-120"/>
              </a:rPr>
              <a:t>Audit Log · NCC e-filing</a:t>
            </a:r>
            <a:endParaRPr lang="en-US" sz="950" dirty="0"/>
          </a:p>
          <a:p>
            <a:pPr indent="0" marL="0">
              <a:buNone/>
            </a:pPr>
            <a:r>
              <a:rPr lang="en-US" sz="950" i="1" dirty="0">
                <a:solidFill>
                  <a:srgbClr val="6B7E9B"/>
                </a:solidFill>
                <a:latin typeface="Segoe UI" pitchFamily="34" charset="0"/>
                <a:ea typeface="Segoe UI" pitchFamily="34" charset="-122"/>
                <a:cs typeface="Segoe UI" pitchFamily="34" charset="-120"/>
              </a:rPr>
              <a:t>Internal · NCC Portal</a:t>
            </a:r>
            <a:endParaRPr lang="en-US" sz="950" dirty="0"/>
          </a:p>
        </p:txBody>
      </p:sp>
      <p:sp>
        <p:nvSpPr>
          <p:cNvPr id="73" name="Shape 65"/>
          <p:cNvSpPr/>
          <p:nvPr/>
        </p:nvSpPr>
        <p:spPr>
          <a:xfrm>
            <a:off x="502920" y="4617720"/>
            <a:ext cx="8183880" cy="292608"/>
          </a:xfrm>
          <a:prstGeom prst="rect">
            <a:avLst/>
          </a:prstGeom>
          <a:solidFill>
            <a:srgbClr val="2A446F"/>
          </a:solidFill>
          <a:ln w="12700">
            <a:solidFill>
              <a:srgbClr val="2A446F"/>
            </a:solidFill>
            <a:prstDash val="solid"/>
          </a:ln>
        </p:spPr>
      </p:sp>
      <p:sp>
        <p:nvSpPr>
          <p:cNvPr id="74" name="Text 66"/>
          <p:cNvSpPr/>
          <p:nvPr/>
        </p:nvSpPr>
        <p:spPr>
          <a:xfrm>
            <a:off x="502920" y="4617720"/>
            <a:ext cx="8183880" cy="292608"/>
          </a:xfrm>
          <a:prstGeom prst="rect">
            <a:avLst/>
          </a:prstGeom>
          <a:noFill/>
          <a:ln/>
        </p:spPr>
        <p:txBody>
          <a:bodyPr wrap="square" lIns="0" tIns="0" rIns="0" bIns="0" rtlCol="0" anchor="ctr"/>
          <a:lstStyle/>
          <a:p>
            <a:pPr algn="ctr" indent="0" marL="0">
              <a:buNone/>
            </a:pPr>
            <a:r>
              <a:rPr lang="en-US" sz="1050" b="1" dirty="0">
                <a:solidFill>
                  <a:srgbClr val="FFBBA8"/>
                </a:solidFill>
                <a:latin typeface="Segoe UI" pitchFamily="34" charset="0"/>
                <a:ea typeface="Segoe UI" pitchFamily="34" charset="-122"/>
                <a:cs typeface="Segoe UI" pitchFamily="34" charset="-120"/>
              </a:rPr>
              <a:t>Adapter pattern: </a:t>
            </a:r>
            <a:pPr algn="ctr" indent="0" marL="0">
              <a:buNone/>
            </a:pPr>
            <a:r>
              <a:rPr lang="en-US" sz="1050" dirty="0">
                <a:solidFill>
                  <a:srgbClr val="FFFFFF"/>
                </a:solidFill>
                <a:latin typeface="Segoe UI" pitchFamily="34" charset="0"/>
                <a:ea typeface="Segoe UI" pitchFamily="34" charset="-122"/>
                <a:cs typeface="Segoe UI" pitchFamily="34" charset="-120"/>
              </a:rPr>
              <a:t>tools are thin connectors. Swap MTN systems for Airtel, Glo, or any operator — no agent code changes.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F3"/>
        </a:solidFill>
      </p:bgPr>
    </p:bg>
    <p:spTree>
      <p:nvGrpSpPr>
        <p:cNvPr id="1" name=""/>
        <p:cNvGrpSpPr/>
        <p:nvPr/>
      </p:nvGrpSpPr>
      <p:grpSpPr>
        <a:xfrm>
          <a:off x="0" y="0"/>
          <a:ext cx="0" cy="0"/>
          <a:chOff x="0" y="0"/>
          <a:chExt cx="0" cy="0"/>
        </a:xfrm>
      </p:grpSpPr>
      <p:sp>
        <p:nvSpPr>
          <p:cNvPr id="3" name="Shape 0"/>
          <p:cNvSpPr/>
          <p:nvPr/>
        </p:nvSpPr>
        <p:spPr>
          <a:xfrm>
            <a:off x="457200" y="411480"/>
            <a:ext cx="164592" cy="292608"/>
          </a:xfrm>
          <a:prstGeom prst="rect">
            <a:avLst/>
          </a:prstGeom>
          <a:solidFill>
            <a:srgbClr val="0078D4"/>
          </a:solidFill>
          <a:ln w="12700">
            <a:solidFill>
              <a:srgbClr val="0078D4"/>
            </a:solidFill>
            <a:prstDash val="solid"/>
          </a:ln>
        </p:spPr>
      </p:sp>
      <p:sp>
        <p:nvSpPr>
          <p:cNvPr id="4" name="Text 1"/>
          <p:cNvSpPr/>
          <p:nvPr/>
        </p:nvSpPr>
        <p:spPr>
          <a:xfrm>
            <a:off x="713232" y="384048"/>
            <a:ext cx="7955280" cy="329184"/>
          </a:xfrm>
          <a:prstGeom prst="rect">
            <a:avLst/>
          </a:prstGeom>
          <a:noFill/>
          <a:ln/>
        </p:spPr>
        <p:txBody>
          <a:bodyPr wrap="square" lIns="0" tIns="0" rIns="0" bIns="0" rtlCol="0" anchor="ctr"/>
          <a:lstStyle/>
          <a:p>
            <a:pPr indent="0" marL="0">
              <a:buNone/>
            </a:pPr>
            <a:r>
              <a:rPr lang="en-US" sz="1100" b="1" spc="400" kern="0" dirty="0">
                <a:solidFill>
                  <a:srgbClr val="0078D4"/>
                </a:solidFill>
                <a:latin typeface="Segoe UI" pitchFamily="34" charset="0"/>
                <a:ea typeface="Segoe UI" pitchFamily="34" charset="-122"/>
                <a:cs typeface="Segoe UI" pitchFamily="34" charset="-120"/>
              </a:rPr>
              <a:t>TRUST BY DESIGN</a:t>
            </a:r>
            <a:endParaRPr lang="en-US" sz="1100" dirty="0"/>
          </a:p>
        </p:txBody>
      </p:sp>
      <p:sp>
        <p:nvSpPr>
          <p:cNvPr id="5" name="Text 2"/>
          <p:cNvSpPr/>
          <p:nvPr/>
        </p:nvSpPr>
        <p:spPr>
          <a:xfrm>
            <a:off x="457200" y="777240"/>
            <a:ext cx="8686800" cy="548640"/>
          </a:xfrm>
          <a:prstGeom prst="rect">
            <a:avLst/>
          </a:prstGeom>
          <a:noFill/>
          <a:ln/>
        </p:spPr>
        <p:txBody>
          <a:bodyPr wrap="square" lIns="0" tIns="0" rIns="0" bIns="0" rtlCol="0" anchor="ctr"/>
          <a:lstStyle/>
          <a:p>
            <a:pPr indent="0" marL="0">
              <a:buNone/>
            </a:pPr>
            <a:r>
              <a:rPr lang="en-US" sz="2600" b="1" dirty="0">
                <a:solidFill>
                  <a:srgbClr val="2A446F"/>
                </a:solidFill>
                <a:latin typeface="Segoe UI" pitchFamily="34" charset="0"/>
                <a:ea typeface="Segoe UI" pitchFamily="34" charset="-122"/>
                <a:cs typeface="Segoe UI" pitchFamily="34" charset="-120"/>
              </a:rPr>
              <a:t>Trustworthy enough for regulators and CEOs.</a:t>
            </a:r>
            <a:endParaRPr lang="en-US" sz="2600" dirty="0"/>
          </a:p>
        </p:txBody>
      </p:sp>
      <p:sp>
        <p:nvSpPr>
          <p:cNvPr id="6" name="Shape 3"/>
          <p:cNvSpPr/>
          <p:nvPr/>
        </p:nvSpPr>
        <p:spPr>
          <a:xfrm>
            <a:off x="457200" y="1417320"/>
            <a:ext cx="8229600" cy="0"/>
          </a:xfrm>
          <a:prstGeom prst="line">
            <a:avLst/>
          </a:prstGeom>
          <a:noFill/>
          <a:ln w="9525">
            <a:solidFill>
              <a:srgbClr val="EAD9C9"/>
            </a:solidFill>
            <a:prstDash val="solid"/>
          </a:ln>
        </p:spPr>
      </p:sp>
      <p:sp>
        <p:nvSpPr>
          <p:cNvPr id="7" name="Shape 4"/>
          <p:cNvSpPr/>
          <p:nvPr/>
        </p:nvSpPr>
        <p:spPr>
          <a:xfrm>
            <a:off x="502920" y="1691640"/>
            <a:ext cx="4023360" cy="128016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8" name="Shape 5"/>
          <p:cNvSpPr/>
          <p:nvPr/>
        </p:nvSpPr>
        <p:spPr>
          <a:xfrm>
            <a:off x="704088" y="1892808"/>
            <a:ext cx="502920" cy="502920"/>
          </a:xfrm>
          <a:prstGeom prst="ellipse">
            <a:avLst/>
          </a:prstGeom>
          <a:solidFill>
            <a:srgbClr val="0078D4"/>
          </a:solidFill>
          <a:ln w="12700">
            <a:solidFill>
              <a:srgbClr val="0078D4"/>
            </a:solidFill>
            <a:prstDash val="solid"/>
          </a:ln>
        </p:spPr>
      </p:sp>
      <p:pic>
        <p:nvPicPr>
          <p:cNvPr id="9" name="Image 0" descr="preencoded.png">    </p:cNvPr>
          <p:cNvPicPr>
            <a:picLocks noChangeAspect="1"/>
          </p:cNvPicPr>
          <p:nvPr/>
        </p:nvPicPr>
        <p:blipFill>
          <a:blip r:embed="rId1"/>
          <a:stretch>
            <a:fillRect/>
          </a:stretch>
        </p:blipFill>
        <p:spPr>
          <a:xfrm>
            <a:off x="786384" y="1975104"/>
            <a:ext cx="338328" cy="338328"/>
          </a:xfrm>
          <a:prstGeom prst="rect">
            <a:avLst/>
          </a:prstGeom>
        </p:spPr>
      </p:pic>
      <p:sp>
        <p:nvSpPr>
          <p:cNvPr id="10" name="Text 6"/>
          <p:cNvSpPr/>
          <p:nvPr/>
        </p:nvSpPr>
        <p:spPr>
          <a:xfrm>
            <a:off x="1371600" y="1874520"/>
            <a:ext cx="3017520" cy="320040"/>
          </a:xfrm>
          <a:prstGeom prst="rect">
            <a:avLst/>
          </a:prstGeom>
          <a:noFill/>
          <a:ln/>
        </p:spPr>
        <p:txBody>
          <a:bodyPr wrap="square" lIns="0" tIns="0" rIns="0" bIns="0" rtlCol="0" anchor="ctr"/>
          <a:lstStyle/>
          <a:p>
            <a:pPr indent="0" marL="0">
              <a:buNone/>
            </a:pPr>
            <a:r>
              <a:rPr lang="en-US" sz="1500" b="1" dirty="0">
                <a:solidFill>
                  <a:srgbClr val="2A446F"/>
                </a:solidFill>
                <a:latin typeface="Segoe UI" pitchFamily="34" charset="0"/>
                <a:ea typeface="Segoe UI" pitchFamily="34" charset="-122"/>
                <a:cs typeface="Segoe UI" pitchFamily="34" charset="-120"/>
              </a:rPr>
              <a:t>Grounded answers</a:t>
            </a:r>
            <a:endParaRPr lang="en-US" sz="1500" dirty="0"/>
          </a:p>
        </p:txBody>
      </p:sp>
      <p:sp>
        <p:nvSpPr>
          <p:cNvPr id="11" name="Text 7"/>
          <p:cNvSpPr/>
          <p:nvPr/>
        </p:nvSpPr>
        <p:spPr>
          <a:xfrm>
            <a:off x="1371600" y="2240280"/>
            <a:ext cx="3017520" cy="685800"/>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Agents only speak from tool results.</a:t>
            </a:r>
            <a:endParaRPr lang="en-US" sz="1100" dirty="0"/>
          </a:p>
          <a:p>
            <a:pPr indent="0" marL="0">
              <a:buNone/>
            </a:pPr>
            <a:r>
              <a:rPr lang="en-US" sz="1100" dirty="0">
                <a:solidFill>
                  <a:srgbClr val="6B7E9B"/>
                </a:solidFill>
                <a:latin typeface="Segoe UI" pitchFamily="34" charset="0"/>
                <a:ea typeface="Segoe UI" pitchFamily="34" charset="-122"/>
                <a:cs typeface="Segoe UI" pitchFamily="34" charset="-120"/>
              </a:rPr>
              <a:t>No CSV browsing. No free-form claims.</a:t>
            </a:r>
            <a:endParaRPr lang="en-US" sz="1100" dirty="0"/>
          </a:p>
        </p:txBody>
      </p:sp>
      <p:sp>
        <p:nvSpPr>
          <p:cNvPr id="12" name="Shape 8"/>
          <p:cNvSpPr/>
          <p:nvPr/>
        </p:nvSpPr>
        <p:spPr>
          <a:xfrm>
            <a:off x="4617720" y="1691640"/>
            <a:ext cx="4023360" cy="128016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13" name="Shape 9"/>
          <p:cNvSpPr/>
          <p:nvPr/>
        </p:nvSpPr>
        <p:spPr>
          <a:xfrm>
            <a:off x="4818888" y="1892808"/>
            <a:ext cx="502920" cy="502920"/>
          </a:xfrm>
          <a:prstGeom prst="ellipse">
            <a:avLst/>
          </a:prstGeom>
          <a:solidFill>
            <a:srgbClr val="0078D4"/>
          </a:solidFill>
          <a:ln w="12700">
            <a:solidFill>
              <a:srgbClr val="0078D4"/>
            </a:solidFill>
            <a:prstDash val="solid"/>
          </a:ln>
        </p:spPr>
      </p:sp>
      <p:pic>
        <p:nvPicPr>
          <p:cNvPr id="14" name="Image 1" descr="preencoded.png">    </p:cNvPr>
          <p:cNvPicPr>
            <a:picLocks noChangeAspect="1"/>
          </p:cNvPicPr>
          <p:nvPr/>
        </p:nvPicPr>
        <p:blipFill>
          <a:blip r:embed="rId2"/>
          <a:stretch>
            <a:fillRect/>
          </a:stretch>
        </p:blipFill>
        <p:spPr>
          <a:xfrm>
            <a:off x="4901184" y="1975104"/>
            <a:ext cx="338328" cy="338328"/>
          </a:xfrm>
          <a:prstGeom prst="rect">
            <a:avLst/>
          </a:prstGeom>
        </p:spPr>
      </p:pic>
      <p:sp>
        <p:nvSpPr>
          <p:cNvPr id="15" name="Text 10"/>
          <p:cNvSpPr/>
          <p:nvPr/>
        </p:nvSpPr>
        <p:spPr>
          <a:xfrm>
            <a:off x="5486400" y="1874520"/>
            <a:ext cx="3017520" cy="320040"/>
          </a:xfrm>
          <a:prstGeom prst="rect">
            <a:avLst/>
          </a:prstGeom>
          <a:noFill/>
          <a:ln/>
        </p:spPr>
        <p:txBody>
          <a:bodyPr wrap="square" lIns="0" tIns="0" rIns="0" bIns="0" rtlCol="0" anchor="ctr"/>
          <a:lstStyle/>
          <a:p>
            <a:pPr indent="0" marL="0">
              <a:buNone/>
            </a:pPr>
            <a:r>
              <a:rPr lang="en-US" sz="1500" b="1" dirty="0">
                <a:solidFill>
                  <a:srgbClr val="2A446F"/>
                </a:solidFill>
                <a:latin typeface="Segoe UI" pitchFamily="34" charset="0"/>
                <a:ea typeface="Segoe UI" pitchFamily="34" charset="-122"/>
                <a:cs typeface="Segoe UI" pitchFamily="34" charset="-120"/>
              </a:rPr>
              <a:t>Human-in-the-loop</a:t>
            </a:r>
            <a:endParaRPr lang="en-US" sz="1500" dirty="0"/>
          </a:p>
        </p:txBody>
      </p:sp>
      <p:sp>
        <p:nvSpPr>
          <p:cNvPr id="16" name="Text 11"/>
          <p:cNvSpPr/>
          <p:nvPr/>
        </p:nvSpPr>
        <p:spPr>
          <a:xfrm>
            <a:off x="5486400" y="2240280"/>
            <a:ext cx="3017520" cy="685800"/>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No mitigation runs without operator approval.</a:t>
            </a:r>
            <a:endParaRPr lang="en-US" sz="1100" dirty="0"/>
          </a:p>
          <a:p>
            <a:pPr indent="0" marL="0">
              <a:buNone/>
            </a:pPr>
            <a:r>
              <a:rPr lang="en-US" sz="1100" dirty="0">
                <a:solidFill>
                  <a:srgbClr val="6B7E9B"/>
                </a:solidFill>
                <a:latin typeface="Segoe UI" pitchFamily="34" charset="0"/>
                <a:ea typeface="Segoe UI" pitchFamily="34" charset="-122"/>
                <a:cs typeface="Segoe UI" pitchFamily="34" charset="-120"/>
              </a:rPr>
              <a:t>The approval IS the trigger.</a:t>
            </a:r>
            <a:endParaRPr lang="en-US" sz="1100" dirty="0"/>
          </a:p>
        </p:txBody>
      </p:sp>
      <p:sp>
        <p:nvSpPr>
          <p:cNvPr id="17" name="Shape 12"/>
          <p:cNvSpPr/>
          <p:nvPr/>
        </p:nvSpPr>
        <p:spPr>
          <a:xfrm>
            <a:off x="502920" y="3108960"/>
            <a:ext cx="4023360" cy="128016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18" name="Shape 13"/>
          <p:cNvSpPr/>
          <p:nvPr/>
        </p:nvSpPr>
        <p:spPr>
          <a:xfrm>
            <a:off x="704088" y="3310128"/>
            <a:ext cx="502920" cy="502920"/>
          </a:xfrm>
          <a:prstGeom prst="ellipse">
            <a:avLst/>
          </a:prstGeom>
          <a:solidFill>
            <a:srgbClr val="FFBBA8"/>
          </a:solidFill>
          <a:ln w="12700">
            <a:solidFill>
              <a:srgbClr val="FFBBA8"/>
            </a:solidFill>
            <a:prstDash val="solid"/>
          </a:ln>
        </p:spPr>
      </p:sp>
      <p:pic>
        <p:nvPicPr>
          <p:cNvPr id="19" name="Image 2" descr="preencoded.png">    </p:cNvPr>
          <p:cNvPicPr>
            <a:picLocks noChangeAspect="1"/>
          </p:cNvPicPr>
          <p:nvPr/>
        </p:nvPicPr>
        <p:blipFill>
          <a:blip r:embed="rId3"/>
          <a:stretch>
            <a:fillRect/>
          </a:stretch>
        </p:blipFill>
        <p:spPr>
          <a:xfrm>
            <a:off x="786384" y="3392424"/>
            <a:ext cx="338328" cy="338328"/>
          </a:xfrm>
          <a:prstGeom prst="rect">
            <a:avLst/>
          </a:prstGeom>
        </p:spPr>
      </p:pic>
      <p:sp>
        <p:nvSpPr>
          <p:cNvPr id="20" name="Text 14"/>
          <p:cNvSpPr/>
          <p:nvPr/>
        </p:nvSpPr>
        <p:spPr>
          <a:xfrm>
            <a:off x="1371600" y="3291840"/>
            <a:ext cx="3017520" cy="320040"/>
          </a:xfrm>
          <a:prstGeom prst="rect">
            <a:avLst/>
          </a:prstGeom>
          <a:noFill/>
          <a:ln/>
        </p:spPr>
        <p:txBody>
          <a:bodyPr wrap="square" lIns="0" tIns="0" rIns="0" bIns="0" rtlCol="0" anchor="ctr"/>
          <a:lstStyle/>
          <a:p>
            <a:pPr indent="0" marL="0">
              <a:buNone/>
            </a:pPr>
            <a:r>
              <a:rPr lang="en-US" sz="1500" b="1" dirty="0">
                <a:solidFill>
                  <a:srgbClr val="2A446F"/>
                </a:solidFill>
                <a:latin typeface="Segoe UI" pitchFamily="34" charset="0"/>
                <a:ea typeface="Segoe UI" pitchFamily="34" charset="-122"/>
                <a:cs typeface="Segoe UI" pitchFamily="34" charset="-120"/>
              </a:rPr>
              <a:t>Append-only audit</a:t>
            </a:r>
            <a:endParaRPr lang="en-US" sz="1500" dirty="0"/>
          </a:p>
        </p:txBody>
      </p:sp>
      <p:sp>
        <p:nvSpPr>
          <p:cNvPr id="21" name="Text 15"/>
          <p:cNvSpPr/>
          <p:nvPr/>
        </p:nvSpPr>
        <p:spPr>
          <a:xfrm>
            <a:off x="1371600" y="3657600"/>
            <a:ext cx="3017520" cy="685800"/>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Every action is logged: who, when, why,</a:t>
            </a:r>
            <a:endParaRPr lang="en-US" sz="1100" dirty="0"/>
          </a:p>
          <a:p>
            <a:pPr indent="0" marL="0">
              <a:buNone/>
            </a:pPr>
            <a:r>
              <a:rPr lang="en-US" sz="1100" dirty="0">
                <a:solidFill>
                  <a:srgbClr val="6B7E9B"/>
                </a:solidFill>
                <a:latin typeface="Segoe UI" pitchFamily="34" charset="0"/>
                <a:ea typeface="Segoe UI" pitchFamily="34" charset="-122"/>
                <a:cs typeface="Segoe UI" pitchFamily="34" charset="-120"/>
              </a:rPr>
              <a:t>expected impact, actual outcome.</a:t>
            </a:r>
            <a:endParaRPr lang="en-US" sz="1100" dirty="0"/>
          </a:p>
        </p:txBody>
      </p:sp>
      <p:sp>
        <p:nvSpPr>
          <p:cNvPr id="22" name="Shape 16"/>
          <p:cNvSpPr/>
          <p:nvPr/>
        </p:nvSpPr>
        <p:spPr>
          <a:xfrm>
            <a:off x="4617720" y="3108960"/>
            <a:ext cx="4023360" cy="128016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23" name="Shape 17"/>
          <p:cNvSpPr/>
          <p:nvPr/>
        </p:nvSpPr>
        <p:spPr>
          <a:xfrm>
            <a:off x="4818888" y="3310128"/>
            <a:ext cx="502920" cy="502920"/>
          </a:xfrm>
          <a:prstGeom prst="ellipse">
            <a:avLst/>
          </a:prstGeom>
          <a:solidFill>
            <a:srgbClr val="FF9176"/>
          </a:solidFill>
          <a:ln w="12700">
            <a:solidFill>
              <a:srgbClr val="FF9176"/>
            </a:solidFill>
            <a:prstDash val="solid"/>
          </a:ln>
        </p:spPr>
      </p:sp>
      <p:pic>
        <p:nvPicPr>
          <p:cNvPr id="24" name="Image 3" descr="preencoded.png">    </p:cNvPr>
          <p:cNvPicPr>
            <a:picLocks noChangeAspect="1"/>
          </p:cNvPicPr>
          <p:nvPr/>
        </p:nvPicPr>
        <p:blipFill>
          <a:blip r:embed="rId4"/>
          <a:stretch>
            <a:fillRect/>
          </a:stretch>
        </p:blipFill>
        <p:spPr>
          <a:xfrm>
            <a:off x="4901184" y="3392424"/>
            <a:ext cx="338328" cy="338328"/>
          </a:xfrm>
          <a:prstGeom prst="rect">
            <a:avLst/>
          </a:prstGeom>
        </p:spPr>
      </p:pic>
      <p:sp>
        <p:nvSpPr>
          <p:cNvPr id="25" name="Text 18"/>
          <p:cNvSpPr/>
          <p:nvPr/>
        </p:nvSpPr>
        <p:spPr>
          <a:xfrm>
            <a:off x="5486400" y="3291840"/>
            <a:ext cx="3017520" cy="320040"/>
          </a:xfrm>
          <a:prstGeom prst="rect">
            <a:avLst/>
          </a:prstGeom>
          <a:noFill/>
          <a:ln/>
        </p:spPr>
        <p:txBody>
          <a:bodyPr wrap="square" lIns="0" tIns="0" rIns="0" bIns="0" rtlCol="0" anchor="ctr"/>
          <a:lstStyle/>
          <a:p>
            <a:pPr indent="0" marL="0">
              <a:buNone/>
            </a:pPr>
            <a:r>
              <a:rPr lang="en-US" sz="1500" b="1" dirty="0">
                <a:solidFill>
                  <a:srgbClr val="2A446F"/>
                </a:solidFill>
                <a:latin typeface="Segoe UI" pitchFamily="34" charset="0"/>
                <a:ea typeface="Segoe UI" pitchFamily="34" charset="-122"/>
                <a:cs typeface="Segoe UI" pitchFamily="34" charset="-120"/>
              </a:rPr>
              <a:t>Regulator-ready output</a:t>
            </a:r>
            <a:endParaRPr lang="en-US" sz="1500" dirty="0"/>
          </a:p>
        </p:txBody>
      </p:sp>
      <p:sp>
        <p:nvSpPr>
          <p:cNvPr id="26" name="Text 19"/>
          <p:cNvSpPr/>
          <p:nvPr/>
        </p:nvSpPr>
        <p:spPr>
          <a:xfrm>
            <a:off x="5486400" y="3657600"/>
            <a:ext cx="3017520" cy="685800"/>
          </a:xfrm>
          <a:prstGeom prst="rect">
            <a:avLst/>
          </a:prstGeom>
          <a:noFill/>
          <a:ln/>
        </p:spPr>
        <p:txBody>
          <a:bodyPr wrap="square" lIns="0" tIns="0" rIns="0" bIns="0" rtlCol="0" anchor="ctr"/>
          <a:lstStyle/>
          <a:p>
            <a:pPr indent="0" marL="0">
              <a:buNone/>
            </a:pPr>
            <a:r>
              <a:rPr lang="en-US" sz="1100" dirty="0">
                <a:solidFill>
                  <a:srgbClr val="6B7E9B"/>
                </a:solidFill>
                <a:latin typeface="Segoe UI" pitchFamily="34" charset="0"/>
                <a:ea typeface="Segoe UI" pitchFamily="34" charset="-122"/>
                <a:cs typeface="Segoe UI" pitchFamily="34" charset="-120"/>
              </a:rPr>
              <a:t>NCC-format pack assembles in seconds,</a:t>
            </a:r>
            <a:endParaRPr lang="en-US" sz="1100" dirty="0"/>
          </a:p>
          <a:p>
            <a:pPr indent="0" marL="0">
              <a:buNone/>
            </a:pPr>
            <a:r>
              <a:rPr lang="en-US" sz="1100" dirty="0">
                <a:solidFill>
                  <a:srgbClr val="6B7E9B"/>
                </a:solidFill>
                <a:latin typeface="Segoe UI" pitchFamily="34" charset="0"/>
                <a:ea typeface="Segoe UI" pitchFamily="34" charset="-122"/>
                <a:cs typeface="Segoe UI" pitchFamily="34" charset="-120"/>
              </a:rPr>
              <a:t>straight from the audit trail.</a:t>
            </a:r>
            <a:endParaRPr lang="en-US" sz="1100" dirty="0"/>
          </a:p>
        </p:txBody>
      </p:sp>
      <p:sp>
        <p:nvSpPr>
          <p:cNvPr id="27" name="Shape 20"/>
          <p:cNvSpPr/>
          <p:nvPr/>
        </p:nvSpPr>
        <p:spPr>
          <a:xfrm>
            <a:off x="502920" y="4572000"/>
            <a:ext cx="8138160" cy="329184"/>
          </a:xfrm>
          <a:prstGeom prst="rect">
            <a:avLst/>
          </a:prstGeom>
          <a:solidFill>
            <a:srgbClr val="0078D4"/>
          </a:solidFill>
          <a:ln w="12700">
            <a:solidFill>
              <a:srgbClr val="0078D4"/>
            </a:solidFill>
            <a:prstDash val="solid"/>
          </a:ln>
        </p:spPr>
      </p:sp>
      <p:sp>
        <p:nvSpPr>
          <p:cNvPr id="28" name="Text 21"/>
          <p:cNvSpPr/>
          <p:nvPr/>
        </p:nvSpPr>
        <p:spPr>
          <a:xfrm>
            <a:off x="502920" y="4572000"/>
            <a:ext cx="81381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pitchFamily="34" charset="0"/>
                <a:ea typeface="Segoe UI" pitchFamily="34" charset="-122"/>
                <a:cs typeface="Segoe UI" pitchFamily="34" charset="-120"/>
              </a:rPr>
              <a:t>Autonomous enough to be useful.  Constrained enough to be deployed.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F3"/>
        </a:solidFill>
      </p:bgPr>
    </p:bg>
    <p:spTree>
      <p:nvGrpSpPr>
        <p:cNvPr id="1" name=""/>
        <p:cNvGrpSpPr/>
        <p:nvPr/>
      </p:nvGrpSpPr>
      <p:grpSpPr>
        <a:xfrm>
          <a:off x="0" y="0"/>
          <a:ext cx="0" cy="0"/>
          <a:chOff x="0" y="0"/>
          <a:chExt cx="0" cy="0"/>
        </a:xfrm>
      </p:grpSpPr>
      <p:sp>
        <p:nvSpPr>
          <p:cNvPr id="3" name="Shape 0"/>
          <p:cNvSpPr/>
          <p:nvPr/>
        </p:nvSpPr>
        <p:spPr>
          <a:xfrm>
            <a:off x="457200" y="411480"/>
            <a:ext cx="164592" cy="292608"/>
          </a:xfrm>
          <a:prstGeom prst="rect">
            <a:avLst/>
          </a:prstGeom>
          <a:solidFill>
            <a:srgbClr val="0078D4"/>
          </a:solidFill>
          <a:ln w="12700">
            <a:solidFill>
              <a:srgbClr val="0078D4"/>
            </a:solidFill>
            <a:prstDash val="solid"/>
          </a:ln>
        </p:spPr>
      </p:sp>
      <p:sp>
        <p:nvSpPr>
          <p:cNvPr id="4" name="Text 1"/>
          <p:cNvSpPr/>
          <p:nvPr/>
        </p:nvSpPr>
        <p:spPr>
          <a:xfrm>
            <a:off x="713232" y="384048"/>
            <a:ext cx="7955280" cy="329184"/>
          </a:xfrm>
          <a:prstGeom prst="rect">
            <a:avLst/>
          </a:prstGeom>
          <a:noFill/>
          <a:ln/>
        </p:spPr>
        <p:txBody>
          <a:bodyPr wrap="square" lIns="0" tIns="0" rIns="0" bIns="0" rtlCol="0" anchor="ctr"/>
          <a:lstStyle/>
          <a:p>
            <a:pPr indent="0" marL="0">
              <a:buNone/>
            </a:pPr>
            <a:r>
              <a:rPr lang="en-US" sz="1100" b="1" spc="400" kern="0" dirty="0">
                <a:solidFill>
                  <a:srgbClr val="0078D4"/>
                </a:solidFill>
                <a:latin typeface="Segoe UI" pitchFamily="34" charset="0"/>
                <a:ea typeface="Segoe UI" pitchFamily="34" charset="-122"/>
                <a:cs typeface="Segoe UI" pitchFamily="34" charset="-120"/>
              </a:rPr>
              <a:t>BUSINESS IMPACT</a:t>
            </a:r>
            <a:endParaRPr lang="en-US" sz="1100" dirty="0"/>
          </a:p>
        </p:txBody>
      </p:sp>
      <p:sp>
        <p:nvSpPr>
          <p:cNvPr id="5" name="Text 2"/>
          <p:cNvSpPr/>
          <p:nvPr/>
        </p:nvSpPr>
        <p:spPr>
          <a:xfrm>
            <a:off x="457200" y="777240"/>
            <a:ext cx="8686800" cy="548640"/>
          </a:xfrm>
          <a:prstGeom prst="rect">
            <a:avLst/>
          </a:prstGeom>
          <a:noFill/>
          <a:ln/>
        </p:spPr>
        <p:txBody>
          <a:bodyPr wrap="square" lIns="0" tIns="0" rIns="0" bIns="0" rtlCol="0" anchor="ctr"/>
          <a:lstStyle/>
          <a:p>
            <a:pPr indent="0" marL="0">
              <a:buNone/>
            </a:pPr>
            <a:r>
              <a:rPr lang="en-US" sz="2600" b="1" dirty="0">
                <a:solidFill>
                  <a:srgbClr val="2A446F"/>
                </a:solidFill>
                <a:latin typeface="Segoe UI" pitchFamily="34" charset="0"/>
                <a:ea typeface="Segoe UI" pitchFamily="34" charset="-122"/>
                <a:cs typeface="Segoe UI" pitchFamily="34" charset="-120"/>
              </a:rPr>
              <a:t>What one Ikeja-class incident looks like.</a:t>
            </a:r>
            <a:endParaRPr lang="en-US" sz="2600" dirty="0"/>
          </a:p>
        </p:txBody>
      </p:sp>
      <p:sp>
        <p:nvSpPr>
          <p:cNvPr id="6" name="Shape 3"/>
          <p:cNvSpPr/>
          <p:nvPr/>
        </p:nvSpPr>
        <p:spPr>
          <a:xfrm>
            <a:off x="457200" y="1417320"/>
            <a:ext cx="8229600" cy="0"/>
          </a:xfrm>
          <a:prstGeom prst="line">
            <a:avLst/>
          </a:prstGeom>
          <a:noFill/>
          <a:ln w="9525">
            <a:solidFill>
              <a:srgbClr val="EAD9C9"/>
            </a:solidFill>
            <a:prstDash val="solid"/>
          </a:ln>
        </p:spPr>
      </p:sp>
      <p:sp>
        <p:nvSpPr>
          <p:cNvPr id="7" name="Shape 4"/>
          <p:cNvSpPr/>
          <p:nvPr/>
        </p:nvSpPr>
        <p:spPr>
          <a:xfrm>
            <a:off x="502920" y="1691640"/>
            <a:ext cx="1892808" cy="169164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8" name="Shape 5"/>
          <p:cNvSpPr/>
          <p:nvPr/>
        </p:nvSpPr>
        <p:spPr>
          <a:xfrm>
            <a:off x="502920" y="1691640"/>
            <a:ext cx="1892808" cy="109728"/>
          </a:xfrm>
          <a:prstGeom prst="rect">
            <a:avLst/>
          </a:prstGeom>
          <a:solidFill>
            <a:srgbClr val="0078D4"/>
          </a:solidFill>
          <a:ln w="12700">
            <a:solidFill>
              <a:srgbClr val="0078D4"/>
            </a:solidFill>
            <a:prstDash val="solid"/>
          </a:ln>
        </p:spPr>
      </p:sp>
      <p:sp>
        <p:nvSpPr>
          <p:cNvPr id="9" name="Text 6"/>
          <p:cNvSpPr/>
          <p:nvPr/>
        </p:nvSpPr>
        <p:spPr>
          <a:xfrm>
            <a:off x="594360" y="1965960"/>
            <a:ext cx="1737360" cy="777240"/>
          </a:xfrm>
          <a:prstGeom prst="rect">
            <a:avLst/>
          </a:prstGeom>
          <a:noFill/>
          <a:ln/>
        </p:spPr>
        <p:txBody>
          <a:bodyPr wrap="square" lIns="0" tIns="0" rIns="0" bIns="0" rtlCol="0" anchor="ctr"/>
          <a:lstStyle/>
          <a:p>
            <a:pPr algn="ctr" indent="0" marL="0">
              <a:buNone/>
            </a:pPr>
            <a:r>
              <a:rPr lang="en-US" sz="3000" b="1" dirty="0">
                <a:solidFill>
                  <a:srgbClr val="2A446F"/>
                </a:solidFill>
                <a:latin typeface="Segoe UI" pitchFamily="34" charset="0"/>
                <a:ea typeface="Segoe UI" pitchFamily="34" charset="-122"/>
                <a:cs typeface="Segoe UI" pitchFamily="34" charset="-120"/>
              </a:rPr>
              <a:t>47 min</a:t>
            </a:r>
            <a:endParaRPr lang="en-US" sz="3000" dirty="0"/>
          </a:p>
        </p:txBody>
      </p:sp>
      <p:sp>
        <p:nvSpPr>
          <p:cNvPr id="10" name="Text 7"/>
          <p:cNvSpPr/>
          <p:nvPr/>
        </p:nvSpPr>
        <p:spPr>
          <a:xfrm>
            <a:off x="594360" y="2743200"/>
            <a:ext cx="1737360" cy="594360"/>
          </a:xfrm>
          <a:prstGeom prst="rect">
            <a:avLst/>
          </a:prstGeom>
          <a:noFill/>
          <a:ln/>
        </p:spPr>
        <p:txBody>
          <a:bodyPr wrap="square" lIns="0" tIns="0" rIns="0" bIns="0" rtlCol="0" anchor="ctr"/>
          <a:lstStyle/>
          <a:p>
            <a:pPr algn="ctr" indent="0" marL="0">
              <a:buNone/>
            </a:pPr>
            <a:r>
              <a:rPr lang="en-US" sz="1100" dirty="0">
                <a:solidFill>
                  <a:srgbClr val="6B7E9B"/>
                </a:solidFill>
                <a:latin typeface="Segoe UI" pitchFamily="34" charset="0"/>
                <a:ea typeface="Segoe UI" pitchFamily="34" charset="-122"/>
                <a:cs typeface="Segoe UI" pitchFamily="34" charset="-120"/>
              </a:rPr>
              <a:t>earlier detection vs. dashboards</a:t>
            </a:r>
            <a:endParaRPr lang="en-US" sz="1100" dirty="0"/>
          </a:p>
        </p:txBody>
      </p:sp>
      <p:sp>
        <p:nvSpPr>
          <p:cNvPr id="11" name="Shape 8"/>
          <p:cNvSpPr/>
          <p:nvPr/>
        </p:nvSpPr>
        <p:spPr>
          <a:xfrm>
            <a:off x="2578608" y="1691640"/>
            <a:ext cx="1892808" cy="169164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12" name="Shape 9"/>
          <p:cNvSpPr/>
          <p:nvPr/>
        </p:nvSpPr>
        <p:spPr>
          <a:xfrm>
            <a:off x="2578608" y="1691640"/>
            <a:ext cx="1892808" cy="109728"/>
          </a:xfrm>
          <a:prstGeom prst="rect">
            <a:avLst/>
          </a:prstGeom>
          <a:solidFill>
            <a:srgbClr val="0078D4"/>
          </a:solidFill>
          <a:ln w="12700">
            <a:solidFill>
              <a:srgbClr val="0078D4"/>
            </a:solidFill>
            <a:prstDash val="solid"/>
          </a:ln>
        </p:spPr>
      </p:sp>
      <p:sp>
        <p:nvSpPr>
          <p:cNvPr id="13" name="Text 10"/>
          <p:cNvSpPr/>
          <p:nvPr/>
        </p:nvSpPr>
        <p:spPr>
          <a:xfrm>
            <a:off x="2670048" y="1965960"/>
            <a:ext cx="1737360" cy="777240"/>
          </a:xfrm>
          <a:prstGeom prst="rect">
            <a:avLst/>
          </a:prstGeom>
          <a:noFill/>
          <a:ln/>
        </p:spPr>
        <p:txBody>
          <a:bodyPr wrap="square" lIns="0" tIns="0" rIns="0" bIns="0" rtlCol="0" anchor="ctr"/>
          <a:lstStyle/>
          <a:p>
            <a:pPr algn="ctr" indent="0" marL="0">
              <a:buNone/>
            </a:pPr>
            <a:r>
              <a:rPr lang="en-US" sz="3000" b="1" dirty="0">
                <a:solidFill>
                  <a:srgbClr val="2A446F"/>
                </a:solidFill>
                <a:latin typeface="Segoe UI" pitchFamily="34" charset="0"/>
                <a:ea typeface="Segoe UI" pitchFamily="34" charset="-122"/>
                <a:cs typeface="Segoe UI" pitchFamily="34" charset="-120"/>
              </a:rPr>
              <a:t>NGN 8.7m</a:t>
            </a:r>
            <a:endParaRPr lang="en-US" sz="3000" dirty="0"/>
          </a:p>
        </p:txBody>
      </p:sp>
      <p:sp>
        <p:nvSpPr>
          <p:cNvPr id="14" name="Text 11"/>
          <p:cNvSpPr/>
          <p:nvPr/>
        </p:nvSpPr>
        <p:spPr>
          <a:xfrm>
            <a:off x="2670048" y="2743200"/>
            <a:ext cx="1737360" cy="594360"/>
          </a:xfrm>
          <a:prstGeom prst="rect">
            <a:avLst/>
          </a:prstGeom>
          <a:noFill/>
          <a:ln/>
        </p:spPr>
        <p:txBody>
          <a:bodyPr wrap="square" lIns="0" tIns="0" rIns="0" bIns="0" rtlCol="0" anchor="ctr"/>
          <a:lstStyle/>
          <a:p>
            <a:pPr algn="ctr" indent="0" marL="0">
              <a:buNone/>
            </a:pPr>
            <a:r>
              <a:rPr lang="en-US" sz="1100" dirty="0">
                <a:solidFill>
                  <a:srgbClr val="6B7E9B"/>
                </a:solidFill>
                <a:latin typeface="Segoe UI" pitchFamily="34" charset="0"/>
                <a:ea typeface="Segoe UI" pitchFamily="34" charset="-122"/>
                <a:cs typeface="Segoe UI" pitchFamily="34" charset="-120"/>
              </a:rPr>
              <a:t>revenue at risk surfaced per incident</a:t>
            </a:r>
            <a:endParaRPr lang="en-US" sz="1100" dirty="0"/>
          </a:p>
        </p:txBody>
      </p:sp>
      <p:sp>
        <p:nvSpPr>
          <p:cNvPr id="15" name="Shape 12"/>
          <p:cNvSpPr/>
          <p:nvPr/>
        </p:nvSpPr>
        <p:spPr>
          <a:xfrm>
            <a:off x="4654296" y="1691640"/>
            <a:ext cx="1892808" cy="169164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16" name="Shape 13"/>
          <p:cNvSpPr/>
          <p:nvPr/>
        </p:nvSpPr>
        <p:spPr>
          <a:xfrm>
            <a:off x="4654296" y="1691640"/>
            <a:ext cx="1892808" cy="109728"/>
          </a:xfrm>
          <a:prstGeom prst="rect">
            <a:avLst/>
          </a:prstGeom>
          <a:solidFill>
            <a:srgbClr val="FFBBA8"/>
          </a:solidFill>
          <a:ln w="12700">
            <a:solidFill>
              <a:srgbClr val="FFBBA8"/>
            </a:solidFill>
            <a:prstDash val="solid"/>
          </a:ln>
        </p:spPr>
      </p:sp>
      <p:sp>
        <p:nvSpPr>
          <p:cNvPr id="17" name="Text 14"/>
          <p:cNvSpPr/>
          <p:nvPr/>
        </p:nvSpPr>
        <p:spPr>
          <a:xfrm>
            <a:off x="4745736" y="1965960"/>
            <a:ext cx="1737360" cy="777240"/>
          </a:xfrm>
          <a:prstGeom prst="rect">
            <a:avLst/>
          </a:prstGeom>
          <a:noFill/>
          <a:ln/>
        </p:spPr>
        <p:txBody>
          <a:bodyPr wrap="square" lIns="0" tIns="0" rIns="0" bIns="0" rtlCol="0" anchor="ctr"/>
          <a:lstStyle/>
          <a:p>
            <a:pPr algn="ctr" indent="0" marL="0">
              <a:buNone/>
            </a:pPr>
            <a:r>
              <a:rPr lang="en-US" sz="3000" b="1" dirty="0">
                <a:solidFill>
                  <a:srgbClr val="2A446F"/>
                </a:solidFill>
                <a:latin typeface="Segoe UI" pitchFamily="34" charset="0"/>
                <a:ea typeface="Segoe UI" pitchFamily="34" charset="-122"/>
                <a:cs typeface="Segoe UI" pitchFamily="34" charset="-120"/>
              </a:rPr>
              <a:t>NGN 2.1m</a:t>
            </a:r>
            <a:endParaRPr lang="en-US" sz="3000" dirty="0"/>
          </a:p>
        </p:txBody>
      </p:sp>
      <p:sp>
        <p:nvSpPr>
          <p:cNvPr id="18" name="Text 15"/>
          <p:cNvSpPr/>
          <p:nvPr/>
        </p:nvSpPr>
        <p:spPr>
          <a:xfrm>
            <a:off x="4745736" y="2743200"/>
            <a:ext cx="1737360" cy="594360"/>
          </a:xfrm>
          <a:prstGeom prst="rect">
            <a:avLst/>
          </a:prstGeom>
          <a:noFill/>
          <a:ln/>
        </p:spPr>
        <p:txBody>
          <a:bodyPr wrap="square" lIns="0" tIns="0" rIns="0" bIns="0" rtlCol="0" anchor="ctr"/>
          <a:lstStyle/>
          <a:p>
            <a:pPr algn="ctr" indent="0" marL="0">
              <a:buNone/>
            </a:pPr>
            <a:r>
              <a:rPr lang="en-US" sz="1100" dirty="0">
                <a:solidFill>
                  <a:srgbClr val="6B7E9B"/>
                </a:solidFill>
                <a:latin typeface="Segoe UI" pitchFamily="34" charset="0"/>
                <a:ea typeface="Segoe UI" pitchFamily="34" charset="-122"/>
                <a:cs typeface="Segoe UI" pitchFamily="34" charset="-120"/>
              </a:rPr>
              <a:t>subscriber compensation avoided</a:t>
            </a:r>
            <a:endParaRPr lang="en-US" sz="1100" dirty="0"/>
          </a:p>
        </p:txBody>
      </p:sp>
      <p:sp>
        <p:nvSpPr>
          <p:cNvPr id="19" name="Shape 16"/>
          <p:cNvSpPr/>
          <p:nvPr/>
        </p:nvSpPr>
        <p:spPr>
          <a:xfrm>
            <a:off x="6729984" y="1691640"/>
            <a:ext cx="1892808" cy="169164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20" name="Shape 17"/>
          <p:cNvSpPr/>
          <p:nvPr/>
        </p:nvSpPr>
        <p:spPr>
          <a:xfrm>
            <a:off x="6729984" y="1691640"/>
            <a:ext cx="1892808" cy="109728"/>
          </a:xfrm>
          <a:prstGeom prst="rect">
            <a:avLst/>
          </a:prstGeom>
          <a:solidFill>
            <a:srgbClr val="FF9176"/>
          </a:solidFill>
          <a:ln w="12700">
            <a:solidFill>
              <a:srgbClr val="FF9176"/>
            </a:solidFill>
            <a:prstDash val="solid"/>
          </a:ln>
        </p:spPr>
      </p:sp>
      <p:sp>
        <p:nvSpPr>
          <p:cNvPr id="21" name="Text 18"/>
          <p:cNvSpPr/>
          <p:nvPr/>
        </p:nvSpPr>
        <p:spPr>
          <a:xfrm>
            <a:off x="6821424" y="1965960"/>
            <a:ext cx="1737360" cy="777240"/>
          </a:xfrm>
          <a:prstGeom prst="rect">
            <a:avLst/>
          </a:prstGeom>
          <a:noFill/>
          <a:ln/>
        </p:spPr>
        <p:txBody>
          <a:bodyPr wrap="square" lIns="0" tIns="0" rIns="0" bIns="0" rtlCol="0" anchor="ctr"/>
          <a:lstStyle/>
          <a:p>
            <a:pPr algn="ctr" indent="0" marL="0">
              <a:buNone/>
            </a:pPr>
            <a:r>
              <a:rPr lang="en-US" sz="3000" b="1" dirty="0">
                <a:solidFill>
                  <a:srgbClr val="2A446F"/>
                </a:solidFill>
                <a:latin typeface="Segoe UI" pitchFamily="34" charset="0"/>
                <a:ea typeface="Segoe UI" pitchFamily="34" charset="-122"/>
                <a:cs typeface="Segoe UI" pitchFamily="34" charset="-120"/>
              </a:rPr>
              <a:t>10 sec</a:t>
            </a:r>
            <a:endParaRPr lang="en-US" sz="3000" dirty="0"/>
          </a:p>
        </p:txBody>
      </p:sp>
      <p:sp>
        <p:nvSpPr>
          <p:cNvPr id="22" name="Text 19"/>
          <p:cNvSpPr/>
          <p:nvPr/>
        </p:nvSpPr>
        <p:spPr>
          <a:xfrm>
            <a:off x="6821424" y="2743200"/>
            <a:ext cx="1737360" cy="594360"/>
          </a:xfrm>
          <a:prstGeom prst="rect">
            <a:avLst/>
          </a:prstGeom>
          <a:noFill/>
          <a:ln/>
        </p:spPr>
        <p:txBody>
          <a:bodyPr wrap="square" lIns="0" tIns="0" rIns="0" bIns="0" rtlCol="0" anchor="ctr"/>
          <a:lstStyle/>
          <a:p>
            <a:pPr algn="ctr" indent="0" marL="0">
              <a:buNone/>
            </a:pPr>
            <a:r>
              <a:rPr lang="en-US" sz="1100" dirty="0">
                <a:solidFill>
                  <a:srgbClr val="6B7E9B"/>
                </a:solidFill>
                <a:latin typeface="Segoe UI" pitchFamily="34" charset="0"/>
                <a:ea typeface="Segoe UI" pitchFamily="34" charset="-122"/>
                <a:cs typeface="Segoe UI" pitchFamily="34" charset="-120"/>
              </a:rPr>
              <a:t>to assemble the NCC compliance pack</a:t>
            </a:r>
            <a:endParaRPr lang="en-US" sz="1100" dirty="0"/>
          </a:p>
        </p:txBody>
      </p:sp>
      <p:sp>
        <p:nvSpPr>
          <p:cNvPr id="23" name="Text 20"/>
          <p:cNvSpPr/>
          <p:nvPr/>
        </p:nvSpPr>
        <p:spPr>
          <a:xfrm>
            <a:off x="502920" y="3429000"/>
            <a:ext cx="8138160" cy="274320"/>
          </a:xfrm>
          <a:prstGeom prst="rect">
            <a:avLst/>
          </a:prstGeom>
          <a:noFill/>
          <a:ln/>
        </p:spPr>
        <p:txBody>
          <a:bodyPr wrap="square" lIns="0" tIns="0" rIns="0" bIns="0" rtlCol="0" anchor="ctr"/>
          <a:lstStyle/>
          <a:p>
            <a:pPr indent="0" marL="0">
              <a:buNone/>
            </a:pPr>
            <a:r>
              <a:rPr lang="en-US" sz="1200" b="1" dirty="0">
                <a:solidFill>
                  <a:srgbClr val="2A446F"/>
                </a:solidFill>
                <a:latin typeface="Segoe UI" pitchFamily="34" charset="0"/>
                <a:ea typeface="Segoe UI" pitchFamily="34" charset="-122"/>
                <a:cs typeface="Segoe UI" pitchFamily="34" charset="-120"/>
              </a:rPr>
              <a:t>Per-incident operator outcome</a:t>
            </a:r>
            <a:endParaRPr lang="en-US" sz="1200" dirty="0"/>
          </a:p>
        </p:txBody>
      </p:sp>
      <p:graphicFrame>
        <p:nvGraphicFramePr>
          <p:cNvPr id="24" name="Chart 0" descr=""/>
          <p:cNvGraphicFramePr/>
          <p:nvPr/>
        </p:nvGraphicFramePr>
        <p:xfrm>
          <a:off x="502920" y="3703320"/>
          <a:ext cx="8138160" cy="11887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F3"/>
        </a:solidFill>
      </p:bgPr>
    </p:bg>
    <p:spTree>
      <p:nvGrpSpPr>
        <p:cNvPr id="1" name=""/>
        <p:cNvGrpSpPr/>
        <p:nvPr/>
      </p:nvGrpSpPr>
      <p:grpSpPr>
        <a:xfrm>
          <a:off x="0" y="0"/>
          <a:ext cx="0" cy="0"/>
          <a:chOff x="0" y="0"/>
          <a:chExt cx="0" cy="0"/>
        </a:xfrm>
      </p:grpSpPr>
      <p:sp>
        <p:nvSpPr>
          <p:cNvPr id="3" name="Shape 0"/>
          <p:cNvSpPr/>
          <p:nvPr/>
        </p:nvSpPr>
        <p:spPr>
          <a:xfrm>
            <a:off x="457200" y="411480"/>
            <a:ext cx="164592" cy="292608"/>
          </a:xfrm>
          <a:prstGeom prst="rect">
            <a:avLst/>
          </a:prstGeom>
          <a:solidFill>
            <a:srgbClr val="0078D4"/>
          </a:solidFill>
          <a:ln w="12700">
            <a:solidFill>
              <a:srgbClr val="0078D4"/>
            </a:solidFill>
            <a:prstDash val="solid"/>
          </a:ln>
        </p:spPr>
      </p:sp>
      <p:sp>
        <p:nvSpPr>
          <p:cNvPr id="4" name="Text 1"/>
          <p:cNvSpPr/>
          <p:nvPr/>
        </p:nvSpPr>
        <p:spPr>
          <a:xfrm>
            <a:off x="713232" y="384048"/>
            <a:ext cx="7955280" cy="329184"/>
          </a:xfrm>
          <a:prstGeom prst="rect">
            <a:avLst/>
          </a:prstGeom>
          <a:noFill/>
          <a:ln/>
        </p:spPr>
        <p:txBody>
          <a:bodyPr wrap="square" lIns="0" tIns="0" rIns="0" bIns="0" rtlCol="0" anchor="ctr"/>
          <a:lstStyle/>
          <a:p>
            <a:pPr indent="0" marL="0">
              <a:buNone/>
            </a:pPr>
            <a:r>
              <a:rPr lang="en-US" sz="1100" b="1" spc="400" kern="0" dirty="0">
                <a:solidFill>
                  <a:srgbClr val="0078D4"/>
                </a:solidFill>
                <a:latin typeface="Segoe UI" pitchFamily="34" charset="0"/>
                <a:ea typeface="Segoe UI" pitchFamily="34" charset="-122"/>
                <a:cs typeface="Segoe UI" pitchFamily="34" charset="-120"/>
              </a:rPr>
              <a:t>WHY WE WIN</a:t>
            </a:r>
            <a:endParaRPr lang="en-US" sz="1100" dirty="0"/>
          </a:p>
        </p:txBody>
      </p:sp>
      <p:sp>
        <p:nvSpPr>
          <p:cNvPr id="5" name="Text 2"/>
          <p:cNvSpPr/>
          <p:nvPr/>
        </p:nvSpPr>
        <p:spPr>
          <a:xfrm>
            <a:off x="457200" y="777240"/>
            <a:ext cx="8686800" cy="548640"/>
          </a:xfrm>
          <a:prstGeom prst="rect">
            <a:avLst/>
          </a:prstGeom>
          <a:noFill/>
          <a:ln/>
        </p:spPr>
        <p:txBody>
          <a:bodyPr wrap="square" lIns="0" tIns="0" rIns="0" bIns="0" rtlCol="0" anchor="ctr"/>
          <a:lstStyle/>
          <a:p>
            <a:pPr indent="0" marL="0">
              <a:buNone/>
            </a:pPr>
            <a:r>
              <a:rPr lang="en-US" sz="2600" b="1" dirty="0">
                <a:solidFill>
                  <a:srgbClr val="2A446F"/>
                </a:solidFill>
                <a:latin typeface="Segoe UI" pitchFamily="34" charset="0"/>
                <a:ea typeface="Segoe UI" pitchFamily="34" charset="-122"/>
                <a:cs typeface="Segoe UI" pitchFamily="34" charset="-120"/>
              </a:rPr>
              <a:t>Not a chatbot. Not a BI tool. A new category.</a:t>
            </a:r>
            <a:endParaRPr lang="en-US" sz="2600" dirty="0"/>
          </a:p>
        </p:txBody>
      </p:sp>
      <p:sp>
        <p:nvSpPr>
          <p:cNvPr id="6" name="Shape 3"/>
          <p:cNvSpPr/>
          <p:nvPr/>
        </p:nvSpPr>
        <p:spPr>
          <a:xfrm>
            <a:off x="457200" y="1417320"/>
            <a:ext cx="8229600" cy="0"/>
          </a:xfrm>
          <a:prstGeom prst="line">
            <a:avLst/>
          </a:prstGeom>
          <a:noFill/>
          <a:ln w="9525">
            <a:solidFill>
              <a:srgbClr val="EAD9C9"/>
            </a:solidFill>
            <a:prstDash val="solid"/>
          </a:ln>
        </p:spPr>
      </p:sp>
      <p:sp>
        <p:nvSpPr>
          <p:cNvPr id="7" name="Shape 4"/>
          <p:cNvSpPr/>
          <p:nvPr/>
        </p:nvSpPr>
        <p:spPr>
          <a:xfrm>
            <a:off x="502920" y="1645920"/>
            <a:ext cx="2606040" cy="502920"/>
          </a:xfrm>
          <a:prstGeom prst="rect">
            <a:avLst/>
          </a:prstGeom>
          <a:solidFill>
            <a:srgbClr val="6B7E9B"/>
          </a:solidFill>
          <a:ln w="12700">
            <a:solidFill>
              <a:srgbClr val="6B7E9B"/>
            </a:solidFill>
            <a:prstDash val="solid"/>
          </a:ln>
        </p:spPr>
      </p:sp>
      <p:sp>
        <p:nvSpPr>
          <p:cNvPr id="8" name="Text 5"/>
          <p:cNvSpPr/>
          <p:nvPr/>
        </p:nvSpPr>
        <p:spPr>
          <a:xfrm>
            <a:off x="502920" y="1645920"/>
            <a:ext cx="260604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Legacy NMS</a:t>
            </a:r>
            <a:endParaRPr lang="en-US" sz="1400" dirty="0"/>
          </a:p>
        </p:txBody>
      </p:sp>
      <p:sp>
        <p:nvSpPr>
          <p:cNvPr id="9" name="Text 6"/>
          <p:cNvSpPr/>
          <p:nvPr/>
        </p:nvSpPr>
        <p:spPr>
          <a:xfrm>
            <a:off x="502920" y="1901952"/>
            <a:ext cx="2606040" cy="246888"/>
          </a:xfrm>
          <a:prstGeom prst="rect">
            <a:avLst/>
          </a:prstGeom>
          <a:noFill/>
          <a:ln/>
        </p:spPr>
        <p:txBody>
          <a:bodyPr wrap="square" lIns="0" tIns="0" rIns="0" bIns="0" rtlCol="0" anchor="ctr"/>
          <a:lstStyle/>
          <a:p>
            <a:pPr algn="ctr" indent="0" marL="0">
              <a:buNone/>
            </a:pPr>
            <a:r>
              <a:rPr lang="en-US" sz="950" dirty="0">
                <a:solidFill>
                  <a:srgbClr val="FFFFFF"/>
                </a:solidFill>
                <a:latin typeface="Segoe UI" pitchFamily="34" charset="0"/>
                <a:ea typeface="Segoe UI" pitchFamily="34" charset="-122"/>
                <a:cs typeface="Segoe UI" pitchFamily="34" charset="-120"/>
              </a:rPr>
              <a:t>Network monitoring</a:t>
            </a:r>
            <a:endParaRPr lang="en-US" sz="950" dirty="0"/>
          </a:p>
        </p:txBody>
      </p:sp>
      <p:sp>
        <p:nvSpPr>
          <p:cNvPr id="10" name="Shape 7"/>
          <p:cNvSpPr/>
          <p:nvPr/>
        </p:nvSpPr>
        <p:spPr>
          <a:xfrm>
            <a:off x="502920" y="2148840"/>
            <a:ext cx="2606040" cy="2468880"/>
          </a:xfrm>
          <a:prstGeom prst="rect">
            <a:avLst/>
          </a:prstGeom>
          <a:solidFill>
            <a:srgbClr val="FFF8F3"/>
          </a:solidFill>
          <a:ln w="9525">
            <a:solidFill>
              <a:srgbClr val="EAD9C9"/>
            </a:solidFill>
            <a:prstDash val="solid"/>
          </a:ln>
        </p:spPr>
      </p:sp>
      <p:sp>
        <p:nvSpPr>
          <p:cNvPr id="11" name="Text 8"/>
          <p:cNvSpPr/>
          <p:nvPr/>
        </p:nvSpPr>
        <p:spPr>
          <a:xfrm>
            <a:off x="640080" y="2286000"/>
            <a:ext cx="274320" cy="365760"/>
          </a:xfrm>
          <a:prstGeom prst="rect">
            <a:avLst/>
          </a:prstGeom>
          <a:noFill/>
          <a:ln/>
        </p:spPr>
        <p:txBody>
          <a:bodyPr wrap="square" lIns="0" tIns="0" rIns="0" bIns="0" rtlCol="0" anchor="ctr"/>
          <a:lstStyle/>
          <a:p>
            <a:pPr indent="0" marL="0">
              <a:buNone/>
            </a:pPr>
            <a:r>
              <a:rPr lang="en-US" sz="1600" b="1" dirty="0">
                <a:solidFill>
                  <a:srgbClr val="FF9176"/>
                </a:solidFill>
                <a:latin typeface="Segoe UI" pitchFamily="34" charset="0"/>
                <a:ea typeface="Segoe UI" pitchFamily="34" charset="-122"/>
                <a:cs typeface="Segoe UI" pitchFamily="34" charset="-120"/>
              </a:rPr>
              <a:t>✕</a:t>
            </a:r>
            <a:endParaRPr lang="en-US" sz="1600" dirty="0"/>
          </a:p>
        </p:txBody>
      </p:sp>
      <p:sp>
        <p:nvSpPr>
          <p:cNvPr id="12" name="Text 9"/>
          <p:cNvSpPr/>
          <p:nvPr/>
        </p:nvSpPr>
        <p:spPr>
          <a:xfrm>
            <a:off x="960120" y="2286000"/>
            <a:ext cx="2103120" cy="457200"/>
          </a:xfrm>
          <a:prstGeom prst="rect">
            <a:avLst/>
          </a:prstGeom>
          <a:noFill/>
          <a:ln/>
        </p:spPr>
        <p:txBody>
          <a:bodyPr wrap="square" lIns="0" tIns="0" rIns="0" bIns="0" rtlCol="0" anchor="ctr"/>
          <a:lstStyle/>
          <a:p>
            <a:pPr indent="0" marL="0">
              <a:buNone/>
            </a:pPr>
            <a:r>
              <a:rPr lang="en-US" sz="1150" dirty="0">
                <a:solidFill>
                  <a:srgbClr val="6B7E9B"/>
                </a:solidFill>
                <a:latin typeface="Segoe UI" pitchFamily="34" charset="0"/>
                <a:ea typeface="Segoe UI" pitchFamily="34" charset="-122"/>
                <a:cs typeface="Segoe UI" pitchFamily="34" charset="-120"/>
              </a:rPr>
              <a:t>Single-domain visibility</a:t>
            </a:r>
            <a:endParaRPr lang="en-US" sz="1150" dirty="0"/>
          </a:p>
        </p:txBody>
      </p:sp>
      <p:sp>
        <p:nvSpPr>
          <p:cNvPr id="13" name="Text 10"/>
          <p:cNvSpPr/>
          <p:nvPr/>
        </p:nvSpPr>
        <p:spPr>
          <a:xfrm>
            <a:off x="640080" y="2788920"/>
            <a:ext cx="274320" cy="365760"/>
          </a:xfrm>
          <a:prstGeom prst="rect">
            <a:avLst/>
          </a:prstGeom>
          <a:noFill/>
          <a:ln/>
        </p:spPr>
        <p:txBody>
          <a:bodyPr wrap="square" lIns="0" tIns="0" rIns="0" bIns="0" rtlCol="0" anchor="ctr"/>
          <a:lstStyle/>
          <a:p>
            <a:pPr indent="0" marL="0">
              <a:buNone/>
            </a:pPr>
            <a:r>
              <a:rPr lang="en-US" sz="1600" b="1" dirty="0">
                <a:solidFill>
                  <a:srgbClr val="FF9176"/>
                </a:solidFill>
                <a:latin typeface="Segoe UI" pitchFamily="34" charset="0"/>
                <a:ea typeface="Segoe UI" pitchFamily="34" charset="-122"/>
                <a:cs typeface="Segoe UI" pitchFamily="34" charset="-120"/>
              </a:rPr>
              <a:t>✕</a:t>
            </a:r>
            <a:endParaRPr lang="en-US" sz="1600" dirty="0"/>
          </a:p>
        </p:txBody>
      </p:sp>
      <p:sp>
        <p:nvSpPr>
          <p:cNvPr id="14" name="Text 11"/>
          <p:cNvSpPr/>
          <p:nvPr/>
        </p:nvSpPr>
        <p:spPr>
          <a:xfrm>
            <a:off x="960120" y="2788920"/>
            <a:ext cx="2103120" cy="457200"/>
          </a:xfrm>
          <a:prstGeom prst="rect">
            <a:avLst/>
          </a:prstGeom>
          <a:noFill/>
          <a:ln/>
        </p:spPr>
        <p:txBody>
          <a:bodyPr wrap="square" lIns="0" tIns="0" rIns="0" bIns="0" rtlCol="0" anchor="ctr"/>
          <a:lstStyle/>
          <a:p>
            <a:pPr indent="0" marL="0">
              <a:buNone/>
            </a:pPr>
            <a:r>
              <a:rPr lang="en-US" sz="1150" dirty="0">
                <a:solidFill>
                  <a:srgbClr val="6B7E9B"/>
                </a:solidFill>
                <a:latin typeface="Segoe UI" pitchFamily="34" charset="0"/>
                <a:ea typeface="Segoe UI" pitchFamily="34" charset="-122"/>
                <a:cs typeface="Segoe UI" pitchFamily="34" charset="-120"/>
              </a:rPr>
              <a:t>Static thresholds</a:t>
            </a:r>
            <a:endParaRPr lang="en-US" sz="1150" dirty="0"/>
          </a:p>
        </p:txBody>
      </p:sp>
      <p:sp>
        <p:nvSpPr>
          <p:cNvPr id="15" name="Text 12"/>
          <p:cNvSpPr/>
          <p:nvPr/>
        </p:nvSpPr>
        <p:spPr>
          <a:xfrm>
            <a:off x="640080" y="3291840"/>
            <a:ext cx="274320" cy="365760"/>
          </a:xfrm>
          <a:prstGeom prst="rect">
            <a:avLst/>
          </a:prstGeom>
          <a:noFill/>
          <a:ln/>
        </p:spPr>
        <p:txBody>
          <a:bodyPr wrap="square" lIns="0" tIns="0" rIns="0" bIns="0" rtlCol="0" anchor="ctr"/>
          <a:lstStyle/>
          <a:p>
            <a:pPr indent="0" marL="0">
              <a:buNone/>
            </a:pPr>
            <a:r>
              <a:rPr lang="en-US" sz="1600" b="1" dirty="0">
                <a:solidFill>
                  <a:srgbClr val="FF9176"/>
                </a:solidFill>
                <a:latin typeface="Segoe UI" pitchFamily="34" charset="0"/>
                <a:ea typeface="Segoe UI" pitchFamily="34" charset="-122"/>
                <a:cs typeface="Segoe UI" pitchFamily="34" charset="-120"/>
              </a:rPr>
              <a:t>✕</a:t>
            </a:r>
            <a:endParaRPr lang="en-US" sz="1600" dirty="0"/>
          </a:p>
        </p:txBody>
      </p:sp>
      <p:sp>
        <p:nvSpPr>
          <p:cNvPr id="16" name="Text 13"/>
          <p:cNvSpPr/>
          <p:nvPr/>
        </p:nvSpPr>
        <p:spPr>
          <a:xfrm>
            <a:off x="960120" y="3291840"/>
            <a:ext cx="2103120" cy="457200"/>
          </a:xfrm>
          <a:prstGeom prst="rect">
            <a:avLst/>
          </a:prstGeom>
          <a:noFill/>
          <a:ln/>
        </p:spPr>
        <p:txBody>
          <a:bodyPr wrap="square" lIns="0" tIns="0" rIns="0" bIns="0" rtlCol="0" anchor="ctr"/>
          <a:lstStyle/>
          <a:p>
            <a:pPr indent="0" marL="0">
              <a:buNone/>
            </a:pPr>
            <a:r>
              <a:rPr lang="en-US" sz="1150" dirty="0">
                <a:solidFill>
                  <a:srgbClr val="6B7E9B"/>
                </a:solidFill>
                <a:latin typeface="Segoe UI" pitchFamily="34" charset="0"/>
                <a:ea typeface="Segoe UI" pitchFamily="34" charset="-122"/>
                <a:cs typeface="Segoe UI" pitchFamily="34" charset="-120"/>
              </a:rPr>
              <a:t>No mitigation guidance</a:t>
            </a:r>
            <a:endParaRPr lang="en-US" sz="1150" dirty="0"/>
          </a:p>
        </p:txBody>
      </p:sp>
      <p:sp>
        <p:nvSpPr>
          <p:cNvPr id="17" name="Text 14"/>
          <p:cNvSpPr/>
          <p:nvPr/>
        </p:nvSpPr>
        <p:spPr>
          <a:xfrm>
            <a:off x="640080" y="3794760"/>
            <a:ext cx="274320" cy="365760"/>
          </a:xfrm>
          <a:prstGeom prst="rect">
            <a:avLst/>
          </a:prstGeom>
          <a:noFill/>
          <a:ln/>
        </p:spPr>
        <p:txBody>
          <a:bodyPr wrap="square" lIns="0" tIns="0" rIns="0" bIns="0" rtlCol="0" anchor="ctr"/>
          <a:lstStyle/>
          <a:p>
            <a:pPr indent="0" marL="0">
              <a:buNone/>
            </a:pPr>
            <a:r>
              <a:rPr lang="en-US" sz="1600" b="1" dirty="0">
                <a:solidFill>
                  <a:srgbClr val="FF9176"/>
                </a:solidFill>
                <a:latin typeface="Segoe UI" pitchFamily="34" charset="0"/>
                <a:ea typeface="Segoe UI" pitchFamily="34" charset="-122"/>
                <a:cs typeface="Segoe UI" pitchFamily="34" charset="-120"/>
              </a:rPr>
              <a:t>✕</a:t>
            </a:r>
            <a:endParaRPr lang="en-US" sz="1600" dirty="0"/>
          </a:p>
        </p:txBody>
      </p:sp>
      <p:sp>
        <p:nvSpPr>
          <p:cNvPr id="18" name="Text 15"/>
          <p:cNvSpPr/>
          <p:nvPr/>
        </p:nvSpPr>
        <p:spPr>
          <a:xfrm>
            <a:off x="960120" y="3794760"/>
            <a:ext cx="2103120" cy="457200"/>
          </a:xfrm>
          <a:prstGeom prst="rect">
            <a:avLst/>
          </a:prstGeom>
          <a:noFill/>
          <a:ln/>
        </p:spPr>
        <p:txBody>
          <a:bodyPr wrap="square" lIns="0" tIns="0" rIns="0" bIns="0" rtlCol="0" anchor="ctr"/>
          <a:lstStyle/>
          <a:p>
            <a:pPr indent="0" marL="0">
              <a:buNone/>
            </a:pPr>
            <a:r>
              <a:rPr lang="en-US" sz="1150" dirty="0">
                <a:solidFill>
                  <a:srgbClr val="6B7E9B"/>
                </a:solidFill>
                <a:latin typeface="Segoe UI" pitchFamily="34" charset="0"/>
                <a:ea typeface="Segoe UI" pitchFamily="34" charset="-122"/>
                <a:cs typeface="Segoe UI" pitchFamily="34" charset="-120"/>
              </a:rPr>
              <a:t>Manual NCC reporting</a:t>
            </a:r>
            <a:endParaRPr lang="en-US" sz="1150" dirty="0"/>
          </a:p>
        </p:txBody>
      </p:sp>
      <p:sp>
        <p:nvSpPr>
          <p:cNvPr id="19" name="Shape 16"/>
          <p:cNvSpPr/>
          <p:nvPr/>
        </p:nvSpPr>
        <p:spPr>
          <a:xfrm>
            <a:off x="3291840" y="1645920"/>
            <a:ext cx="2606040" cy="502920"/>
          </a:xfrm>
          <a:prstGeom prst="rect">
            <a:avLst/>
          </a:prstGeom>
          <a:solidFill>
            <a:srgbClr val="FFBBA8"/>
          </a:solidFill>
          <a:ln w="12700">
            <a:solidFill>
              <a:srgbClr val="FFBBA8"/>
            </a:solidFill>
            <a:prstDash val="solid"/>
          </a:ln>
        </p:spPr>
      </p:sp>
      <p:sp>
        <p:nvSpPr>
          <p:cNvPr id="20" name="Text 17"/>
          <p:cNvSpPr/>
          <p:nvPr/>
        </p:nvSpPr>
        <p:spPr>
          <a:xfrm>
            <a:off x="3291840" y="1645920"/>
            <a:ext cx="260604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Generic LLM chat</a:t>
            </a:r>
            <a:endParaRPr lang="en-US" sz="1400" dirty="0"/>
          </a:p>
        </p:txBody>
      </p:sp>
      <p:sp>
        <p:nvSpPr>
          <p:cNvPr id="21" name="Text 18"/>
          <p:cNvSpPr/>
          <p:nvPr/>
        </p:nvSpPr>
        <p:spPr>
          <a:xfrm>
            <a:off x="3291840" y="1901952"/>
            <a:ext cx="2606040" cy="246888"/>
          </a:xfrm>
          <a:prstGeom prst="rect">
            <a:avLst/>
          </a:prstGeom>
          <a:noFill/>
          <a:ln/>
        </p:spPr>
        <p:txBody>
          <a:bodyPr wrap="square" lIns="0" tIns="0" rIns="0" bIns="0" rtlCol="0" anchor="ctr"/>
          <a:lstStyle/>
          <a:p>
            <a:pPr algn="ctr" indent="0" marL="0">
              <a:buNone/>
            </a:pPr>
            <a:r>
              <a:rPr lang="en-US" sz="950" dirty="0">
                <a:solidFill>
                  <a:srgbClr val="FFFFFF"/>
                </a:solidFill>
                <a:latin typeface="Segoe UI" pitchFamily="34" charset="0"/>
                <a:ea typeface="Segoe UI" pitchFamily="34" charset="-122"/>
                <a:cs typeface="Segoe UI" pitchFamily="34" charset="-120"/>
              </a:rPr>
              <a:t>ChatGPT-style</a:t>
            </a:r>
            <a:endParaRPr lang="en-US" sz="950" dirty="0"/>
          </a:p>
        </p:txBody>
      </p:sp>
      <p:sp>
        <p:nvSpPr>
          <p:cNvPr id="22" name="Shape 19"/>
          <p:cNvSpPr/>
          <p:nvPr/>
        </p:nvSpPr>
        <p:spPr>
          <a:xfrm>
            <a:off x="3291840" y="2148840"/>
            <a:ext cx="2606040" cy="2468880"/>
          </a:xfrm>
          <a:prstGeom prst="rect">
            <a:avLst/>
          </a:prstGeom>
          <a:solidFill>
            <a:srgbClr val="FFF8F3"/>
          </a:solidFill>
          <a:ln w="9525">
            <a:solidFill>
              <a:srgbClr val="EAD9C9"/>
            </a:solidFill>
            <a:prstDash val="solid"/>
          </a:ln>
        </p:spPr>
      </p:sp>
      <p:sp>
        <p:nvSpPr>
          <p:cNvPr id="23" name="Text 20"/>
          <p:cNvSpPr/>
          <p:nvPr/>
        </p:nvSpPr>
        <p:spPr>
          <a:xfrm>
            <a:off x="3429000" y="2286000"/>
            <a:ext cx="274320" cy="365760"/>
          </a:xfrm>
          <a:prstGeom prst="rect">
            <a:avLst/>
          </a:prstGeom>
          <a:noFill/>
          <a:ln/>
        </p:spPr>
        <p:txBody>
          <a:bodyPr wrap="square" lIns="0" tIns="0" rIns="0" bIns="0" rtlCol="0" anchor="ctr"/>
          <a:lstStyle/>
          <a:p>
            <a:pPr indent="0" marL="0">
              <a:buNone/>
            </a:pPr>
            <a:r>
              <a:rPr lang="en-US" sz="1600" b="1" dirty="0">
                <a:solidFill>
                  <a:srgbClr val="FF9176"/>
                </a:solidFill>
                <a:latin typeface="Segoe UI" pitchFamily="34" charset="0"/>
                <a:ea typeface="Segoe UI" pitchFamily="34" charset="-122"/>
                <a:cs typeface="Segoe UI" pitchFamily="34" charset="-120"/>
              </a:rPr>
              <a:t>✕</a:t>
            </a:r>
            <a:endParaRPr lang="en-US" sz="1600" dirty="0"/>
          </a:p>
        </p:txBody>
      </p:sp>
      <p:sp>
        <p:nvSpPr>
          <p:cNvPr id="24" name="Text 21"/>
          <p:cNvSpPr/>
          <p:nvPr/>
        </p:nvSpPr>
        <p:spPr>
          <a:xfrm>
            <a:off x="3749040" y="2286000"/>
            <a:ext cx="2103120" cy="457200"/>
          </a:xfrm>
          <a:prstGeom prst="rect">
            <a:avLst/>
          </a:prstGeom>
          <a:noFill/>
          <a:ln/>
        </p:spPr>
        <p:txBody>
          <a:bodyPr wrap="square" lIns="0" tIns="0" rIns="0" bIns="0" rtlCol="0" anchor="ctr"/>
          <a:lstStyle/>
          <a:p>
            <a:pPr indent="0" marL="0">
              <a:buNone/>
            </a:pPr>
            <a:r>
              <a:rPr lang="en-US" sz="1150" dirty="0">
                <a:solidFill>
                  <a:srgbClr val="6B7E9B"/>
                </a:solidFill>
                <a:latin typeface="Segoe UI" pitchFamily="34" charset="0"/>
                <a:ea typeface="Segoe UI" pitchFamily="34" charset="-122"/>
                <a:cs typeface="Segoe UI" pitchFamily="34" charset="-120"/>
              </a:rPr>
              <a:t>Hallucinates KPIs</a:t>
            </a:r>
            <a:endParaRPr lang="en-US" sz="1150" dirty="0"/>
          </a:p>
        </p:txBody>
      </p:sp>
      <p:sp>
        <p:nvSpPr>
          <p:cNvPr id="25" name="Text 22"/>
          <p:cNvSpPr/>
          <p:nvPr/>
        </p:nvSpPr>
        <p:spPr>
          <a:xfrm>
            <a:off x="3429000" y="2788920"/>
            <a:ext cx="274320" cy="365760"/>
          </a:xfrm>
          <a:prstGeom prst="rect">
            <a:avLst/>
          </a:prstGeom>
          <a:noFill/>
          <a:ln/>
        </p:spPr>
        <p:txBody>
          <a:bodyPr wrap="square" lIns="0" tIns="0" rIns="0" bIns="0" rtlCol="0" anchor="ctr"/>
          <a:lstStyle/>
          <a:p>
            <a:pPr indent="0" marL="0">
              <a:buNone/>
            </a:pPr>
            <a:r>
              <a:rPr lang="en-US" sz="1600" b="1" dirty="0">
                <a:solidFill>
                  <a:srgbClr val="FF9176"/>
                </a:solidFill>
                <a:latin typeface="Segoe UI" pitchFamily="34" charset="0"/>
                <a:ea typeface="Segoe UI" pitchFamily="34" charset="-122"/>
                <a:cs typeface="Segoe UI" pitchFamily="34" charset="-120"/>
              </a:rPr>
              <a:t>✕</a:t>
            </a:r>
            <a:endParaRPr lang="en-US" sz="1600" dirty="0"/>
          </a:p>
        </p:txBody>
      </p:sp>
      <p:sp>
        <p:nvSpPr>
          <p:cNvPr id="26" name="Text 23"/>
          <p:cNvSpPr/>
          <p:nvPr/>
        </p:nvSpPr>
        <p:spPr>
          <a:xfrm>
            <a:off x="3749040" y="2788920"/>
            <a:ext cx="2103120" cy="457200"/>
          </a:xfrm>
          <a:prstGeom prst="rect">
            <a:avLst/>
          </a:prstGeom>
          <a:noFill/>
          <a:ln/>
        </p:spPr>
        <p:txBody>
          <a:bodyPr wrap="square" lIns="0" tIns="0" rIns="0" bIns="0" rtlCol="0" anchor="ctr"/>
          <a:lstStyle/>
          <a:p>
            <a:pPr indent="0" marL="0">
              <a:buNone/>
            </a:pPr>
            <a:r>
              <a:rPr lang="en-US" sz="1150" dirty="0">
                <a:solidFill>
                  <a:srgbClr val="6B7E9B"/>
                </a:solidFill>
                <a:latin typeface="Segoe UI" pitchFamily="34" charset="0"/>
                <a:ea typeface="Segoe UI" pitchFamily="34" charset="-122"/>
                <a:cs typeface="Segoe UI" pitchFamily="34" charset="-120"/>
              </a:rPr>
              <a:t>No live data tools</a:t>
            </a:r>
            <a:endParaRPr lang="en-US" sz="1150" dirty="0"/>
          </a:p>
        </p:txBody>
      </p:sp>
      <p:sp>
        <p:nvSpPr>
          <p:cNvPr id="27" name="Text 24"/>
          <p:cNvSpPr/>
          <p:nvPr/>
        </p:nvSpPr>
        <p:spPr>
          <a:xfrm>
            <a:off x="3429000" y="3291840"/>
            <a:ext cx="274320" cy="365760"/>
          </a:xfrm>
          <a:prstGeom prst="rect">
            <a:avLst/>
          </a:prstGeom>
          <a:noFill/>
          <a:ln/>
        </p:spPr>
        <p:txBody>
          <a:bodyPr wrap="square" lIns="0" tIns="0" rIns="0" bIns="0" rtlCol="0" anchor="ctr"/>
          <a:lstStyle/>
          <a:p>
            <a:pPr indent="0" marL="0">
              <a:buNone/>
            </a:pPr>
            <a:r>
              <a:rPr lang="en-US" sz="1600" b="1" dirty="0">
                <a:solidFill>
                  <a:srgbClr val="FF9176"/>
                </a:solidFill>
                <a:latin typeface="Segoe UI" pitchFamily="34" charset="0"/>
                <a:ea typeface="Segoe UI" pitchFamily="34" charset="-122"/>
                <a:cs typeface="Segoe UI" pitchFamily="34" charset="-120"/>
              </a:rPr>
              <a:t>✕</a:t>
            </a:r>
            <a:endParaRPr lang="en-US" sz="1600" dirty="0"/>
          </a:p>
        </p:txBody>
      </p:sp>
      <p:sp>
        <p:nvSpPr>
          <p:cNvPr id="28" name="Text 25"/>
          <p:cNvSpPr/>
          <p:nvPr/>
        </p:nvSpPr>
        <p:spPr>
          <a:xfrm>
            <a:off x="3749040" y="3291840"/>
            <a:ext cx="2103120" cy="457200"/>
          </a:xfrm>
          <a:prstGeom prst="rect">
            <a:avLst/>
          </a:prstGeom>
          <a:noFill/>
          <a:ln/>
        </p:spPr>
        <p:txBody>
          <a:bodyPr wrap="square" lIns="0" tIns="0" rIns="0" bIns="0" rtlCol="0" anchor="ctr"/>
          <a:lstStyle/>
          <a:p>
            <a:pPr indent="0" marL="0">
              <a:buNone/>
            </a:pPr>
            <a:r>
              <a:rPr lang="en-US" sz="1150" dirty="0">
                <a:solidFill>
                  <a:srgbClr val="6B7E9B"/>
                </a:solidFill>
                <a:latin typeface="Segoe UI" pitchFamily="34" charset="0"/>
                <a:ea typeface="Segoe UI" pitchFamily="34" charset="-122"/>
                <a:cs typeface="Segoe UI" pitchFamily="34" charset="-120"/>
              </a:rPr>
              <a:t>No audit trail</a:t>
            </a:r>
            <a:endParaRPr lang="en-US" sz="1150" dirty="0"/>
          </a:p>
        </p:txBody>
      </p:sp>
      <p:sp>
        <p:nvSpPr>
          <p:cNvPr id="29" name="Text 26"/>
          <p:cNvSpPr/>
          <p:nvPr/>
        </p:nvSpPr>
        <p:spPr>
          <a:xfrm>
            <a:off x="3429000" y="3794760"/>
            <a:ext cx="274320" cy="365760"/>
          </a:xfrm>
          <a:prstGeom prst="rect">
            <a:avLst/>
          </a:prstGeom>
          <a:noFill/>
          <a:ln/>
        </p:spPr>
        <p:txBody>
          <a:bodyPr wrap="square" lIns="0" tIns="0" rIns="0" bIns="0" rtlCol="0" anchor="ctr"/>
          <a:lstStyle/>
          <a:p>
            <a:pPr indent="0" marL="0">
              <a:buNone/>
            </a:pPr>
            <a:r>
              <a:rPr lang="en-US" sz="1600" b="1" dirty="0">
                <a:solidFill>
                  <a:srgbClr val="FF9176"/>
                </a:solidFill>
                <a:latin typeface="Segoe UI" pitchFamily="34" charset="0"/>
                <a:ea typeface="Segoe UI" pitchFamily="34" charset="-122"/>
                <a:cs typeface="Segoe UI" pitchFamily="34" charset="-120"/>
              </a:rPr>
              <a:t>✕</a:t>
            </a:r>
            <a:endParaRPr lang="en-US" sz="1600" dirty="0"/>
          </a:p>
        </p:txBody>
      </p:sp>
      <p:sp>
        <p:nvSpPr>
          <p:cNvPr id="30" name="Text 27"/>
          <p:cNvSpPr/>
          <p:nvPr/>
        </p:nvSpPr>
        <p:spPr>
          <a:xfrm>
            <a:off x="3749040" y="3794760"/>
            <a:ext cx="2103120" cy="457200"/>
          </a:xfrm>
          <a:prstGeom prst="rect">
            <a:avLst/>
          </a:prstGeom>
          <a:noFill/>
          <a:ln/>
        </p:spPr>
        <p:txBody>
          <a:bodyPr wrap="square" lIns="0" tIns="0" rIns="0" bIns="0" rtlCol="0" anchor="ctr"/>
          <a:lstStyle/>
          <a:p>
            <a:pPr indent="0" marL="0">
              <a:buNone/>
            </a:pPr>
            <a:r>
              <a:rPr lang="en-US" sz="1150" dirty="0">
                <a:solidFill>
                  <a:srgbClr val="6B7E9B"/>
                </a:solidFill>
                <a:latin typeface="Segoe UI" pitchFamily="34" charset="0"/>
                <a:ea typeface="Segoe UI" pitchFamily="34" charset="-122"/>
                <a:cs typeface="Segoe UI" pitchFamily="34" charset="-120"/>
              </a:rPr>
              <a:t>Not regulator-safe</a:t>
            </a:r>
            <a:endParaRPr lang="en-US" sz="1150" dirty="0"/>
          </a:p>
        </p:txBody>
      </p:sp>
      <p:sp>
        <p:nvSpPr>
          <p:cNvPr id="31" name="Shape 28"/>
          <p:cNvSpPr/>
          <p:nvPr/>
        </p:nvSpPr>
        <p:spPr>
          <a:xfrm>
            <a:off x="6080760" y="1645920"/>
            <a:ext cx="2606040" cy="502920"/>
          </a:xfrm>
          <a:prstGeom prst="rect">
            <a:avLst/>
          </a:prstGeom>
          <a:solidFill>
            <a:srgbClr val="0078D4"/>
          </a:solidFill>
          <a:ln w="12700">
            <a:solidFill>
              <a:srgbClr val="0078D4"/>
            </a:solidFill>
            <a:prstDash val="solid"/>
          </a:ln>
        </p:spPr>
      </p:sp>
      <p:sp>
        <p:nvSpPr>
          <p:cNvPr id="32" name="Text 29"/>
          <p:cNvSpPr/>
          <p:nvPr/>
        </p:nvSpPr>
        <p:spPr>
          <a:xfrm>
            <a:off x="6080760" y="1645920"/>
            <a:ext cx="260604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RiskGuard AI</a:t>
            </a:r>
            <a:endParaRPr lang="en-US" sz="1400" dirty="0"/>
          </a:p>
        </p:txBody>
      </p:sp>
      <p:sp>
        <p:nvSpPr>
          <p:cNvPr id="33" name="Text 30"/>
          <p:cNvSpPr/>
          <p:nvPr/>
        </p:nvSpPr>
        <p:spPr>
          <a:xfrm>
            <a:off x="6080760" y="1901952"/>
            <a:ext cx="2606040" cy="246888"/>
          </a:xfrm>
          <a:prstGeom prst="rect">
            <a:avLst/>
          </a:prstGeom>
          <a:noFill/>
          <a:ln/>
        </p:spPr>
        <p:txBody>
          <a:bodyPr wrap="square" lIns="0" tIns="0" rIns="0" bIns="0" rtlCol="0" anchor="ctr"/>
          <a:lstStyle/>
          <a:p>
            <a:pPr algn="ctr" indent="0" marL="0">
              <a:buNone/>
            </a:pPr>
            <a:r>
              <a:rPr lang="en-US" sz="950" dirty="0">
                <a:solidFill>
                  <a:srgbClr val="FFFFFF"/>
                </a:solidFill>
                <a:latin typeface="Segoe UI" pitchFamily="34" charset="0"/>
                <a:ea typeface="Segoe UI" pitchFamily="34" charset="-122"/>
                <a:cs typeface="Segoe UI" pitchFamily="34" charset="-120"/>
              </a:rPr>
              <a:t>Agentic risk officer</a:t>
            </a:r>
            <a:endParaRPr lang="en-US" sz="950" dirty="0"/>
          </a:p>
        </p:txBody>
      </p:sp>
      <p:sp>
        <p:nvSpPr>
          <p:cNvPr id="34" name="Shape 31"/>
          <p:cNvSpPr/>
          <p:nvPr/>
        </p:nvSpPr>
        <p:spPr>
          <a:xfrm>
            <a:off x="6080760" y="2148840"/>
            <a:ext cx="2606040" cy="2468880"/>
          </a:xfrm>
          <a:prstGeom prst="rect">
            <a:avLst/>
          </a:prstGeom>
          <a:solidFill>
            <a:srgbClr val="FFFFFF"/>
          </a:solidFill>
          <a:ln w="19050">
            <a:solidFill>
              <a:srgbClr val="0078D4"/>
            </a:solidFill>
            <a:prstDash val="solid"/>
          </a:ln>
          <a:effectLst>
            <a:outerShdw sx="100000" sy="100000" kx="0" ky="0" algn="bl" rotWithShape="0" blurRad="127000" dist="25400" dir="5400000">
              <a:srgbClr val="000000">
                <a:alpha val="10000"/>
              </a:srgbClr>
            </a:outerShdw>
          </a:effectLst>
        </p:spPr>
      </p:sp>
      <p:sp>
        <p:nvSpPr>
          <p:cNvPr id="35" name="Text 32"/>
          <p:cNvSpPr/>
          <p:nvPr/>
        </p:nvSpPr>
        <p:spPr>
          <a:xfrm>
            <a:off x="6217920" y="2286000"/>
            <a:ext cx="274320" cy="365760"/>
          </a:xfrm>
          <a:prstGeom prst="rect">
            <a:avLst/>
          </a:prstGeom>
          <a:noFill/>
          <a:ln/>
        </p:spPr>
        <p:txBody>
          <a:bodyPr wrap="square" lIns="0" tIns="0" rIns="0" bIns="0" rtlCol="0" anchor="ctr"/>
          <a:lstStyle/>
          <a:p>
            <a:pPr indent="0" marL="0">
              <a:buNone/>
            </a:pPr>
            <a:r>
              <a:rPr lang="en-US" sz="1600" b="1" dirty="0">
                <a:solidFill>
                  <a:srgbClr val="0078D4"/>
                </a:solidFill>
                <a:latin typeface="Segoe UI" pitchFamily="34" charset="0"/>
                <a:ea typeface="Segoe UI" pitchFamily="34" charset="-122"/>
                <a:cs typeface="Segoe UI" pitchFamily="34" charset="-120"/>
              </a:rPr>
              <a:t>✓</a:t>
            </a:r>
            <a:endParaRPr lang="en-US" sz="1600" dirty="0"/>
          </a:p>
        </p:txBody>
      </p:sp>
      <p:sp>
        <p:nvSpPr>
          <p:cNvPr id="36" name="Text 33"/>
          <p:cNvSpPr/>
          <p:nvPr/>
        </p:nvSpPr>
        <p:spPr>
          <a:xfrm>
            <a:off x="6537960" y="2286000"/>
            <a:ext cx="2103120" cy="457200"/>
          </a:xfrm>
          <a:prstGeom prst="rect">
            <a:avLst/>
          </a:prstGeom>
          <a:noFill/>
          <a:ln/>
        </p:spPr>
        <p:txBody>
          <a:bodyPr wrap="square" lIns="0" tIns="0" rIns="0" bIns="0" rtlCol="0" anchor="ctr"/>
          <a:lstStyle/>
          <a:p>
            <a:pPr indent="0" marL="0">
              <a:buNone/>
            </a:pPr>
            <a:r>
              <a:rPr lang="en-US" sz="1150" b="1" dirty="0">
                <a:solidFill>
                  <a:srgbClr val="2A446F"/>
                </a:solidFill>
                <a:latin typeface="Segoe UI" pitchFamily="34" charset="0"/>
                <a:ea typeface="Segoe UI" pitchFamily="34" charset="-122"/>
                <a:cs typeface="Segoe UI" pitchFamily="34" charset="-120"/>
              </a:rPr>
              <a:t>7 signal domains fused</a:t>
            </a:r>
            <a:endParaRPr lang="en-US" sz="1150" dirty="0"/>
          </a:p>
        </p:txBody>
      </p:sp>
      <p:sp>
        <p:nvSpPr>
          <p:cNvPr id="37" name="Text 34"/>
          <p:cNvSpPr/>
          <p:nvPr/>
        </p:nvSpPr>
        <p:spPr>
          <a:xfrm>
            <a:off x="6217920" y="2788920"/>
            <a:ext cx="274320" cy="365760"/>
          </a:xfrm>
          <a:prstGeom prst="rect">
            <a:avLst/>
          </a:prstGeom>
          <a:noFill/>
          <a:ln/>
        </p:spPr>
        <p:txBody>
          <a:bodyPr wrap="square" lIns="0" tIns="0" rIns="0" bIns="0" rtlCol="0" anchor="ctr"/>
          <a:lstStyle/>
          <a:p>
            <a:pPr indent="0" marL="0">
              <a:buNone/>
            </a:pPr>
            <a:r>
              <a:rPr lang="en-US" sz="1600" b="1" dirty="0">
                <a:solidFill>
                  <a:srgbClr val="0078D4"/>
                </a:solidFill>
                <a:latin typeface="Segoe UI" pitchFamily="34" charset="0"/>
                <a:ea typeface="Segoe UI" pitchFamily="34" charset="-122"/>
                <a:cs typeface="Segoe UI" pitchFamily="34" charset="-120"/>
              </a:rPr>
              <a:t>✓</a:t>
            </a:r>
            <a:endParaRPr lang="en-US" sz="1600" dirty="0"/>
          </a:p>
        </p:txBody>
      </p:sp>
      <p:sp>
        <p:nvSpPr>
          <p:cNvPr id="38" name="Text 35"/>
          <p:cNvSpPr/>
          <p:nvPr/>
        </p:nvSpPr>
        <p:spPr>
          <a:xfrm>
            <a:off x="6537960" y="2788920"/>
            <a:ext cx="2103120" cy="457200"/>
          </a:xfrm>
          <a:prstGeom prst="rect">
            <a:avLst/>
          </a:prstGeom>
          <a:noFill/>
          <a:ln/>
        </p:spPr>
        <p:txBody>
          <a:bodyPr wrap="square" lIns="0" tIns="0" rIns="0" bIns="0" rtlCol="0" anchor="ctr"/>
          <a:lstStyle/>
          <a:p>
            <a:pPr indent="0" marL="0">
              <a:buNone/>
            </a:pPr>
            <a:r>
              <a:rPr lang="en-US" sz="1150" b="1" dirty="0">
                <a:solidFill>
                  <a:srgbClr val="2A446F"/>
                </a:solidFill>
                <a:latin typeface="Segoe UI" pitchFamily="34" charset="0"/>
                <a:ea typeface="Segoe UI" pitchFamily="34" charset="-122"/>
                <a:cs typeface="Segoe UI" pitchFamily="34" charset="-120"/>
              </a:rPr>
              <a:t>Predicts breach 47 min ahead</a:t>
            </a:r>
            <a:endParaRPr lang="en-US" sz="1150" dirty="0"/>
          </a:p>
        </p:txBody>
      </p:sp>
      <p:sp>
        <p:nvSpPr>
          <p:cNvPr id="39" name="Text 36"/>
          <p:cNvSpPr/>
          <p:nvPr/>
        </p:nvSpPr>
        <p:spPr>
          <a:xfrm>
            <a:off x="6217920" y="3291840"/>
            <a:ext cx="274320" cy="365760"/>
          </a:xfrm>
          <a:prstGeom prst="rect">
            <a:avLst/>
          </a:prstGeom>
          <a:noFill/>
          <a:ln/>
        </p:spPr>
        <p:txBody>
          <a:bodyPr wrap="square" lIns="0" tIns="0" rIns="0" bIns="0" rtlCol="0" anchor="ctr"/>
          <a:lstStyle/>
          <a:p>
            <a:pPr indent="0" marL="0">
              <a:buNone/>
            </a:pPr>
            <a:r>
              <a:rPr lang="en-US" sz="1600" b="1" dirty="0">
                <a:solidFill>
                  <a:srgbClr val="0078D4"/>
                </a:solidFill>
                <a:latin typeface="Segoe UI" pitchFamily="34" charset="0"/>
                <a:ea typeface="Segoe UI" pitchFamily="34" charset="-122"/>
                <a:cs typeface="Segoe UI" pitchFamily="34" charset="-120"/>
              </a:rPr>
              <a:t>✓</a:t>
            </a:r>
            <a:endParaRPr lang="en-US" sz="1600" dirty="0"/>
          </a:p>
        </p:txBody>
      </p:sp>
      <p:sp>
        <p:nvSpPr>
          <p:cNvPr id="40" name="Text 37"/>
          <p:cNvSpPr/>
          <p:nvPr/>
        </p:nvSpPr>
        <p:spPr>
          <a:xfrm>
            <a:off x="6537960" y="3291840"/>
            <a:ext cx="2103120" cy="457200"/>
          </a:xfrm>
          <a:prstGeom prst="rect">
            <a:avLst/>
          </a:prstGeom>
          <a:noFill/>
          <a:ln/>
        </p:spPr>
        <p:txBody>
          <a:bodyPr wrap="square" lIns="0" tIns="0" rIns="0" bIns="0" rtlCol="0" anchor="ctr"/>
          <a:lstStyle/>
          <a:p>
            <a:pPr indent="0" marL="0">
              <a:buNone/>
            </a:pPr>
            <a:r>
              <a:rPr lang="en-US" sz="1150" b="1" dirty="0">
                <a:solidFill>
                  <a:srgbClr val="2A446F"/>
                </a:solidFill>
                <a:latin typeface="Segoe UI" pitchFamily="34" charset="0"/>
                <a:ea typeface="Segoe UI" pitchFamily="34" charset="-122"/>
                <a:cs typeface="Segoe UI" pitchFamily="34" charset="-120"/>
              </a:rPr>
              <a:t>Recommends + simulates fix</a:t>
            </a:r>
            <a:endParaRPr lang="en-US" sz="1150" dirty="0"/>
          </a:p>
        </p:txBody>
      </p:sp>
      <p:sp>
        <p:nvSpPr>
          <p:cNvPr id="41" name="Text 38"/>
          <p:cNvSpPr/>
          <p:nvPr/>
        </p:nvSpPr>
        <p:spPr>
          <a:xfrm>
            <a:off x="6217920" y="3794760"/>
            <a:ext cx="274320" cy="365760"/>
          </a:xfrm>
          <a:prstGeom prst="rect">
            <a:avLst/>
          </a:prstGeom>
          <a:noFill/>
          <a:ln/>
        </p:spPr>
        <p:txBody>
          <a:bodyPr wrap="square" lIns="0" tIns="0" rIns="0" bIns="0" rtlCol="0" anchor="ctr"/>
          <a:lstStyle/>
          <a:p>
            <a:pPr indent="0" marL="0">
              <a:buNone/>
            </a:pPr>
            <a:r>
              <a:rPr lang="en-US" sz="1600" b="1" dirty="0">
                <a:solidFill>
                  <a:srgbClr val="0078D4"/>
                </a:solidFill>
                <a:latin typeface="Segoe UI" pitchFamily="34" charset="0"/>
                <a:ea typeface="Segoe UI" pitchFamily="34" charset="-122"/>
                <a:cs typeface="Segoe UI" pitchFamily="34" charset="-120"/>
              </a:rPr>
              <a:t>✓</a:t>
            </a:r>
            <a:endParaRPr lang="en-US" sz="1600" dirty="0"/>
          </a:p>
        </p:txBody>
      </p:sp>
      <p:sp>
        <p:nvSpPr>
          <p:cNvPr id="42" name="Text 39"/>
          <p:cNvSpPr/>
          <p:nvPr/>
        </p:nvSpPr>
        <p:spPr>
          <a:xfrm>
            <a:off x="6537960" y="3794760"/>
            <a:ext cx="2103120" cy="457200"/>
          </a:xfrm>
          <a:prstGeom prst="rect">
            <a:avLst/>
          </a:prstGeom>
          <a:noFill/>
          <a:ln/>
        </p:spPr>
        <p:txBody>
          <a:bodyPr wrap="square" lIns="0" tIns="0" rIns="0" bIns="0" rtlCol="0" anchor="ctr"/>
          <a:lstStyle/>
          <a:p>
            <a:pPr indent="0" marL="0">
              <a:buNone/>
            </a:pPr>
            <a:r>
              <a:rPr lang="en-US" sz="1150" b="1" dirty="0">
                <a:solidFill>
                  <a:srgbClr val="2A446F"/>
                </a:solidFill>
                <a:latin typeface="Segoe UI" pitchFamily="34" charset="0"/>
                <a:ea typeface="Segoe UI" pitchFamily="34" charset="-122"/>
                <a:cs typeface="Segoe UI" pitchFamily="34" charset="-120"/>
              </a:rPr>
              <a:t>Auto-files NCC pack</a:t>
            </a:r>
            <a:endParaRPr lang="en-US" sz="1150" dirty="0"/>
          </a:p>
        </p:txBody>
      </p:sp>
      <p:sp>
        <p:nvSpPr>
          <p:cNvPr id="43" name="Text 40"/>
          <p:cNvSpPr/>
          <p:nvPr/>
        </p:nvSpPr>
        <p:spPr>
          <a:xfrm>
            <a:off x="502920" y="4663440"/>
            <a:ext cx="8138160" cy="274320"/>
          </a:xfrm>
          <a:prstGeom prst="rect">
            <a:avLst/>
          </a:prstGeom>
          <a:noFill/>
          <a:ln/>
        </p:spPr>
        <p:txBody>
          <a:bodyPr wrap="square" lIns="0" tIns="0" rIns="0" bIns="0" rtlCol="0" anchor="ctr"/>
          <a:lstStyle/>
          <a:p>
            <a:pPr algn="ctr" indent="0" marL="0">
              <a:buNone/>
            </a:pPr>
            <a:r>
              <a:rPr lang="en-US" sz="1200" i="1" dirty="0">
                <a:solidFill>
                  <a:srgbClr val="2A446F"/>
                </a:solidFill>
                <a:latin typeface="Segoe UI" pitchFamily="34" charset="0"/>
                <a:ea typeface="Segoe UI" pitchFamily="34" charset="-122"/>
                <a:cs typeface="Segoe UI" pitchFamily="34" charset="-120"/>
              </a:rPr>
              <a:t>And we built it on the host's stack: Microsoft Azure OpenAI + Semantic Kernel.</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8F3"/>
        </a:solidFill>
      </p:bgPr>
    </p:bg>
    <p:spTree>
      <p:nvGrpSpPr>
        <p:cNvPr id="1" name=""/>
        <p:cNvGrpSpPr/>
        <p:nvPr/>
      </p:nvGrpSpPr>
      <p:grpSpPr>
        <a:xfrm>
          <a:off x="0" y="0"/>
          <a:ext cx="0" cy="0"/>
          <a:chOff x="0" y="0"/>
          <a:chExt cx="0" cy="0"/>
        </a:xfrm>
      </p:grpSpPr>
      <p:sp>
        <p:nvSpPr>
          <p:cNvPr id="3" name="Shape 0"/>
          <p:cNvSpPr/>
          <p:nvPr/>
        </p:nvSpPr>
        <p:spPr>
          <a:xfrm>
            <a:off x="457200" y="411480"/>
            <a:ext cx="164592" cy="292608"/>
          </a:xfrm>
          <a:prstGeom prst="rect">
            <a:avLst/>
          </a:prstGeom>
          <a:solidFill>
            <a:srgbClr val="0078D4"/>
          </a:solidFill>
          <a:ln w="12700">
            <a:solidFill>
              <a:srgbClr val="0078D4"/>
            </a:solidFill>
            <a:prstDash val="solid"/>
          </a:ln>
        </p:spPr>
      </p:sp>
      <p:sp>
        <p:nvSpPr>
          <p:cNvPr id="4" name="Text 1"/>
          <p:cNvSpPr/>
          <p:nvPr/>
        </p:nvSpPr>
        <p:spPr>
          <a:xfrm>
            <a:off x="713232" y="384048"/>
            <a:ext cx="7955280" cy="329184"/>
          </a:xfrm>
          <a:prstGeom prst="rect">
            <a:avLst/>
          </a:prstGeom>
          <a:noFill/>
          <a:ln/>
        </p:spPr>
        <p:txBody>
          <a:bodyPr wrap="square" lIns="0" tIns="0" rIns="0" bIns="0" rtlCol="0" anchor="ctr"/>
          <a:lstStyle/>
          <a:p>
            <a:pPr indent="0" marL="0">
              <a:buNone/>
            </a:pPr>
            <a:r>
              <a:rPr lang="en-US" sz="1100" b="1" spc="400" kern="0" dirty="0">
                <a:solidFill>
                  <a:srgbClr val="0078D4"/>
                </a:solidFill>
                <a:latin typeface="Segoe UI" pitchFamily="34" charset="0"/>
                <a:ea typeface="Segoe UI" pitchFamily="34" charset="-122"/>
                <a:cs typeface="Segoe UI" pitchFamily="34" charset="-120"/>
              </a:rPr>
              <a:t>ROADMAP  ·  GO-TO-MARKET</a:t>
            </a:r>
            <a:endParaRPr lang="en-US" sz="1100" dirty="0"/>
          </a:p>
        </p:txBody>
      </p:sp>
      <p:sp>
        <p:nvSpPr>
          <p:cNvPr id="5" name="Text 2"/>
          <p:cNvSpPr/>
          <p:nvPr/>
        </p:nvSpPr>
        <p:spPr>
          <a:xfrm>
            <a:off x="457200" y="777240"/>
            <a:ext cx="8686800" cy="548640"/>
          </a:xfrm>
          <a:prstGeom prst="rect">
            <a:avLst/>
          </a:prstGeom>
          <a:noFill/>
          <a:ln/>
        </p:spPr>
        <p:txBody>
          <a:bodyPr wrap="square" lIns="0" tIns="0" rIns="0" bIns="0" rtlCol="0" anchor="ctr"/>
          <a:lstStyle/>
          <a:p>
            <a:pPr indent="0" marL="0">
              <a:buNone/>
            </a:pPr>
            <a:r>
              <a:rPr lang="en-US" sz="2600" b="1" dirty="0">
                <a:solidFill>
                  <a:srgbClr val="2A446F"/>
                </a:solidFill>
                <a:latin typeface="Segoe UI" pitchFamily="34" charset="0"/>
                <a:ea typeface="Segoe UI" pitchFamily="34" charset="-122"/>
                <a:cs typeface="Segoe UI" pitchFamily="34" charset="-120"/>
              </a:rPr>
              <a:t>From hackathon to West African telco standard.</a:t>
            </a:r>
            <a:endParaRPr lang="en-US" sz="2600" dirty="0"/>
          </a:p>
        </p:txBody>
      </p:sp>
      <p:sp>
        <p:nvSpPr>
          <p:cNvPr id="6" name="Shape 3"/>
          <p:cNvSpPr/>
          <p:nvPr/>
        </p:nvSpPr>
        <p:spPr>
          <a:xfrm>
            <a:off x="457200" y="1417320"/>
            <a:ext cx="8229600" cy="0"/>
          </a:xfrm>
          <a:prstGeom prst="line">
            <a:avLst/>
          </a:prstGeom>
          <a:noFill/>
          <a:ln w="9525">
            <a:solidFill>
              <a:srgbClr val="EAD9C9"/>
            </a:solidFill>
            <a:prstDash val="solid"/>
          </a:ln>
        </p:spPr>
      </p:sp>
      <p:sp>
        <p:nvSpPr>
          <p:cNvPr id="7" name="Shape 4"/>
          <p:cNvSpPr/>
          <p:nvPr/>
        </p:nvSpPr>
        <p:spPr>
          <a:xfrm>
            <a:off x="502920" y="1691640"/>
            <a:ext cx="1892808" cy="237744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8" name="Shape 5"/>
          <p:cNvSpPr/>
          <p:nvPr/>
        </p:nvSpPr>
        <p:spPr>
          <a:xfrm>
            <a:off x="502920" y="1691640"/>
            <a:ext cx="1892808" cy="502920"/>
          </a:xfrm>
          <a:prstGeom prst="rect">
            <a:avLst/>
          </a:prstGeom>
          <a:solidFill>
            <a:srgbClr val="0078D4"/>
          </a:solidFill>
          <a:ln w="12700">
            <a:solidFill>
              <a:srgbClr val="0078D4"/>
            </a:solidFill>
            <a:prstDash val="solid"/>
          </a:ln>
        </p:spPr>
      </p:sp>
      <p:sp>
        <p:nvSpPr>
          <p:cNvPr id="9" name="Text 6"/>
          <p:cNvSpPr/>
          <p:nvPr/>
        </p:nvSpPr>
        <p:spPr>
          <a:xfrm>
            <a:off x="594360" y="1755648"/>
            <a:ext cx="173736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Now</a:t>
            </a:r>
            <a:endParaRPr lang="en-US" sz="1400" dirty="0"/>
          </a:p>
        </p:txBody>
      </p:sp>
      <p:sp>
        <p:nvSpPr>
          <p:cNvPr id="10" name="Text 7"/>
          <p:cNvSpPr/>
          <p:nvPr/>
        </p:nvSpPr>
        <p:spPr>
          <a:xfrm>
            <a:off x="640080" y="2331720"/>
            <a:ext cx="1645920" cy="502920"/>
          </a:xfrm>
          <a:prstGeom prst="rect">
            <a:avLst/>
          </a:prstGeom>
          <a:noFill/>
          <a:ln/>
        </p:spPr>
        <p:txBody>
          <a:bodyPr wrap="square" lIns="0" tIns="0" rIns="0" bIns="0" rtlCol="0" anchor="ctr"/>
          <a:lstStyle/>
          <a:p>
            <a:pPr indent="0" marL="0">
              <a:buNone/>
            </a:pPr>
            <a:r>
              <a:rPr lang="en-US" sz="1400" b="1" dirty="0">
                <a:solidFill>
                  <a:srgbClr val="2A446F"/>
                </a:solidFill>
                <a:latin typeface="Segoe UI" pitchFamily="34" charset="0"/>
                <a:ea typeface="Segoe UI" pitchFamily="34" charset="-122"/>
                <a:cs typeface="Segoe UI" pitchFamily="34" charset="-120"/>
              </a:rPr>
              <a:t>Vertical slice live</a:t>
            </a:r>
            <a:endParaRPr lang="en-US" sz="1400" dirty="0"/>
          </a:p>
        </p:txBody>
      </p:sp>
      <p:sp>
        <p:nvSpPr>
          <p:cNvPr id="11" name="Text 8"/>
          <p:cNvSpPr/>
          <p:nvPr/>
        </p:nvSpPr>
        <p:spPr>
          <a:xfrm>
            <a:off x="640080" y="2880360"/>
            <a:ext cx="1645920" cy="1143000"/>
          </a:xfrm>
          <a:prstGeom prst="rect">
            <a:avLst/>
          </a:prstGeom>
          <a:noFill/>
          <a:ln/>
        </p:spPr>
        <p:txBody>
          <a:bodyPr wrap="square" lIns="0" tIns="0" rIns="0" bIns="0" rtlCol="0" anchor="ctr"/>
          <a:lstStyle/>
          <a:p>
            <a:pPr indent="0" marL="0">
              <a:buNone/>
            </a:pPr>
            <a:r>
              <a:rPr lang="en-US" sz="1050" dirty="0">
                <a:solidFill>
                  <a:srgbClr val="6B7E9B"/>
                </a:solidFill>
                <a:latin typeface="Segoe UI" pitchFamily="34" charset="0"/>
                <a:ea typeface="Segoe UI" pitchFamily="34" charset="-122"/>
                <a:cs typeface="Segoe UI" pitchFamily="34" charset="-120"/>
              </a:rPr>
              <a:t>Ikeja demo. Real risk engine, agentic copilot, NCC pack. End-to-end.</a:t>
            </a:r>
            <a:endParaRPr lang="en-US" sz="1050" dirty="0"/>
          </a:p>
        </p:txBody>
      </p:sp>
      <p:sp>
        <p:nvSpPr>
          <p:cNvPr id="12" name="Shape 9"/>
          <p:cNvSpPr/>
          <p:nvPr/>
        </p:nvSpPr>
        <p:spPr>
          <a:xfrm>
            <a:off x="2578608" y="1691640"/>
            <a:ext cx="1892808" cy="237744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13" name="Shape 10"/>
          <p:cNvSpPr/>
          <p:nvPr/>
        </p:nvSpPr>
        <p:spPr>
          <a:xfrm>
            <a:off x="2578608" y="1691640"/>
            <a:ext cx="1892808" cy="502920"/>
          </a:xfrm>
          <a:prstGeom prst="rect">
            <a:avLst/>
          </a:prstGeom>
          <a:solidFill>
            <a:srgbClr val="FFBBA8"/>
          </a:solidFill>
          <a:ln w="12700">
            <a:solidFill>
              <a:srgbClr val="FFBBA8"/>
            </a:solidFill>
            <a:prstDash val="solid"/>
          </a:ln>
        </p:spPr>
      </p:sp>
      <p:sp>
        <p:nvSpPr>
          <p:cNvPr id="14" name="Text 11"/>
          <p:cNvSpPr/>
          <p:nvPr/>
        </p:nvSpPr>
        <p:spPr>
          <a:xfrm>
            <a:off x="2670048" y="1755648"/>
            <a:ext cx="173736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90 days</a:t>
            </a:r>
            <a:endParaRPr lang="en-US" sz="1400" dirty="0"/>
          </a:p>
        </p:txBody>
      </p:sp>
      <p:sp>
        <p:nvSpPr>
          <p:cNvPr id="15" name="Text 12"/>
          <p:cNvSpPr/>
          <p:nvPr/>
        </p:nvSpPr>
        <p:spPr>
          <a:xfrm>
            <a:off x="2715768" y="2331720"/>
            <a:ext cx="1645920" cy="502920"/>
          </a:xfrm>
          <a:prstGeom prst="rect">
            <a:avLst/>
          </a:prstGeom>
          <a:noFill/>
          <a:ln/>
        </p:spPr>
        <p:txBody>
          <a:bodyPr wrap="square" lIns="0" tIns="0" rIns="0" bIns="0" rtlCol="0" anchor="ctr"/>
          <a:lstStyle/>
          <a:p>
            <a:pPr indent="0" marL="0">
              <a:buNone/>
            </a:pPr>
            <a:r>
              <a:rPr lang="en-US" sz="1400" b="1" dirty="0">
                <a:solidFill>
                  <a:srgbClr val="2A446F"/>
                </a:solidFill>
                <a:latin typeface="Segoe UI" pitchFamily="34" charset="0"/>
                <a:ea typeface="Segoe UI" pitchFamily="34" charset="-122"/>
                <a:cs typeface="Segoe UI" pitchFamily="34" charset="-120"/>
              </a:rPr>
              <a:t>Pilot with 1 MNO</a:t>
            </a:r>
            <a:endParaRPr lang="en-US" sz="1400" dirty="0"/>
          </a:p>
        </p:txBody>
      </p:sp>
      <p:sp>
        <p:nvSpPr>
          <p:cNvPr id="16" name="Text 13"/>
          <p:cNvSpPr/>
          <p:nvPr/>
        </p:nvSpPr>
        <p:spPr>
          <a:xfrm>
            <a:off x="2715768" y="2880360"/>
            <a:ext cx="1645920" cy="1143000"/>
          </a:xfrm>
          <a:prstGeom prst="rect">
            <a:avLst/>
          </a:prstGeom>
          <a:noFill/>
          <a:ln/>
        </p:spPr>
        <p:txBody>
          <a:bodyPr wrap="square" lIns="0" tIns="0" rIns="0" bIns="0" rtlCol="0" anchor="ctr"/>
          <a:lstStyle/>
          <a:p>
            <a:pPr indent="0" marL="0">
              <a:buNone/>
            </a:pPr>
            <a:r>
              <a:rPr lang="en-US" sz="1050" dirty="0">
                <a:solidFill>
                  <a:srgbClr val="6B7E9B"/>
                </a:solidFill>
                <a:latin typeface="Segoe UI" pitchFamily="34" charset="0"/>
                <a:ea typeface="Segoe UI" pitchFamily="34" charset="-122"/>
                <a:cs typeface="Segoe UI" pitchFamily="34" charset="-120"/>
              </a:rPr>
              <a:t>Connect to one operator's read-only data lake. One Lagos region. Measure detection lift.</a:t>
            </a:r>
            <a:endParaRPr lang="en-US" sz="1050" dirty="0"/>
          </a:p>
        </p:txBody>
      </p:sp>
      <p:sp>
        <p:nvSpPr>
          <p:cNvPr id="17" name="Shape 14"/>
          <p:cNvSpPr/>
          <p:nvPr/>
        </p:nvSpPr>
        <p:spPr>
          <a:xfrm>
            <a:off x="4654296" y="1691640"/>
            <a:ext cx="1892808" cy="237744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18" name="Shape 15"/>
          <p:cNvSpPr/>
          <p:nvPr/>
        </p:nvSpPr>
        <p:spPr>
          <a:xfrm>
            <a:off x="4654296" y="1691640"/>
            <a:ext cx="1892808" cy="502920"/>
          </a:xfrm>
          <a:prstGeom prst="rect">
            <a:avLst/>
          </a:prstGeom>
          <a:solidFill>
            <a:srgbClr val="0078D4"/>
          </a:solidFill>
          <a:ln w="12700">
            <a:solidFill>
              <a:srgbClr val="0078D4"/>
            </a:solidFill>
            <a:prstDash val="solid"/>
          </a:ln>
        </p:spPr>
      </p:sp>
      <p:sp>
        <p:nvSpPr>
          <p:cNvPr id="19" name="Text 16"/>
          <p:cNvSpPr/>
          <p:nvPr/>
        </p:nvSpPr>
        <p:spPr>
          <a:xfrm>
            <a:off x="4745736" y="1755648"/>
            <a:ext cx="173736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12 months</a:t>
            </a:r>
            <a:endParaRPr lang="en-US" sz="1400" dirty="0"/>
          </a:p>
        </p:txBody>
      </p:sp>
      <p:sp>
        <p:nvSpPr>
          <p:cNvPr id="20" name="Text 17"/>
          <p:cNvSpPr/>
          <p:nvPr/>
        </p:nvSpPr>
        <p:spPr>
          <a:xfrm>
            <a:off x="4791456" y="2331720"/>
            <a:ext cx="1645920" cy="502920"/>
          </a:xfrm>
          <a:prstGeom prst="rect">
            <a:avLst/>
          </a:prstGeom>
          <a:noFill/>
          <a:ln/>
        </p:spPr>
        <p:txBody>
          <a:bodyPr wrap="square" lIns="0" tIns="0" rIns="0" bIns="0" rtlCol="0" anchor="ctr"/>
          <a:lstStyle/>
          <a:p>
            <a:pPr indent="0" marL="0">
              <a:buNone/>
            </a:pPr>
            <a:r>
              <a:rPr lang="en-US" sz="1400" b="1" dirty="0">
                <a:solidFill>
                  <a:srgbClr val="2A446F"/>
                </a:solidFill>
                <a:latin typeface="Segoe UI" pitchFamily="34" charset="0"/>
                <a:ea typeface="Segoe UI" pitchFamily="34" charset="-122"/>
                <a:cs typeface="Segoe UI" pitchFamily="34" charset="-120"/>
              </a:rPr>
              <a:t>Multi-LGA SaaS</a:t>
            </a:r>
            <a:endParaRPr lang="en-US" sz="1400" dirty="0"/>
          </a:p>
        </p:txBody>
      </p:sp>
      <p:sp>
        <p:nvSpPr>
          <p:cNvPr id="21" name="Text 18"/>
          <p:cNvSpPr/>
          <p:nvPr/>
        </p:nvSpPr>
        <p:spPr>
          <a:xfrm>
            <a:off x="4791456" y="2880360"/>
            <a:ext cx="1645920" cy="1143000"/>
          </a:xfrm>
          <a:prstGeom prst="rect">
            <a:avLst/>
          </a:prstGeom>
          <a:noFill/>
          <a:ln/>
        </p:spPr>
        <p:txBody>
          <a:bodyPr wrap="square" lIns="0" tIns="0" rIns="0" bIns="0" rtlCol="0" anchor="ctr"/>
          <a:lstStyle/>
          <a:p>
            <a:pPr indent="0" marL="0">
              <a:buNone/>
            </a:pPr>
            <a:r>
              <a:rPr lang="en-US" sz="1050" dirty="0">
                <a:solidFill>
                  <a:srgbClr val="6B7E9B"/>
                </a:solidFill>
                <a:latin typeface="Segoe UI" pitchFamily="34" charset="0"/>
                <a:ea typeface="Segoe UI" pitchFamily="34" charset="-122"/>
                <a:cs typeface="Segoe UI" pitchFamily="34" charset="-120"/>
              </a:rPr>
              <a:t>Cover all 20 Lagos LGAs. Add fraud + SIM-swap agents. SOC2-track.</a:t>
            </a:r>
            <a:endParaRPr lang="en-US" sz="1050" dirty="0"/>
          </a:p>
        </p:txBody>
      </p:sp>
      <p:sp>
        <p:nvSpPr>
          <p:cNvPr id="22" name="Shape 19"/>
          <p:cNvSpPr/>
          <p:nvPr/>
        </p:nvSpPr>
        <p:spPr>
          <a:xfrm>
            <a:off x="6729984" y="1691640"/>
            <a:ext cx="1892808" cy="2377440"/>
          </a:xfrm>
          <a:prstGeom prst="rect">
            <a:avLst/>
          </a:prstGeom>
          <a:solidFill>
            <a:srgbClr val="FFFFFF"/>
          </a:solidFill>
          <a:ln w="9525">
            <a:solidFill>
              <a:srgbClr val="EAD9C9"/>
            </a:solidFill>
            <a:prstDash val="solid"/>
          </a:ln>
          <a:effectLst>
            <a:outerShdw sx="100000" sy="100000" kx="0" ky="0" algn="bl" rotWithShape="0" blurRad="101600" dist="12700" dir="5400000">
              <a:srgbClr val="000000">
                <a:alpha val="6000"/>
              </a:srgbClr>
            </a:outerShdw>
          </a:effectLst>
        </p:spPr>
      </p:sp>
      <p:sp>
        <p:nvSpPr>
          <p:cNvPr id="23" name="Shape 20"/>
          <p:cNvSpPr/>
          <p:nvPr/>
        </p:nvSpPr>
        <p:spPr>
          <a:xfrm>
            <a:off x="6729984" y="1691640"/>
            <a:ext cx="1892808" cy="502920"/>
          </a:xfrm>
          <a:prstGeom prst="rect">
            <a:avLst/>
          </a:prstGeom>
          <a:solidFill>
            <a:srgbClr val="FF9176"/>
          </a:solidFill>
          <a:ln w="12700">
            <a:solidFill>
              <a:srgbClr val="FF9176"/>
            </a:solidFill>
            <a:prstDash val="solid"/>
          </a:ln>
        </p:spPr>
      </p:sp>
      <p:sp>
        <p:nvSpPr>
          <p:cNvPr id="24" name="Text 21"/>
          <p:cNvSpPr/>
          <p:nvPr/>
        </p:nvSpPr>
        <p:spPr>
          <a:xfrm>
            <a:off x="6821424" y="1755648"/>
            <a:ext cx="173736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24 months</a:t>
            </a:r>
            <a:endParaRPr lang="en-US" sz="1400" dirty="0"/>
          </a:p>
        </p:txBody>
      </p:sp>
      <p:sp>
        <p:nvSpPr>
          <p:cNvPr id="25" name="Text 22"/>
          <p:cNvSpPr/>
          <p:nvPr/>
        </p:nvSpPr>
        <p:spPr>
          <a:xfrm>
            <a:off x="6867144" y="2331720"/>
            <a:ext cx="1645920" cy="502920"/>
          </a:xfrm>
          <a:prstGeom prst="rect">
            <a:avLst/>
          </a:prstGeom>
          <a:noFill/>
          <a:ln/>
        </p:spPr>
        <p:txBody>
          <a:bodyPr wrap="square" lIns="0" tIns="0" rIns="0" bIns="0" rtlCol="0" anchor="ctr"/>
          <a:lstStyle/>
          <a:p>
            <a:pPr indent="0" marL="0">
              <a:buNone/>
            </a:pPr>
            <a:r>
              <a:rPr lang="en-US" sz="1400" b="1" dirty="0">
                <a:solidFill>
                  <a:srgbClr val="2A446F"/>
                </a:solidFill>
                <a:latin typeface="Segoe UI" pitchFamily="34" charset="0"/>
                <a:ea typeface="Segoe UI" pitchFamily="34" charset="-122"/>
                <a:cs typeface="Segoe UI" pitchFamily="34" charset="-120"/>
              </a:rPr>
              <a:t>Regional platform</a:t>
            </a:r>
            <a:endParaRPr lang="en-US" sz="1400" dirty="0"/>
          </a:p>
        </p:txBody>
      </p:sp>
      <p:sp>
        <p:nvSpPr>
          <p:cNvPr id="26" name="Text 23"/>
          <p:cNvSpPr/>
          <p:nvPr/>
        </p:nvSpPr>
        <p:spPr>
          <a:xfrm>
            <a:off x="6867144" y="2880360"/>
            <a:ext cx="1645920" cy="1143000"/>
          </a:xfrm>
          <a:prstGeom prst="rect">
            <a:avLst/>
          </a:prstGeom>
          <a:noFill/>
          <a:ln/>
        </p:spPr>
        <p:txBody>
          <a:bodyPr wrap="square" lIns="0" tIns="0" rIns="0" bIns="0" rtlCol="0" anchor="ctr"/>
          <a:lstStyle/>
          <a:p>
            <a:pPr indent="0" marL="0">
              <a:buNone/>
            </a:pPr>
            <a:r>
              <a:rPr lang="en-US" sz="1050" dirty="0">
                <a:solidFill>
                  <a:srgbClr val="6B7E9B"/>
                </a:solidFill>
                <a:latin typeface="Segoe UI" pitchFamily="34" charset="0"/>
                <a:ea typeface="Segoe UI" pitchFamily="34" charset="-122"/>
                <a:cs typeface="Segoe UI" pitchFamily="34" charset="-120"/>
              </a:rPr>
              <a:t>Tier-2/3 operators across West Africa. Per-subscriber pricing. NCC + ARCEP-ready.</a:t>
            </a:r>
            <a:endParaRPr lang="en-US" sz="1050" dirty="0"/>
          </a:p>
        </p:txBody>
      </p:sp>
      <p:sp>
        <p:nvSpPr>
          <p:cNvPr id="27" name="Shape 24"/>
          <p:cNvSpPr/>
          <p:nvPr/>
        </p:nvSpPr>
        <p:spPr>
          <a:xfrm>
            <a:off x="502920" y="4297680"/>
            <a:ext cx="8138160" cy="594360"/>
          </a:xfrm>
          <a:prstGeom prst="rect">
            <a:avLst/>
          </a:prstGeom>
          <a:solidFill>
            <a:srgbClr val="2A446F"/>
          </a:solidFill>
          <a:ln w="12700">
            <a:solidFill>
              <a:srgbClr val="2A446F"/>
            </a:solidFill>
            <a:prstDash val="solid"/>
          </a:ln>
        </p:spPr>
      </p:sp>
      <p:sp>
        <p:nvSpPr>
          <p:cNvPr id="28" name="Text 25"/>
          <p:cNvSpPr/>
          <p:nvPr/>
        </p:nvSpPr>
        <p:spPr>
          <a:xfrm>
            <a:off x="502920" y="4297680"/>
            <a:ext cx="8138160" cy="594360"/>
          </a:xfrm>
          <a:prstGeom prst="rect">
            <a:avLst/>
          </a:prstGeom>
          <a:noFill/>
          <a:ln/>
        </p:spPr>
        <p:txBody>
          <a:bodyPr wrap="square" lIns="0" tIns="0" rIns="0" bIns="0" rtlCol="0" anchor="ctr"/>
          <a:lstStyle/>
          <a:p>
            <a:pPr algn="ctr" indent="0" marL="0">
              <a:buNone/>
            </a:pPr>
            <a:r>
              <a:rPr lang="en-US" sz="1200" b="1" dirty="0">
                <a:solidFill>
                  <a:srgbClr val="FFBBA8"/>
                </a:solidFill>
                <a:latin typeface="Segoe UI" pitchFamily="34" charset="0"/>
                <a:ea typeface="Segoe UI" pitchFamily="34" charset="-122"/>
                <a:cs typeface="Segoe UI" pitchFamily="34" charset="-120"/>
              </a:rPr>
              <a:t>Business model:  </a:t>
            </a:r>
            <a:pPr algn="ctr" indent="0" marL="0">
              <a:buNone/>
            </a:pPr>
            <a:r>
              <a:rPr lang="en-US" sz="1200" dirty="0">
                <a:solidFill>
                  <a:srgbClr val="FFFFFF"/>
                </a:solidFill>
                <a:latin typeface="Segoe UI" pitchFamily="34" charset="0"/>
                <a:ea typeface="Segoe UI" pitchFamily="34" charset="-122"/>
                <a:cs typeface="Segoe UI" pitchFamily="34" charset="-120"/>
              </a:rPr>
              <a:t>SaaS license per operator + per-incident NCC compliance fee. Avoids one ₦100m fine = pays for the year.</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A446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78D4"/>
          </a:solidFill>
          <a:ln w="12700">
            <a:solidFill>
              <a:srgbClr val="0078D4"/>
            </a:solidFill>
            <a:prstDash val="solid"/>
          </a:ln>
        </p:spPr>
      </p:sp>
      <p:sp>
        <p:nvSpPr>
          <p:cNvPr id="4" name="Text 1"/>
          <p:cNvSpPr/>
          <p:nvPr/>
        </p:nvSpPr>
        <p:spPr>
          <a:xfrm>
            <a:off x="502920" y="548640"/>
            <a:ext cx="8229600" cy="365760"/>
          </a:xfrm>
          <a:prstGeom prst="rect">
            <a:avLst/>
          </a:prstGeom>
          <a:noFill/>
          <a:ln/>
        </p:spPr>
        <p:txBody>
          <a:bodyPr wrap="square" lIns="0" tIns="0" rIns="0" bIns="0" rtlCol="0" anchor="ctr"/>
          <a:lstStyle/>
          <a:p>
            <a:pPr indent="0" marL="0">
              <a:buNone/>
            </a:pPr>
            <a:r>
              <a:rPr lang="en-US" sz="1200" b="1" spc="400" kern="0" dirty="0">
                <a:solidFill>
                  <a:srgbClr val="FFBBA8"/>
                </a:solidFill>
                <a:latin typeface="Segoe UI" pitchFamily="34" charset="0"/>
                <a:ea typeface="Segoe UI" pitchFamily="34" charset="-122"/>
                <a:cs typeface="Segoe UI" pitchFamily="34" charset="-120"/>
              </a:rPr>
              <a:t>LET'S BUILD TELCO RESILIENCE FOR NIGERIA</a:t>
            </a:r>
            <a:endParaRPr lang="en-US" sz="1200" dirty="0"/>
          </a:p>
        </p:txBody>
      </p:sp>
      <p:sp>
        <p:nvSpPr>
          <p:cNvPr id="5" name="Text 2"/>
          <p:cNvSpPr/>
          <p:nvPr/>
        </p:nvSpPr>
        <p:spPr>
          <a:xfrm>
            <a:off x="502920" y="914400"/>
            <a:ext cx="8229600" cy="777240"/>
          </a:xfrm>
          <a:prstGeom prst="rect">
            <a:avLst/>
          </a:prstGeom>
          <a:noFill/>
          <a:ln/>
        </p:spPr>
        <p:txBody>
          <a:bodyPr wrap="square" lIns="0" tIns="0" rIns="0" bIns="0"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RiskGuard AI</a:t>
            </a:r>
            <a:endParaRPr lang="en-US" sz="4800" dirty="0"/>
          </a:p>
        </p:txBody>
      </p:sp>
      <p:sp>
        <p:nvSpPr>
          <p:cNvPr id="6" name="Text 3"/>
          <p:cNvSpPr/>
          <p:nvPr/>
        </p:nvSpPr>
        <p:spPr>
          <a:xfrm>
            <a:off x="502920" y="1783080"/>
            <a:ext cx="8229600" cy="457200"/>
          </a:xfrm>
          <a:prstGeom prst="rect">
            <a:avLst/>
          </a:prstGeom>
          <a:noFill/>
          <a:ln/>
        </p:spPr>
        <p:txBody>
          <a:bodyPr wrap="square" lIns="0" tIns="0" rIns="0" bIns="0" rtlCol="0" anchor="ctr"/>
          <a:lstStyle/>
          <a:p>
            <a:pPr indent="0" marL="0">
              <a:buNone/>
            </a:pPr>
            <a:r>
              <a:rPr lang="en-US" sz="1800" i="1" dirty="0">
                <a:solidFill>
                  <a:srgbClr val="FFFFFF"/>
                </a:solidFill>
                <a:latin typeface="Segoe UI" pitchFamily="34" charset="0"/>
                <a:ea typeface="Segoe UI" pitchFamily="34" charset="-122"/>
                <a:cs typeface="Segoe UI" pitchFamily="34" charset="-120"/>
              </a:rPr>
              <a:t>Detect risk earlier. Mitigate it faster. Prove it to the regulator.</a:t>
            </a:r>
            <a:endParaRPr lang="en-US" sz="1800" dirty="0"/>
          </a:p>
        </p:txBody>
      </p:sp>
      <p:sp>
        <p:nvSpPr>
          <p:cNvPr id="7" name="Text 4"/>
          <p:cNvSpPr/>
          <p:nvPr/>
        </p:nvSpPr>
        <p:spPr>
          <a:xfrm>
            <a:off x="502920" y="2423160"/>
            <a:ext cx="8229600" cy="274320"/>
          </a:xfrm>
          <a:prstGeom prst="rect">
            <a:avLst/>
          </a:prstGeom>
          <a:noFill/>
          <a:ln/>
        </p:spPr>
        <p:txBody>
          <a:bodyPr wrap="square" lIns="0" tIns="0" rIns="0" bIns="0" rtlCol="0" anchor="ctr"/>
          <a:lstStyle/>
          <a:p>
            <a:pPr indent="0" marL="0">
              <a:buNone/>
            </a:pPr>
            <a:r>
              <a:rPr lang="en-US" sz="1100" b="1" spc="400" kern="0" dirty="0">
                <a:solidFill>
                  <a:srgbClr val="FFBBA8"/>
                </a:solidFill>
                <a:latin typeface="Segoe UI" pitchFamily="34" charset="0"/>
                <a:ea typeface="Segoe UI" pitchFamily="34" charset="-122"/>
                <a:cs typeface="Segoe UI" pitchFamily="34" charset="-120"/>
              </a:rPr>
              <a:t>THE TEAM</a:t>
            </a:r>
            <a:endParaRPr lang="en-US" sz="1100" dirty="0"/>
          </a:p>
        </p:txBody>
      </p:sp>
      <p:sp>
        <p:nvSpPr>
          <p:cNvPr id="8" name="Shape 5"/>
          <p:cNvSpPr/>
          <p:nvPr/>
        </p:nvSpPr>
        <p:spPr>
          <a:xfrm>
            <a:off x="502920" y="2697480"/>
            <a:ext cx="8229600" cy="640080"/>
          </a:xfrm>
          <a:prstGeom prst="rect">
            <a:avLst/>
          </a:prstGeom>
          <a:solidFill>
            <a:srgbClr val="FFBBA8"/>
          </a:solidFill>
          <a:ln w="12700">
            <a:solidFill>
              <a:srgbClr val="FFBBA8"/>
            </a:solidFill>
            <a:prstDash val="solid"/>
          </a:ln>
        </p:spPr>
      </p:sp>
      <p:sp>
        <p:nvSpPr>
          <p:cNvPr id="9" name="Shape 6"/>
          <p:cNvSpPr/>
          <p:nvPr/>
        </p:nvSpPr>
        <p:spPr>
          <a:xfrm>
            <a:off x="502920" y="2697480"/>
            <a:ext cx="109728" cy="640080"/>
          </a:xfrm>
          <a:prstGeom prst="rect">
            <a:avLst/>
          </a:prstGeom>
          <a:solidFill>
            <a:srgbClr val="FF9176"/>
          </a:solidFill>
          <a:ln w="12700">
            <a:solidFill>
              <a:srgbClr val="FF9176"/>
            </a:solidFill>
            <a:prstDash val="solid"/>
          </a:ln>
        </p:spPr>
      </p:sp>
      <p:sp>
        <p:nvSpPr>
          <p:cNvPr id="10" name="Text 7"/>
          <p:cNvSpPr/>
          <p:nvPr/>
        </p:nvSpPr>
        <p:spPr>
          <a:xfrm>
            <a:off x="777240" y="2724912"/>
            <a:ext cx="3200400" cy="365760"/>
          </a:xfrm>
          <a:prstGeom prst="rect">
            <a:avLst/>
          </a:prstGeom>
          <a:noFill/>
          <a:ln/>
        </p:spPr>
        <p:txBody>
          <a:bodyPr wrap="square" lIns="0" tIns="0" rIns="0" bIns="0" rtlCol="0" anchor="ctr"/>
          <a:lstStyle/>
          <a:p>
            <a:pPr indent="0" marL="0">
              <a:buNone/>
            </a:pPr>
            <a:r>
              <a:rPr lang="en-US" sz="1800" b="1" dirty="0">
                <a:solidFill>
                  <a:srgbClr val="2A446F"/>
                </a:solidFill>
                <a:latin typeface="Segoe UI" pitchFamily="34" charset="0"/>
                <a:ea typeface="Segoe UI" pitchFamily="34" charset="-122"/>
                <a:cs typeface="Segoe UI" pitchFamily="34" charset="-120"/>
              </a:rPr>
              <a:t>Ifunanya</a:t>
            </a:r>
            <a:endParaRPr lang="en-US" sz="1800" dirty="0"/>
          </a:p>
        </p:txBody>
      </p:sp>
      <p:sp>
        <p:nvSpPr>
          <p:cNvPr id="11" name="Text 8"/>
          <p:cNvSpPr/>
          <p:nvPr/>
        </p:nvSpPr>
        <p:spPr>
          <a:xfrm>
            <a:off x="777240" y="3035808"/>
            <a:ext cx="4114800" cy="292608"/>
          </a:xfrm>
          <a:prstGeom prst="rect">
            <a:avLst/>
          </a:prstGeom>
          <a:noFill/>
          <a:ln/>
        </p:spPr>
        <p:txBody>
          <a:bodyPr wrap="square" lIns="0" tIns="0" rIns="0" bIns="0" rtlCol="0" anchor="ctr"/>
          <a:lstStyle/>
          <a:p>
            <a:pPr indent="0" marL="0">
              <a:buNone/>
            </a:pPr>
            <a:r>
              <a:rPr lang="en-US" sz="1100" dirty="0">
                <a:solidFill>
                  <a:srgbClr val="2A446F"/>
                </a:solidFill>
                <a:latin typeface="Segoe UI" pitchFamily="34" charset="0"/>
                <a:ea typeface="Segoe UI" pitchFamily="34" charset="-122"/>
                <a:cs typeface="Segoe UI" pitchFamily="34" charset="-120"/>
              </a:rPr>
              <a:t>Team Lead  ·  Product &amp; Strategy</a:t>
            </a:r>
            <a:endParaRPr lang="en-US" sz="1100" dirty="0"/>
          </a:p>
        </p:txBody>
      </p:sp>
      <p:sp>
        <p:nvSpPr>
          <p:cNvPr id="12" name="Text 9"/>
          <p:cNvSpPr/>
          <p:nvPr/>
        </p:nvSpPr>
        <p:spPr>
          <a:xfrm>
            <a:off x="4572000" y="2788920"/>
            <a:ext cx="4023360" cy="502920"/>
          </a:xfrm>
          <a:prstGeom prst="rect">
            <a:avLst/>
          </a:prstGeom>
          <a:noFill/>
          <a:ln/>
        </p:spPr>
        <p:txBody>
          <a:bodyPr wrap="square" lIns="0" tIns="0" rIns="0" bIns="0" rtlCol="0" anchor="ctr"/>
          <a:lstStyle/>
          <a:p>
            <a:pPr algn="r" indent="0" marL="0">
              <a:buNone/>
            </a:pPr>
            <a:r>
              <a:rPr lang="en-US" sz="1100" i="1" dirty="0">
                <a:solidFill>
                  <a:srgbClr val="2A446F"/>
                </a:solidFill>
                <a:latin typeface="Segoe UI" pitchFamily="34" charset="0"/>
                <a:ea typeface="Segoe UI" pitchFamily="34" charset="-122"/>
                <a:cs typeface="Segoe UI" pitchFamily="34" charset="-120"/>
              </a:rPr>
              <a:t>Steers the mission. Owns the pitch. Sets the calibre.</a:t>
            </a:r>
            <a:endParaRPr lang="en-US" sz="1100" dirty="0"/>
          </a:p>
        </p:txBody>
      </p:sp>
      <p:sp>
        <p:nvSpPr>
          <p:cNvPr id="13" name="Shape 10"/>
          <p:cNvSpPr/>
          <p:nvPr/>
        </p:nvSpPr>
        <p:spPr>
          <a:xfrm>
            <a:off x="502920" y="3456432"/>
            <a:ext cx="1892808" cy="640080"/>
          </a:xfrm>
          <a:prstGeom prst="rect">
            <a:avLst/>
          </a:prstGeom>
          <a:solidFill>
            <a:srgbClr val="35517E"/>
          </a:solidFill>
          <a:ln w="9525">
            <a:solidFill>
              <a:srgbClr val="0078D4"/>
            </a:solidFill>
            <a:prstDash val="solid"/>
          </a:ln>
        </p:spPr>
      </p:sp>
      <p:sp>
        <p:nvSpPr>
          <p:cNvPr id="14" name="Text 11"/>
          <p:cNvSpPr/>
          <p:nvPr/>
        </p:nvSpPr>
        <p:spPr>
          <a:xfrm>
            <a:off x="640080" y="3493008"/>
            <a:ext cx="1691640" cy="292608"/>
          </a:xfrm>
          <a:prstGeom prst="rect">
            <a:avLst/>
          </a:prstGeom>
          <a:noFill/>
          <a:ln/>
        </p:spPr>
        <p:txBody>
          <a:bodyPr wrap="square" lIns="0" tIns="0" rIns="0" bIns="0"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Favour</a:t>
            </a:r>
            <a:endParaRPr lang="en-US" sz="1300" dirty="0"/>
          </a:p>
        </p:txBody>
      </p:sp>
      <p:sp>
        <p:nvSpPr>
          <p:cNvPr id="15" name="Text 12"/>
          <p:cNvSpPr/>
          <p:nvPr/>
        </p:nvSpPr>
        <p:spPr>
          <a:xfrm>
            <a:off x="640080" y="3776472"/>
            <a:ext cx="1691640" cy="292608"/>
          </a:xfrm>
          <a:prstGeom prst="rect">
            <a:avLst/>
          </a:prstGeom>
          <a:noFill/>
          <a:ln/>
        </p:spPr>
        <p:txBody>
          <a:bodyPr wrap="square" lIns="0" tIns="0" rIns="0" bIns="0" rtlCol="0" anchor="ctr"/>
          <a:lstStyle/>
          <a:p>
            <a:pPr indent="0" marL="0">
              <a:buNone/>
            </a:pPr>
            <a:r>
              <a:rPr lang="en-US" sz="1050" dirty="0">
                <a:solidFill>
                  <a:srgbClr val="FFBBA8"/>
                </a:solidFill>
                <a:latin typeface="Segoe UI" pitchFamily="34" charset="0"/>
                <a:ea typeface="Segoe UI" pitchFamily="34" charset="-122"/>
                <a:cs typeface="Segoe UI" pitchFamily="34" charset="-120"/>
              </a:rPr>
              <a:t>Data &amp; Risk Engine</a:t>
            </a:r>
            <a:endParaRPr lang="en-US" sz="1050" dirty="0"/>
          </a:p>
        </p:txBody>
      </p:sp>
      <p:sp>
        <p:nvSpPr>
          <p:cNvPr id="16" name="Shape 13"/>
          <p:cNvSpPr/>
          <p:nvPr/>
        </p:nvSpPr>
        <p:spPr>
          <a:xfrm>
            <a:off x="2578608" y="3456432"/>
            <a:ext cx="1892808" cy="640080"/>
          </a:xfrm>
          <a:prstGeom prst="rect">
            <a:avLst/>
          </a:prstGeom>
          <a:solidFill>
            <a:srgbClr val="35517E"/>
          </a:solidFill>
          <a:ln w="9525">
            <a:solidFill>
              <a:srgbClr val="0078D4"/>
            </a:solidFill>
            <a:prstDash val="solid"/>
          </a:ln>
        </p:spPr>
      </p:sp>
      <p:sp>
        <p:nvSpPr>
          <p:cNvPr id="17" name="Text 14"/>
          <p:cNvSpPr/>
          <p:nvPr/>
        </p:nvSpPr>
        <p:spPr>
          <a:xfrm>
            <a:off x="2715768" y="3493008"/>
            <a:ext cx="1691640" cy="292608"/>
          </a:xfrm>
          <a:prstGeom prst="rect">
            <a:avLst/>
          </a:prstGeom>
          <a:noFill/>
          <a:ln/>
        </p:spPr>
        <p:txBody>
          <a:bodyPr wrap="square" lIns="0" tIns="0" rIns="0" bIns="0"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Ladipo</a:t>
            </a:r>
            <a:endParaRPr lang="en-US" sz="1300" dirty="0"/>
          </a:p>
        </p:txBody>
      </p:sp>
      <p:sp>
        <p:nvSpPr>
          <p:cNvPr id="18" name="Text 15"/>
          <p:cNvSpPr/>
          <p:nvPr/>
        </p:nvSpPr>
        <p:spPr>
          <a:xfrm>
            <a:off x="2715768" y="3776472"/>
            <a:ext cx="1691640" cy="292608"/>
          </a:xfrm>
          <a:prstGeom prst="rect">
            <a:avLst/>
          </a:prstGeom>
          <a:noFill/>
          <a:ln/>
        </p:spPr>
        <p:txBody>
          <a:bodyPr wrap="square" lIns="0" tIns="0" rIns="0" bIns="0" rtlCol="0" anchor="ctr"/>
          <a:lstStyle/>
          <a:p>
            <a:pPr indent="0" marL="0">
              <a:buNone/>
            </a:pPr>
            <a:r>
              <a:rPr lang="en-US" sz="1050" dirty="0">
                <a:solidFill>
                  <a:srgbClr val="FFBBA8"/>
                </a:solidFill>
                <a:latin typeface="Segoe UI" pitchFamily="34" charset="0"/>
                <a:ea typeface="Segoe UI" pitchFamily="34" charset="-122"/>
                <a:cs typeface="Segoe UI" pitchFamily="34" charset="-120"/>
              </a:rPr>
              <a:t>API, State, Compliance</a:t>
            </a:r>
            <a:endParaRPr lang="en-US" sz="1050" dirty="0"/>
          </a:p>
        </p:txBody>
      </p:sp>
      <p:sp>
        <p:nvSpPr>
          <p:cNvPr id="19" name="Shape 16"/>
          <p:cNvSpPr/>
          <p:nvPr/>
        </p:nvSpPr>
        <p:spPr>
          <a:xfrm>
            <a:off x="4654296" y="3456432"/>
            <a:ext cx="1892808" cy="640080"/>
          </a:xfrm>
          <a:prstGeom prst="rect">
            <a:avLst/>
          </a:prstGeom>
          <a:solidFill>
            <a:srgbClr val="35517E"/>
          </a:solidFill>
          <a:ln w="9525">
            <a:solidFill>
              <a:srgbClr val="0078D4"/>
            </a:solidFill>
            <a:prstDash val="solid"/>
          </a:ln>
        </p:spPr>
      </p:sp>
      <p:sp>
        <p:nvSpPr>
          <p:cNvPr id="20" name="Text 17"/>
          <p:cNvSpPr/>
          <p:nvPr/>
        </p:nvSpPr>
        <p:spPr>
          <a:xfrm>
            <a:off x="4791456" y="3493008"/>
            <a:ext cx="1691640" cy="292608"/>
          </a:xfrm>
          <a:prstGeom prst="rect">
            <a:avLst/>
          </a:prstGeom>
          <a:noFill/>
          <a:ln/>
        </p:spPr>
        <p:txBody>
          <a:bodyPr wrap="square" lIns="0" tIns="0" rIns="0" bIns="0"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Marvelous</a:t>
            </a:r>
            <a:endParaRPr lang="en-US" sz="1300" dirty="0"/>
          </a:p>
        </p:txBody>
      </p:sp>
      <p:sp>
        <p:nvSpPr>
          <p:cNvPr id="21" name="Text 18"/>
          <p:cNvSpPr/>
          <p:nvPr/>
        </p:nvSpPr>
        <p:spPr>
          <a:xfrm>
            <a:off x="4791456" y="3776472"/>
            <a:ext cx="1691640" cy="292608"/>
          </a:xfrm>
          <a:prstGeom prst="rect">
            <a:avLst/>
          </a:prstGeom>
          <a:noFill/>
          <a:ln/>
        </p:spPr>
        <p:txBody>
          <a:bodyPr wrap="square" lIns="0" tIns="0" rIns="0" bIns="0" rtlCol="0" anchor="ctr"/>
          <a:lstStyle/>
          <a:p>
            <a:pPr indent="0" marL="0">
              <a:buNone/>
            </a:pPr>
            <a:r>
              <a:rPr lang="en-US" sz="1050" dirty="0">
                <a:solidFill>
                  <a:srgbClr val="FFBBA8"/>
                </a:solidFill>
                <a:latin typeface="Segoe UI" pitchFamily="34" charset="0"/>
                <a:ea typeface="Segoe UI" pitchFamily="34" charset="-122"/>
                <a:cs typeface="Segoe UI" pitchFamily="34" charset="-120"/>
              </a:rPr>
              <a:t>Frontend Dashboard</a:t>
            </a:r>
            <a:endParaRPr lang="en-US" sz="1050" dirty="0"/>
          </a:p>
        </p:txBody>
      </p:sp>
      <p:sp>
        <p:nvSpPr>
          <p:cNvPr id="22" name="Shape 19"/>
          <p:cNvSpPr/>
          <p:nvPr/>
        </p:nvSpPr>
        <p:spPr>
          <a:xfrm>
            <a:off x="6729984" y="3456432"/>
            <a:ext cx="1892808" cy="640080"/>
          </a:xfrm>
          <a:prstGeom prst="rect">
            <a:avLst/>
          </a:prstGeom>
          <a:solidFill>
            <a:srgbClr val="35517E"/>
          </a:solidFill>
          <a:ln w="9525">
            <a:solidFill>
              <a:srgbClr val="0078D4"/>
            </a:solidFill>
            <a:prstDash val="solid"/>
          </a:ln>
        </p:spPr>
      </p:sp>
      <p:sp>
        <p:nvSpPr>
          <p:cNvPr id="23" name="Text 20"/>
          <p:cNvSpPr/>
          <p:nvPr/>
        </p:nvSpPr>
        <p:spPr>
          <a:xfrm>
            <a:off x="6867144" y="3493008"/>
            <a:ext cx="1691640" cy="292608"/>
          </a:xfrm>
          <a:prstGeom prst="rect">
            <a:avLst/>
          </a:prstGeom>
          <a:noFill/>
          <a:ln/>
        </p:spPr>
        <p:txBody>
          <a:bodyPr wrap="square" lIns="0" tIns="0" rIns="0" bIns="0" rtlCol="0" anchor="ctr"/>
          <a:lstStyle/>
          <a:p>
            <a:pPr indent="0" marL="0">
              <a:buNone/>
            </a:pPr>
            <a:r>
              <a:rPr lang="en-US" sz="1300" b="1" dirty="0">
                <a:solidFill>
                  <a:srgbClr val="FFFFFF"/>
                </a:solidFill>
                <a:latin typeface="Segoe UI" pitchFamily="34" charset="0"/>
                <a:ea typeface="Segoe UI" pitchFamily="34" charset="-122"/>
                <a:cs typeface="Segoe UI" pitchFamily="34" charset="-120"/>
              </a:rPr>
              <a:t>Tobi</a:t>
            </a:r>
            <a:endParaRPr lang="en-US" sz="1300" dirty="0"/>
          </a:p>
        </p:txBody>
      </p:sp>
      <p:sp>
        <p:nvSpPr>
          <p:cNvPr id="24" name="Text 21"/>
          <p:cNvSpPr/>
          <p:nvPr/>
        </p:nvSpPr>
        <p:spPr>
          <a:xfrm>
            <a:off x="6867144" y="3776472"/>
            <a:ext cx="1691640" cy="292608"/>
          </a:xfrm>
          <a:prstGeom prst="rect">
            <a:avLst/>
          </a:prstGeom>
          <a:noFill/>
          <a:ln/>
        </p:spPr>
        <p:txBody>
          <a:bodyPr wrap="square" lIns="0" tIns="0" rIns="0" bIns="0" rtlCol="0" anchor="ctr"/>
          <a:lstStyle/>
          <a:p>
            <a:pPr indent="0" marL="0">
              <a:buNone/>
            </a:pPr>
            <a:r>
              <a:rPr lang="en-US" sz="1050" dirty="0">
                <a:solidFill>
                  <a:srgbClr val="FFBBA8"/>
                </a:solidFill>
                <a:latin typeface="Segoe UI" pitchFamily="34" charset="0"/>
                <a:ea typeface="Segoe UI" pitchFamily="34" charset="-122"/>
                <a:cs typeface="Segoe UI" pitchFamily="34" charset="-120"/>
              </a:rPr>
              <a:t>Agentic Copilot</a:t>
            </a:r>
            <a:endParaRPr lang="en-US" sz="1050" dirty="0"/>
          </a:p>
        </p:txBody>
      </p:sp>
      <p:sp>
        <p:nvSpPr>
          <p:cNvPr id="25" name="Shape 22"/>
          <p:cNvSpPr/>
          <p:nvPr/>
        </p:nvSpPr>
        <p:spPr>
          <a:xfrm>
            <a:off x="502920" y="4206240"/>
            <a:ext cx="8138160" cy="457200"/>
          </a:xfrm>
          <a:prstGeom prst="rect">
            <a:avLst/>
          </a:prstGeom>
          <a:solidFill>
            <a:srgbClr val="0078D4"/>
          </a:solidFill>
          <a:ln w="12700">
            <a:solidFill>
              <a:srgbClr val="0078D4"/>
            </a:solidFill>
            <a:prstDash val="solid"/>
          </a:ln>
        </p:spPr>
      </p:sp>
      <p:sp>
        <p:nvSpPr>
          <p:cNvPr id="26" name="Text 23"/>
          <p:cNvSpPr/>
          <p:nvPr/>
        </p:nvSpPr>
        <p:spPr>
          <a:xfrm>
            <a:off x="502920" y="4206240"/>
            <a:ext cx="813816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Segoe UI" pitchFamily="34" charset="0"/>
                <a:ea typeface="Segoe UI" pitchFamily="34" charset="-122"/>
                <a:cs typeface="Segoe UI" pitchFamily="34" charset="-120"/>
              </a:rPr>
              <a:t>Our ask:  the win, a pilot conversation with MTN, and the runway to ship this to production.</a:t>
            </a:r>
            <a:endParaRPr lang="en-US" sz="1250" dirty="0"/>
          </a:p>
        </p:txBody>
      </p:sp>
      <p:sp>
        <p:nvSpPr>
          <p:cNvPr id="27" name="Text 24"/>
          <p:cNvSpPr/>
          <p:nvPr/>
        </p:nvSpPr>
        <p:spPr>
          <a:xfrm>
            <a:off x="502920" y="4754880"/>
            <a:ext cx="8229600" cy="274320"/>
          </a:xfrm>
          <a:prstGeom prst="rect">
            <a:avLst/>
          </a:prstGeom>
          <a:noFill/>
          <a:ln/>
        </p:spPr>
        <p:txBody>
          <a:bodyPr wrap="square" lIns="0" tIns="0" rIns="0" bIns="0" rtlCol="0" anchor="ctr"/>
          <a:lstStyle/>
          <a:p>
            <a:pPr indent="0" marL="0">
              <a:buNone/>
            </a:pPr>
            <a:r>
              <a:rPr lang="en-US" sz="1000" i="1" dirty="0">
                <a:solidFill>
                  <a:srgbClr val="FFBBA8"/>
                </a:solidFill>
                <a:latin typeface="Segoe UI" pitchFamily="34" charset="0"/>
                <a:ea typeface="Segoe UI" pitchFamily="34" charset="-122"/>
                <a:cs typeface="Segoe UI" pitchFamily="34" charset="-120"/>
              </a:rPr>
              <a:t>Microsoft Elevate  ·  MTN Foundation Nigeria  ·  Data Science Nigeria  ·  AI Skills Week Lagos 2026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RiskGuard AI — AI4Telco Hackathon</dc:title>
  <dc:subject>PptxGenJS Presentation</dc:subject>
  <dc:creator>RiskGuard AI Team</dc:creator>
  <cp:lastModifiedBy>RiskGuard AI Team</cp:lastModifiedBy>
  <cp:revision>1</cp:revision>
  <dcterms:created xsi:type="dcterms:W3CDTF">2026-05-07T10:09:02Z</dcterms:created>
  <dcterms:modified xsi:type="dcterms:W3CDTF">2026-05-07T10:09:02Z</dcterms:modified>
</cp:coreProperties>
</file>