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5C6B82"/>
                </a:solidFill>
                <a:latin typeface="Arial"/>
              </a:defRPr>
            </a:pPr>
            <a:r>
              <a:rPr sz="1100" b="0" i="0" u="none" strike="noStrike">
                <a:solidFill>
                  <a:srgbClr val="5C6B82"/>
                </a:solidFill>
                <a:latin typeface="Arial"/>
              </a:rPr>
              <a:t>Risk score — Ikeja LGA  (87 → 42)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Risk score</c:v>
                </c:pt>
              </c:strCache>
            </c:strRef>
          </c:tx>
          <c:spPr>
            <a:solidFill>
              <a:srgbClr val="E81123"/>
            </a:solidFill>
            <a:ln w="38100" cap="flat">
              <a:solidFill>
                <a:srgbClr val="E8112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1123"/>
              </a:solidFill>
              <a:ln w="9525" cap="flat">
                <a:solidFill>
                  <a:srgbClr val="E8112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00:00</c:v>
                  </c:pt>
                  <c:pt idx="1">
                    <c:v>00:15</c:v>
                  </c:pt>
                  <c:pt idx="2">
                    <c:v>00:30</c:v>
                  </c:pt>
                  <c:pt idx="3">
                    <c:v>00:45</c:v>
                  </c:pt>
                  <c:pt idx="4">
                    <c:v>01:00</c:v>
                  </c:pt>
                  <c:pt idx="5">
                    <c:v>01:15</c:v>
                  </c:pt>
                  <c:pt idx="6">
                    <c:v>01:30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22</c:v>
                </c:pt>
                <c:pt idx="1">
                  <c:v>38</c:v>
                </c:pt>
                <c:pt idx="2">
                  <c:v>87</c:v>
                </c:pt>
                <c:pt idx="3">
                  <c:v>86</c:v>
                </c:pt>
                <c:pt idx="4">
                  <c:v>81</c:v>
                </c:pt>
                <c:pt idx="5">
                  <c:v>60</c:v>
                </c:pt>
                <c:pt idx="6">
                  <c:v>42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8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DDE3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Without RiskGuard</c:v>
                </c:pt>
              </c:strCache>
            </c:strRef>
          </c:tx>
          <c:spPr>
            <a:solidFill>
              <a:srgbClr val="5C6B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Detect (min)</c:v>
                  </c:pt>
                  <c:pt idx="1">
                    <c:v>Revenue lost (NGN m)</c:v>
                  </c:pt>
                  <c:pt idx="2">
                    <c:v>NCC pack (hrs)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</c:v>
                </c:pt>
                <c:pt idx="1">
                  <c:v>8.7</c:v>
                </c:pt>
                <c:pt idx="2">
                  <c:v>72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RiskGuard</c:v>
                </c:pt>
              </c:strCache>
            </c:strRef>
          </c:tx>
          <c:spPr>
            <a:solidFill>
              <a:srgbClr val="0078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Detect (min)</c:v>
                  </c:pt>
                  <c:pt idx="1">
                    <c:v>Revenue lost (NGN m)</c:v>
                  </c:pt>
                  <c:pt idx="2">
                    <c:v>NCC pack (hrs)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13</c:v>
                </c:pt>
                <c:pt idx="1">
                  <c:v>0.6</c:v>
                </c:pt>
                <c:pt idx="2">
                  <c:v>0.003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8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DE3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5C6B82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5F7F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1.xm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AI4TELCO HACKATHON  ·  MTN NIGERIA CHALLENGE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RiskGuard AI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AI risk officer that watches every network,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billing, and customer signal — and acts before the outage.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324612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24612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30552" y="324612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30552" y="324612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712464" y="324612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12464" y="324612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294376" y="324612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E81123"/>
          </a:solidFill>
          <a:ln w="12700">
            <a:solidFill>
              <a:srgbClr val="E811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94376" y="324612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to NCC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4160520"/>
            <a:ext cx="8229600" cy="0"/>
          </a:xfrm>
          <a:prstGeom prst="line">
            <a:avLst/>
          </a:prstGeom>
          <a:noFill/>
          <a:ln w="9525">
            <a:solidFill>
              <a:srgbClr val="0078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Microsoft Azure OpenAI + Semantic Kernel  ·  AI Skills Week Lagos 2026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 ·  MTN Foundation Nigeria  ·  Data Science Nigeria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2926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84048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  ·  MTN NIGERIA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hides between the silos.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0"/>
          </a:xfrm>
          <a:prstGeom prst="line">
            <a:avLst/>
          </a:prstGeom>
          <a:noFill/>
          <a:ln w="9525">
            <a:solidFill>
              <a:srgbClr val="DDE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91640"/>
            <a:ext cx="54864" cy="2651760"/>
          </a:xfrm>
          <a:prstGeom prst="rect">
            <a:avLst/>
          </a:prstGeom>
          <a:solidFill>
            <a:srgbClr val="E81123"/>
          </a:solidFill>
          <a:ln w="12700">
            <a:solidFill>
              <a:srgbClr val="E811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91640"/>
            <a:ext cx="4206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i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"Telecom operators rely on multiple, siloed data sources across network, sales, devices, and customer channels — making it difficult to identify operational risks early."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5204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MTN Nigeria, AI4Telco problem statement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74920" y="1691640"/>
            <a:ext cx="178308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184648" y="1810512"/>
            <a:ext cx="329184" cy="329184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9512" y="1865376"/>
            <a:ext cx="219456" cy="21945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577840" y="17830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&amp; BTS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184648" y="2194560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health, throughput, latency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949440" y="1691640"/>
            <a:ext cx="178308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059168" y="1810512"/>
            <a:ext cx="329184" cy="329184"/>
          </a:xfrm>
          <a:prstGeom prst="ellipse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4032" y="1865376"/>
            <a:ext cx="219456" cy="21945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452360" y="17830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&amp; Revenue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7059168" y="2194560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Recharge, top-ups, leakage flags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5074920" y="2880360"/>
            <a:ext cx="178308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184648" y="2999232"/>
            <a:ext cx="329184" cy="329184"/>
          </a:xfrm>
          <a:prstGeom prst="ellipse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9512" y="3054096"/>
            <a:ext cx="219456" cy="21945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577840" y="29718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Channels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5184648" y="3383280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Complaints, social, contact centre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6949440" y="2880360"/>
            <a:ext cx="178308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7059168" y="2999232"/>
            <a:ext cx="329184" cy="329184"/>
          </a:xfrm>
          <a:prstGeom prst="ellipse">
            <a:avLst/>
          </a:prstGeom>
          <a:solidFill>
            <a:srgbClr val="E81123"/>
          </a:solidFill>
          <a:ln w="12700">
            <a:solidFill>
              <a:srgbClr val="E81123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4032" y="3054096"/>
            <a:ext cx="219456" cy="21945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452360" y="29718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&amp; Sales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7059168" y="3383280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Activations, SIM swaps, IMEI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solidFill>
            <a:srgbClr val="1B2A4E"/>
          </a:solidFill>
          <a:ln w="12700">
            <a:solidFill>
              <a:srgbClr val="1B2A4E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service disruption  ·  revenue leakage  ·  customer churn  ·  NCC penalties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457200" y="484632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RiskGuard AI  ·  AI4Telco Hackathon  ·  AI Skills Week Lagos 2026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2926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84048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COSTS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learn from Twitter — not dashboards.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0"/>
          </a:xfrm>
          <a:prstGeom prst="line">
            <a:avLst/>
          </a:prstGeom>
          <a:noFill/>
          <a:ln w="9525">
            <a:solidFill>
              <a:srgbClr val="DDE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91640"/>
            <a:ext cx="26060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691640"/>
            <a:ext cx="2606040" cy="109728"/>
          </a:xfrm>
          <a:prstGeom prst="rect">
            <a:avLst/>
          </a:prstGeom>
          <a:solidFill>
            <a:srgbClr val="E81123"/>
          </a:solidFill>
          <a:ln w="12700">
            <a:solidFill>
              <a:srgbClr val="E811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202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min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640080" y="288036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operator delay between first signal and confirmed incident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691640"/>
            <a:ext cx="26060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691640"/>
            <a:ext cx="2606040" cy="109728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9202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NGN-bn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3429000" y="288036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penalties NCC has issued operators for QoS breaches in recent years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0760" y="1691640"/>
            <a:ext cx="26060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1691640"/>
            <a:ext cx="2606040" cy="10972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9202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 3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6217920" y="288036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Nigerian subscribers say poor service is their #1 reason to switch network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4114800"/>
            <a:ext cx="8183880" cy="548640"/>
          </a:xfrm>
          <a:prstGeom prst="rect">
            <a:avLst/>
          </a:prstGeom>
          <a:solidFill>
            <a:srgbClr val="1B2A4E"/>
          </a:solidFill>
          <a:ln w="12700">
            <a:solidFill>
              <a:srgbClr val="1B2A4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114800"/>
            <a:ext cx="8183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tools are dashboards. Dashboards wait to be looked at. Risk doesn't.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484632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RiskGuard AI  ·  AI4Telco Hackathon  ·  AI Skills Week Lagos 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2926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84048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RiskGuard AI — an AI risk officer that takes action.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0"/>
          </a:xfrm>
          <a:prstGeom prst="line">
            <a:avLst/>
          </a:prstGeom>
          <a:noFill/>
          <a:ln w="9525">
            <a:solidFill>
              <a:srgbClr val="DDE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4592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11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dashboard. </a:t>
            </a:r>
            <a:pPr indent="0" marL="0">
              <a:buNone/>
            </a:pPr>
            <a:r>
              <a:rPr lang="en-US" sz="18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always-on agent that </a:t>
            </a:r>
            <a:pPr indent="0" marL="0">
              <a:buNone/>
            </a:pPr>
            <a:r>
              <a:rPr lang="en-US" sz="18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</a:t>
            </a:r>
            <a:pPr indent="0" marL="0">
              <a:buNone/>
            </a:pPr>
            <a:r>
              <a:rPr lang="en-US" sz="18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every signal across network, billing, sales and customer channels, </a:t>
            </a:r>
            <a:pPr indent="0" marL="0">
              <a:buNone/>
            </a:pPr>
            <a:r>
              <a:rPr lang="en-US" sz="18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</a:t>
            </a:r>
            <a:pPr indent="0" marL="0">
              <a:buNone/>
            </a:pPr>
            <a:r>
              <a:rPr lang="en-US" sz="18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next breach, </a:t>
            </a:r>
            <a:pPr indent="0" marL="0">
              <a:buNone/>
            </a:pPr>
            <a:r>
              <a:rPr lang="en-US" sz="18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</a:t>
            </a:r>
            <a:pPr indent="0" marL="0">
              <a:buNone/>
            </a:pPr>
            <a:r>
              <a:rPr lang="en-US" sz="18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fix, and </a:t>
            </a:r>
            <a:pPr indent="0" marL="0">
              <a:buNone/>
            </a:pPr>
            <a:r>
              <a:rPr lang="en-US" sz="18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the NCC report</a:t>
            </a:r>
            <a:pPr indent="0" marL="0">
              <a:buNone/>
            </a:pPr>
            <a:r>
              <a:rPr lang="en-US" sz="18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with a human always in the loop.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2920" y="3246120"/>
            <a:ext cx="189280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12648" y="32918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1920240" y="3310128"/>
            <a:ext cx="384048" cy="38404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5104" y="3364992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12648" y="37947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12648" y="41148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7 signal domains in real time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578608" y="3246120"/>
            <a:ext cx="189280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2688336" y="32918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Shape 12"/>
          <p:cNvSpPr/>
          <p:nvPr/>
        </p:nvSpPr>
        <p:spPr>
          <a:xfrm>
            <a:off x="3995928" y="3310128"/>
            <a:ext cx="384048" cy="384048"/>
          </a:xfrm>
          <a:prstGeom prst="ellipse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0792" y="3364992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688336" y="37947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2688336" y="41148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LLMs reason over grounded tools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4654296" y="3246120"/>
            <a:ext cx="189280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4764024" y="32918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7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21" name="Shape 17"/>
          <p:cNvSpPr/>
          <p:nvPr/>
        </p:nvSpPr>
        <p:spPr>
          <a:xfrm>
            <a:off x="6071616" y="3310128"/>
            <a:ext cx="384048" cy="384048"/>
          </a:xfrm>
          <a:prstGeom prst="ellipse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3364992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764024" y="37947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4764024" y="41148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actions vs. do-nothing, ranked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6729984" y="3246120"/>
            <a:ext cx="189280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6839712" y="32918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11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27" name="Shape 22"/>
          <p:cNvSpPr/>
          <p:nvPr/>
        </p:nvSpPr>
        <p:spPr>
          <a:xfrm>
            <a:off x="8147304" y="3310128"/>
            <a:ext cx="384048" cy="384048"/>
          </a:xfrm>
          <a:prstGeom prst="ellipse">
            <a:avLst/>
          </a:prstGeom>
          <a:solidFill>
            <a:srgbClr val="E81123"/>
          </a:solidFill>
          <a:ln w="12700">
            <a:solidFill>
              <a:srgbClr val="E81123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2168" y="3364992"/>
            <a:ext cx="274320" cy="27432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839712" y="37947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6839712" y="41148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Auto-assemble NCC-ready evidence pack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457200" y="484632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RiskGuard AI  ·  AI4Telco Hackathon  ·  AI Skills Week Lagos 2026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2926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84048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layers. One Microsoft AI stack.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0"/>
          </a:xfrm>
          <a:prstGeom prst="line">
            <a:avLst/>
          </a:prstGeom>
          <a:noFill/>
          <a:ln w="9525">
            <a:solidFill>
              <a:srgbClr val="DDE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91640"/>
            <a:ext cx="81381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691640"/>
            <a:ext cx="109728" cy="64008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810512"/>
            <a:ext cx="402336" cy="402336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87452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25880" y="17465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Signal Ingest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325880" y="2002536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Network, BTS, billing, recharge, sales, complaints, devices — normalized into one stream.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02920" y="2404872"/>
            <a:ext cx="81381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02920" y="2404872"/>
            <a:ext cx="109728" cy="640080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77240" y="2523744"/>
            <a:ext cx="402336" cy="402336"/>
          </a:xfrm>
          <a:prstGeom prst="ellipse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587752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325880" y="24597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Risk Engine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325880" y="2715768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z-scores, anomaly + co-occurrence, per-LGA score, time-to-breach, impact model.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02920" y="3118104"/>
            <a:ext cx="81381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02920" y="3118104"/>
            <a:ext cx="109728" cy="640080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77240" y="3236976"/>
            <a:ext cx="402336" cy="402336"/>
          </a:xfrm>
          <a:prstGeom prst="ellipse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300984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325880" y="31729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Agentic Copilot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1325880" y="3429000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Kernel + Azure OpenAI. 5 role agents call grounded tools. ClaimValidator gates output.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502920" y="3831336"/>
            <a:ext cx="81381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502920" y="3831336"/>
            <a:ext cx="109728" cy="640080"/>
          </a:xfrm>
          <a:prstGeom prst="rect">
            <a:avLst/>
          </a:prstGeom>
          <a:solidFill>
            <a:srgbClr val="E81123"/>
          </a:solidFill>
          <a:ln w="12700">
            <a:solidFill>
              <a:srgbClr val="E81123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777240" y="3950208"/>
            <a:ext cx="402336" cy="402336"/>
          </a:xfrm>
          <a:prstGeom prst="ellipse">
            <a:avLst/>
          </a:prstGeom>
          <a:solidFill>
            <a:srgbClr val="E81123"/>
          </a:solidFill>
          <a:ln w="12700">
            <a:solidFill>
              <a:srgbClr val="E81123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4014216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325880" y="3886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Operator Console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1325880" y="4142232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risk map · incident panel · mitigation simulator · approval flow · NCC compliance pack.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502920" y="4617720"/>
            <a:ext cx="8138160" cy="292608"/>
          </a:xfrm>
          <a:prstGeom prst="roundRect">
            <a:avLst>
              <a:gd name="adj" fmla="val 50000"/>
            </a:avLst>
          </a:prstGeom>
          <a:solidFill>
            <a:srgbClr val="1B2A4E"/>
          </a:solidFill>
          <a:ln w="12700">
            <a:solidFill>
              <a:srgbClr val="1B2A4E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502920" y="461772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Microsoft Azure OpenAI  ·  Semantic Kernel agent runtime  ·  FastAPI  ·  React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2926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84048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 ·  IKEJA, LAGOS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green to recovered in 90 seconds.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0"/>
          </a:xfrm>
          <a:prstGeom prst="line">
            <a:avLst/>
          </a:prstGeom>
          <a:noFill/>
          <a:ln w="9525">
            <a:solidFill>
              <a:srgbClr val="DDE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1691640"/>
            <a:ext cx="457200" cy="457200"/>
          </a:xfrm>
          <a:prstGeom prst="ellipse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6152" y="1764792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2194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7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00:00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2920" y="24688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27432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LGAs green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600200" y="1920240"/>
            <a:ext cx="557784" cy="0"/>
          </a:xfrm>
          <a:prstGeom prst="line">
            <a:avLst/>
          </a:prstGeom>
          <a:noFill/>
          <a:ln w="19050">
            <a:solidFill>
              <a:srgbClr val="DDE3EE"/>
            </a:solidFill>
            <a:prstDash val="dash"/>
          </a:ln>
        </p:spPr>
      </p:sp>
      <p:sp>
        <p:nvSpPr>
          <p:cNvPr id="12" name="Shape 9"/>
          <p:cNvSpPr/>
          <p:nvPr/>
        </p:nvSpPr>
        <p:spPr>
          <a:xfrm>
            <a:off x="2798064" y="1691640"/>
            <a:ext cx="457200" cy="457200"/>
          </a:xfrm>
          <a:prstGeom prst="ellipse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1216" y="1764792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157984" y="2194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00:15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157984" y="24688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2157984" y="27432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Ikeja BTS deviation + complaint spike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255264" y="1920240"/>
            <a:ext cx="557784" cy="0"/>
          </a:xfrm>
          <a:prstGeom prst="line">
            <a:avLst/>
          </a:prstGeom>
          <a:noFill/>
          <a:ln w="19050">
            <a:solidFill>
              <a:srgbClr val="DDE3EE"/>
            </a:solidFill>
            <a:prstDash val="dash"/>
          </a:ln>
        </p:spPr>
      </p:sp>
      <p:sp>
        <p:nvSpPr>
          <p:cNvPr id="18" name="Shape 14"/>
          <p:cNvSpPr/>
          <p:nvPr/>
        </p:nvSpPr>
        <p:spPr>
          <a:xfrm>
            <a:off x="4453128" y="1691640"/>
            <a:ext cx="457200" cy="457200"/>
          </a:xfrm>
          <a:prstGeom prst="ellipse">
            <a:avLst/>
          </a:prstGeom>
          <a:solidFill>
            <a:srgbClr val="E81123"/>
          </a:solidFill>
          <a:ln w="12700">
            <a:solidFill>
              <a:srgbClr val="E81123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1764792"/>
            <a:ext cx="310896" cy="31089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813048" y="2194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11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00:30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3813048" y="24688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= 87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3813048" y="27432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min to SLA breach · 18,420 subs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910328" y="1920240"/>
            <a:ext cx="557784" cy="0"/>
          </a:xfrm>
          <a:prstGeom prst="line">
            <a:avLst/>
          </a:prstGeom>
          <a:noFill/>
          <a:ln w="19050">
            <a:solidFill>
              <a:srgbClr val="DDE3EE"/>
            </a:solidFill>
            <a:prstDash val="dash"/>
          </a:ln>
        </p:spPr>
      </p:sp>
      <p:sp>
        <p:nvSpPr>
          <p:cNvPr id="24" name="Shape 19"/>
          <p:cNvSpPr/>
          <p:nvPr/>
        </p:nvSpPr>
        <p:spPr>
          <a:xfrm>
            <a:off x="6108192" y="1691640"/>
            <a:ext cx="457200" cy="4572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344" y="1764792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468112" y="2194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01:00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5468112" y="24688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approves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5468112" y="27432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Reroute traffic · audit logged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6565392" y="1920240"/>
            <a:ext cx="557784" cy="0"/>
          </a:xfrm>
          <a:prstGeom prst="line">
            <a:avLst/>
          </a:prstGeom>
          <a:noFill/>
          <a:ln w="19050">
            <a:solidFill>
              <a:srgbClr val="DDE3EE"/>
            </a:solidFill>
            <a:prstDash val="dash"/>
          </a:ln>
        </p:spPr>
      </p:sp>
      <p:sp>
        <p:nvSpPr>
          <p:cNvPr id="30" name="Shape 24"/>
          <p:cNvSpPr/>
          <p:nvPr/>
        </p:nvSpPr>
        <p:spPr>
          <a:xfrm>
            <a:off x="7763256" y="1691640"/>
            <a:ext cx="457200" cy="457200"/>
          </a:xfrm>
          <a:prstGeom prst="ellipse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6408" y="1764792"/>
            <a:ext cx="310896" cy="310896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123176" y="2194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7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01:30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7123176" y="24688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= 42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7123176" y="27432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confirmed · NCC pack ready</a:t>
            </a:r>
            <a:endParaRPr lang="en-US" sz="1000" dirty="0"/>
          </a:p>
        </p:txBody>
      </p:sp>
      <p:graphicFrame>
        <p:nvGraphicFramePr>
          <p:cNvPr id="35" name="Chart 0" descr=""/>
          <p:cNvGraphicFramePr/>
          <p:nvPr/>
        </p:nvGraphicFramePr>
        <p:xfrm>
          <a:off x="502920" y="3520440"/>
          <a:ext cx="8138160" cy="1325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2926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84048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COPILOT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specialist agents. Zero hallucinations.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0"/>
          </a:xfrm>
          <a:prstGeom prst="line">
            <a:avLst/>
          </a:prstGeom>
          <a:noFill/>
          <a:ln w="9525">
            <a:solidFill>
              <a:srgbClr val="DDE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91640"/>
            <a:ext cx="256032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691640"/>
            <a:ext cx="91440" cy="128016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8952" y="1892808"/>
            <a:ext cx="457200" cy="4572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1965960"/>
            <a:ext cx="310896" cy="31089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25880" y="185623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Agent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58952" y="24414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Localizes the fault, pulls BTS evidence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46120" y="1691640"/>
            <a:ext cx="256032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46120" y="1691640"/>
            <a:ext cx="91440" cy="1280160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502152" y="1892808"/>
            <a:ext cx="457200" cy="457200"/>
          </a:xfrm>
          <a:prstGeom prst="ellipse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304" y="1965960"/>
            <a:ext cx="310896" cy="31089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069080" y="185623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Agent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3502152" y="24414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Spots leakage in recharge &amp; billing streams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989320" y="1691640"/>
            <a:ext cx="256032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989320" y="1691640"/>
            <a:ext cx="91440" cy="1280160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245352" y="1892808"/>
            <a:ext cx="457200" cy="457200"/>
          </a:xfrm>
          <a:prstGeom prst="ellipse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4" y="1965960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812280" y="185623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Agent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6245352" y="24414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complaints, projects churn risk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1508760" y="3108960"/>
            <a:ext cx="256032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1508760" y="3108960"/>
            <a:ext cx="91440" cy="1280160"/>
          </a:xfrm>
          <a:prstGeom prst="rect">
            <a:avLst/>
          </a:prstGeom>
          <a:solidFill>
            <a:srgbClr val="E81123"/>
          </a:solidFill>
          <a:ln w="12700">
            <a:solidFill>
              <a:srgbClr val="E81123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1764792" y="3310128"/>
            <a:ext cx="457200" cy="457200"/>
          </a:xfrm>
          <a:prstGeom prst="ellipse">
            <a:avLst/>
          </a:prstGeom>
          <a:solidFill>
            <a:srgbClr val="E81123"/>
          </a:solidFill>
          <a:ln w="12700">
            <a:solidFill>
              <a:srgbClr val="E81123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7944" y="3383280"/>
            <a:ext cx="310896" cy="31089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2331720" y="327355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Agent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1764792" y="38587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options, ranks by impact + cost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4251960" y="3108960"/>
            <a:ext cx="256032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4251960" y="3108960"/>
            <a:ext cx="91440" cy="1280160"/>
          </a:xfrm>
          <a:prstGeom prst="rect">
            <a:avLst/>
          </a:prstGeom>
          <a:solidFill>
            <a:srgbClr val="243A5A"/>
          </a:solidFill>
          <a:ln w="12700">
            <a:solidFill>
              <a:srgbClr val="243A5A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4507992" y="3310128"/>
            <a:ext cx="457200" cy="457200"/>
          </a:xfrm>
          <a:prstGeom prst="ellipse">
            <a:avLst/>
          </a:prstGeom>
          <a:solidFill>
            <a:srgbClr val="243A5A"/>
          </a:solidFill>
          <a:ln w="12700">
            <a:solidFill>
              <a:srgbClr val="243A5A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1144" y="3383280"/>
            <a:ext cx="310896" cy="310896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5074920" y="327355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Agent</a:t>
            </a:r>
            <a:endParaRPr lang="en-US" sz="1500" dirty="0"/>
          </a:p>
        </p:txBody>
      </p:sp>
      <p:sp>
        <p:nvSpPr>
          <p:cNvPr id="35" name="Text 28"/>
          <p:cNvSpPr/>
          <p:nvPr/>
        </p:nvSpPr>
        <p:spPr>
          <a:xfrm>
            <a:off x="4507992" y="38587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NCC notes, assembles evidence pack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502920" y="4526280"/>
            <a:ext cx="8138160" cy="384048"/>
          </a:xfrm>
          <a:prstGeom prst="rect">
            <a:avLst/>
          </a:prstGeom>
          <a:solidFill>
            <a:srgbClr val="1B2A4E"/>
          </a:solidFill>
          <a:ln w="12700">
            <a:solidFill>
              <a:srgbClr val="1B2A4E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502920" y="452628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— every KPI, naira figure, subscriber count — must trace to a tool call. ClaimValidator strips the rest.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2926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84048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BY DESIGN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Trustworthy enough for regulators and CEOs.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0"/>
          </a:xfrm>
          <a:prstGeom prst="line">
            <a:avLst/>
          </a:prstGeom>
          <a:noFill/>
          <a:ln w="9525">
            <a:solidFill>
              <a:srgbClr val="DDE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91640"/>
            <a:ext cx="40233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04088" y="1892808"/>
            <a:ext cx="502920" cy="50292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975104"/>
            <a:ext cx="338328" cy="3383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8745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371600" y="22402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only speak from tool results.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CSV browsing. No free-form claims.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17720" y="1691640"/>
            <a:ext cx="40233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18888" y="1892808"/>
            <a:ext cx="502920" cy="502920"/>
          </a:xfrm>
          <a:prstGeom prst="ellipse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184" y="1975104"/>
            <a:ext cx="338328" cy="33832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86400" y="18745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486400" y="22402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mitigation runs without operator approval.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approval IS the trigger.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02920" y="3108960"/>
            <a:ext cx="40233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04088" y="3310128"/>
            <a:ext cx="502920" cy="502920"/>
          </a:xfrm>
          <a:prstGeom prst="ellipse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3392424"/>
            <a:ext cx="338328" cy="33832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71600" y="3291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audit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1371600" y="36576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is logged: who, when, why,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impact, actual outcome.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617720" y="3108960"/>
            <a:ext cx="40233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818888" y="3310128"/>
            <a:ext cx="502920" cy="502920"/>
          </a:xfrm>
          <a:prstGeom prst="ellipse">
            <a:avLst/>
          </a:prstGeom>
          <a:solidFill>
            <a:srgbClr val="E81123"/>
          </a:solidFill>
          <a:ln w="12700">
            <a:solidFill>
              <a:srgbClr val="E81123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1184" y="3392424"/>
            <a:ext cx="338328" cy="33832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486400" y="3291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Regulator-ready output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5486400" y="36576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NCC-format pack assembles in seconds,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 from the audit trail.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502920" y="4572000"/>
            <a:ext cx="8138160" cy="32918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502920" y="4572000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enough to be useful.  Constrained enough to be deployed.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2926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84048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one Ikeja-class incident looks like.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0"/>
          </a:xfrm>
          <a:prstGeom prst="line">
            <a:avLst/>
          </a:prstGeom>
          <a:noFill/>
          <a:ln w="9525">
            <a:solidFill>
              <a:srgbClr val="DDE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91640"/>
            <a:ext cx="1892808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691640"/>
            <a:ext cx="1892808" cy="10972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96596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min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94360" y="27432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detection vs. dashboards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78608" y="1691640"/>
            <a:ext cx="1892808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78608" y="1691640"/>
            <a:ext cx="1892808" cy="109728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70048" y="196596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NGN 8.7m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670048" y="27432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at risk surfaced per incident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54296" y="1691640"/>
            <a:ext cx="1892808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54296" y="1691640"/>
            <a:ext cx="1892808" cy="109728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45736" y="196596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NGN 2.1m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745736" y="27432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 compensation avoided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29984" y="1691640"/>
            <a:ext cx="1892808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29984" y="1691640"/>
            <a:ext cx="1892808" cy="109728"/>
          </a:xfrm>
          <a:prstGeom prst="rect">
            <a:avLst/>
          </a:prstGeom>
          <a:solidFill>
            <a:srgbClr val="E81123"/>
          </a:solidFill>
          <a:ln w="12700">
            <a:solidFill>
              <a:srgbClr val="E811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21424" y="196596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sec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821424" y="27432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assemble the NCC compliance pack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34290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Per-incident operator outcome</a:t>
            </a:r>
            <a:endParaRPr lang="en-US" sz="120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502920" y="3703320"/>
          <a:ext cx="8138160" cy="1188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2926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84048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WIN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chatbot. Not a BI tool. A new category.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0"/>
          </a:xfrm>
          <a:prstGeom prst="line">
            <a:avLst/>
          </a:prstGeom>
          <a:noFill/>
          <a:ln w="9525">
            <a:solidFill>
              <a:srgbClr val="DDE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45920"/>
            <a:ext cx="2606040" cy="502920"/>
          </a:xfrm>
          <a:prstGeom prst="rect">
            <a:avLst/>
          </a:prstGeom>
          <a:solidFill>
            <a:srgbClr val="5C6B82"/>
          </a:solidFill>
          <a:ln w="12700">
            <a:solidFill>
              <a:srgbClr val="5C6B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4592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NMS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901952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monitoring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2920" y="2148840"/>
            <a:ext cx="2606040" cy="2468880"/>
          </a:xfrm>
          <a:prstGeom prst="rect">
            <a:avLst/>
          </a:prstGeom>
          <a:solidFill>
            <a:srgbClr val="F5F7FB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2860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11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2286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Single-domain visibility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27889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11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2788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thresholds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" y="32918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11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0120" y="32918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mitigation guidance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37947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11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37947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NCC reporting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91840" y="1645920"/>
            <a:ext cx="2606040" cy="502920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164592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LLM chat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91840" y="1901952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ChatGPT-style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91840" y="2148840"/>
            <a:ext cx="2606040" cy="2468880"/>
          </a:xfrm>
          <a:prstGeom prst="rect">
            <a:avLst/>
          </a:prstGeom>
          <a:solidFill>
            <a:srgbClr val="F5F7FB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29000" y="22860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11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749040" y="2286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Hallucinates KPIs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429000" y="27889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11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749040" y="2788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data tools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429000" y="32918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11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749040" y="32918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429000" y="37947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11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749040" y="37947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regulator-safe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080760" y="1645920"/>
            <a:ext cx="2606040" cy="5029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80760" y="164592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RiskGuard AI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080760" y="1901952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risk officer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080760" y="2148840"/>
            <a:ext cx="2606040" cy="24688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8D4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217920" y="22860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7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537960" y="2286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signal domains fused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217920" y="27889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7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537960" y="2788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breach 47 min ahead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217920" y="32918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7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537960" y="32918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+ simulates fix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217920" y="37947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7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537960" y="37947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Auto-files NCC pack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02920" y="46634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we built it on the host's stack: Microsoft Azure OpenAI + Semantic Kernel.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2926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84048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 ·  GO-TO-MARKET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hackathon to West African telco standard.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0"/>
          </a:xfrm>
          <a:prstGeom prst="line">
            <a:avLst/>
          </a:prstGeom>
          <a:noFill/>
          <a:ln w="9525">
            <a:solidFill>
              <a:srgbClr val="DDE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91640"/>
            <a:ext cx="1892808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691640"/>
            <a:ext cx="1892808" cy="5029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75564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slice live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880360"/>
            <a:ext cx="1645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Ikeja demo. Real risk engine, agentic copilot, NCC pack. End-to-end.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578608" y="1691640"/>
            <a:ext cx="1892808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78608" y="1691640"/>
            <a:ext cx="1892808" cy="502920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70048" y="175564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days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15768" y="23317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with 1 MNO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15768" y="2880360"/>
            <a:ext cx="1645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one operator's read-only data lake. One Lagos region. Measure detection lift.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54296" y="1691640"/>
            <a:ext cx="1892808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54296" y="1691640"/>
            <a:ext cx="1892808" cy="502920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45736" y="175564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months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91456" y="23317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Multi-LGA SaaS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91456" y="2880360"/>
            <a:ext cx="1645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all 20 Lagos LGAs. Add fraud + SIM-swap agents. SOC2-track.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729984" y="1691640"/>
            <a:ext cx="1892808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29984" y="1691640"/>
            <a:ext cx="1892808" cy="502920"/>
          </a:xfrm>
          <a:prstGeom prst="rect">
            <a:avLst/>
          </a:prstGeom>
          <a:solidFill>
            <a:srgbClr val="E81123"/>
          </a:solidFill>
          <a:ln w="12700">
            <a:solidFill>
              <a:srgbClr val="E811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21424" y="175564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months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67144" y="23317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platform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67144" y="2880360"/>
            <a:ext cx="1645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Tier-2/3 operators across West Africa. Per-subscriber pricing. NCC + ARCEP-ready.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2920" y="4297680"/>
            <a:ext cx="8138160" cy="594360"/>
          </a:xfrm>
          <a:prstGeom prst="rect">
            <a:avLst/>
          </a:prstGeom>
          <a:solidFill>
            <a:srgbClr val="1B2A4E"/>
          </a:solidFill>
          <a:ln w="12700">
            <a:solidFill>
              <a:srgbClr val="1B2A4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29768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model:  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license per operator + per-incident NCC compliance fee. Avoids one ₦100m fine = pays for the year.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TELCO RESILIENCE FOR NIGERIA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RiskGuard AI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risk earlier. Mitigate it faster. Prove it to the regulator.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2468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788920"/>
            <a:ext cx="1892808" cy="777240"/>
          </a:xfrm>
          <a:prstGeom prst="rect">
            <a:avLst/>
          </a:prstGeom>
          <a:solidFill>
            <a:srgbClr val="243A5A"/>
          </a:solidFill>
          <a:ln w="9525">
            <a:solidFill>
              <a:srgbClr val="0078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8346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Favour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1546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Risk Engine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78608" y="2788920"/>
            <a:ext cx="1892808" cy="777240"/>
          </a:xfrm>
          <a:prstGeom prst="rect">
            <a:avLst/>
          </a:prstGeom>
          <a:solidFill>
            <a:srgbClr val="243A5A"/>
          </a:solidFill>
          <a:ln w="9525">
            <a:solidFill>
              <a:srgbClr val="0078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15768" y="28346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Ladipo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15768" y="31546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API, State, Compliance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54296" y="2788920"/>
            <a:ext cx="1892808" cy="777240"/>
          </a:xfrm>
          <a:prstGeom prst="rect">
            <a:avLst/>
          </a:prstGeom>
          <a:solidFill>
            <a:srgbClr val="243A5A"/>
          </a:solidFill>
          <a:ln w="9525">
            <a:solidFill>
              <a:srgbClr val="0078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91456" y="28346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Marvelous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91456" y="31546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Dashboard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729984" y="2788920"/>
            <a:ext cx="1892808" cy="777240"/>
          </a:xfrm>
          <a:prstGeom prst="rect">
            <a:avLst/>
          </a:prstGeom>
          <a:solidFill>
            <a:srgbClr val="243A5A"/>
          </a:solidFill>
          <a:ln w="9525">
            <a:solidFill>
              <a:srgbClr val="0078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67144" y="28346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Tobi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67144" y="31546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Copilot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3794760"/>
            <a:ext cx="8138160" cy="59436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79476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ask:  the win, a pilot conversation with MTN, and the runway to ship this to production.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02920" y="4572000"/>
            <a:ext cx="8229600" cy="0"/>
          </a:xfrm>
          <a:prstGeom prst="line">
            <a:avLst/>
          </a:prstGeom>
          <a:noFill/>
          <a:ln w="9525">
            <a:solidFill>
              <a:srgbClr val="0078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 ·  MTN Foundation Nigeria  ·  Data Science Nigeria  ·  AI Skills Week Lagos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RiskGuard AI — AI4Telco Hackathon</dc:title>
  <dc:subject>PptxGenJS Presentation</dc:subject>
  <dc:creator>RiskGuard AI Team</dc:creator>
  <cp:lastModifiedBy>RiskGuard AI Team</cp:lastModifiedBy>
  <cp:revision>1</cp:revision>
  <dcterms:created xsi:type="dcterms:W3CDTF">2026-05-05T21:14:49Z</dcterms:created>
  <dcterms:modified xsi:type="dcterms:W3CDTF">2026-05-05T21:14:49Z</dcterms:modified>
</cp:coreProperties>
</file>